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10.svg" ContentType="image/svg+xml"/>
  <Override PartName="/ppt/media/image12.svg" ContentType="image/svg+xml"/>
  <Override PartName="/ppt/media/image14.svg" ContentType="image/svg+xml"/>
  <Override PartName="/ppt/media/image16.svg" ContentType="image/svg+xml"/>
  <Override PartName="/ppt/media/image18.svg" ContentType="image/svg+xml"/>
  <Override PartName="/ppt/media/image20.svg" ContentType="image/svg+xml"/>
  <Override PartName="/ppt/media/image22.svg" ContentType="image/svg+xml"/>
  <Override PartName="/ppt/media/image25.svg" ContentType="image/svg+xml"/>
  <Override PartName="/ppt/media/image27.svg" ContentType="image/svg+xml"/>
  <Override PartName="/ppt/media/image29.svg" ContentType="image/svg+xml"/>
  <Override PartName="/ppt/media/image3.svg" ContentType="image/svg+xml"/>
  <Override PartName="/ppt/media/image31.svg" ContentType="image/svg+xml"/>
  <Override PartName="/ppt/media/image33.svg" ContentType="image/svg+xml"/>
  <Override PartName="/ppt/media/image35.svg" ContentType="image/svg+xml"/>
  <Override PartName="/ppt/media/image37.svg" ContentType="image/svg+xml"/>
  <Override PartName="/ppt/media/image39.svg" ContentType="image/svg+xml"/>
  <Override PartName="/ppt/media/image42.svg" ContentType="image/svg+xml"/>
  <Override PartName="/ppt/media/image44.svg" ContentType="image/svg+xml"/>
  <Override PartName="/ppt/media/image46.svg" ContentType="image/svg+xml"/>
  <Override PartName="/ppt/media/image49.svg" ContentType="image/svg+xml"/>
  <Override PartName="/ppt/media/image5.svg" ContentType="image/svg+xml"/>
  <Override PartName="/ppt/media/image51.svg" ContentType="image/svg+xml"/>
  <Override PartName="/ppt/media/image57.svg" ContentType="image/svg+xml"/>
  <Override PartName="/ppt/media/image59.svg" ContentType="image/svg+xml"/>
  <Override PartName="/ppt/media/image61.svg" ContentType="image/svg+xml"/>
  <Override PartName="/ppt/media/image63.svg" ContentType="image/svg+xml"/>
  <Override PartName="/ppt/media/image65.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autoCompressPictures="0">
  <p:sldMasterIdLst>
    <p:sldMasterId id="2147483648" r:id="rId1"/>
    <p:sldMasterId id="2147483660" r:id="rId3"/>
  </p:sldMasterIdLst>
  <p:notesMasterIdLst>
    <p:notesMasterId r:id="rId5"/>
  </p:notesMasterIdLst>
  <p:sldIdLst>
    <p:sldId id="256" r:id="rId4"/>
    <p:sldId id="257" r:id="rId6"/>
    <p:sldId id="258" r:id="rId7"/>
    <p:sldId id="259" r:id="rId8"/>
    <p:sldId id="260" r:id="rId9"/>
    <p:sldId id="261" r:id="rId10"/>
    <p:sldId id="262" r:id="rId11"/>
    <p:sldId id="263" r:id="rId12"/>
    <p:sldId id="264" r:id="rId13"/>
    <p:sldId id="265" r:id="rId14"/>
    <p:sldId id="266" r:id="rId15"/>
    <p:sldId id="267" r:id="rId16"/>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defaultTextStyle>
  <p:extLst>
    <p:ext uri="{EFAFB233-063F-42B5-8137-9DF3F51BA10A}">
      <p15:sldGuideLst xmlns:p15="http://schemas.microsoft.com/office/powerpoint/2012/main">
        <p15:guide id="1" orient="horz" pos="1620" userDrawn="1">
          <p15:clr>
            <a:srgbClr val="747775"/>
          </p15:clr>
        </p15:guide>
        <p15:guide id="2" pos="2880" userDrawn="1">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showComments="0">
  <p:normalViewPr>
    <p:restoredLeft sz="15620"/>
    <p:restoredTop sz="94660"/>
  </p:normalViewPr>
  <p:slideViewPr>
    <p:cSldViewPr snapToGrid="0" showGuides="1">
      <p:cViewPr varScale="1">
        <p:scale>
          <a:sx n="100" d="100"/>
          <a:sy n="100" d="100"/>
        </p:scale>
        <p:origin x="0" y="0"/>
      </p:cViewPr>
      <p:guideLst>
        <p:guide orient="horz" pos="1620"/>
        <p:guide pos="2880"/>
      </p:guideLst>
    </p:cSldViewPr>
  </p:slide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5.xml"/><Relationship Id="rId8" Type="http://schemas.openxmlformats.org/officeDocument/2006/relationships/slide" Target="slides/slide4.xml"/><Relationship Id="rId7" Type="http://schemas.openxmlformats.org/officeDocument/2006/relationships/slide" Target="slides/slide3.xml"/><Relationship Id="rId6" Type="http://schemas.openxmlformats.org/officeDocument/2006/relationships/slide" Target="slides/slide2.xml"/><Relationship Id="rId5" Type="http://schemas.openxmlformats.org/officeDocument/2006/relationships/notesMaster" Target="notesMasters/notesMaster1.xml"/><Relationship Id="rId4" Type="http://schemas.openxmlformats.org/officeDocument/2006/relationships/slide" Target="slides/slide1.xml"/><Relationship Id="rId3" Type="http://schemas.openxmlformats.org/officeDocument/2006/relationships/slideMaster" Target="slideMasters/slideMaster2.xml"/><Relationship Id="rId2" Type="http://schemas.openxmlformats.org/officeDocument/2006/relationships/theme" Target="theme/theme1.xml"/><Relationship Id="rId19" Type="http://schemas.openxmlformats.org/officeDocument/2006/relationships/tableStyles" Target="tableStyles.xml"/><Relationship Id="rId18" Type="http://schemas.openxmlformats.org/officeDocument/2006/relationships/viewProps" Target="viewProps.xml"/><Relationship Id="rId17" Type="http://schemas.openxmlformats.org/officeDocument/2006/relationships/presProps" Target="presProps.xml"/><Relationship Id="rId16" Type="http://schemas.openxmlformats.org/officeDocument/2006/relationships/slide" Target="slides/slide12.xml"/><Relationship Id="rId15" Type="http://schemas.openxmlformats.org/officeDocument/2006/relationships/slide" Target="slides/slide11.xml"/><Relationship Id="rId14" Type="http://schemas.openxmlformats.org/officeDocument/2006/relationships/slide" Target="slides/slide10.xml"/><Relationship Id="rId13" Type="http://schemas.openxmlformats.org/officeDocument/2006/relationships/slide" Target="slides/slide9.xml"/><Relationship Id="rId12" Type="http://schemas.openxmlformats.org/officeDocument/2006/relationships/slide" Target="slides/slide8.xml"/><Relationship Id="rId11" Type="http://schemas.openxmlformats.org/officeDocument/2006/relationships/slide" Target="slides/slide7.xml"/><Relationship Id="rId10" Type="http://schemas.openxmlformats.org/officeDocument/2006/relationships/slide" Target="slides/slide6.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fld>
            <a:endParaRPr lang="cs-CZ"/>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大家好，欢迎参加我们的中期汇报。本次汇报的主题是“Pascal-S到C编译器的设计与实现”，这是我们编译原理课程设计的项目。</a:t>
            </a:r>
            <a:endParaRPr lang="en-US" sz="1400" b="0" i="0" u="none" strike="noStrike">
              <a:solidFill>
                <a:srgbClr val="000000"/>
              </a:solidFill>
            </a:endParaRPr>
          </a:p>
          <a:p>
            <a:pPr indent="0" algn="l">
              <a:lnSpc>
                <a:spcPct val="100000"/>
              </a:lnSpc>
            </a:pPr>
            <a:r>
              <a:rPr lang="en-US" sz="1400" b="0" i="0" u="none" strike="noStrike">
                <a:solidFill>
                  <a:srgbClr val="000000"/>
                </a:solidFill>
              </a:rPr>
              <a:t>目前，我们已经完成了第二个里程碑M2，即词法分析模块的开发与测试，并准备进入第三个里程碑M3的开发。</a:t>
            </a:r>
            <a:endParaRPr lang="en-US" sz="1400" b="0" i="0" u="none" strike="noStrike">
              <a:solidFill>
                <a:srgbClr val="000000"/>
              </a:solidFill>
            </a:endParaRPr>
          </a:p>
          <a:p>
            <a:pPr indent="0" algn="l">
              <a:lnSpc>
                <a:spcPct val="100000"/>
              </a:lnSpc>
            </a:pPr>
            <a:r>
              <a:rPr lang="en-US" sz="1400" b="0" i="0" u="none" strike="noStrike">
                <a:solidFill>
                  <a:srgbClr val="000000"/>
                </a:solidFill>
              </a:rPr>
              <a:t>我是组长丁乐航，团队成员还有金介然、何俊辉和李璇。本次汇报将严格基于已完成的事实和可验证的证据展开。</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首先，明确我们的项目目标和验收标准。我们的最终目标是实现一个能将Pascal-S源代码自动转换为等价C代码的编译器。整个过程需要经历词法、语法、语义分析和代码生成几个核心阶段。</a:t>
            </a:r>
            <a:endParaRPr lang="en-US" sz="1400" b="0" i="0" u="none" strike="noStrike">
              <a:solidFill>
                <a:srgbClr val="000000"/>
              </a:solidFill>
            </a:endParaRPr>
          </a:p>
          <a:p>
            <a:pPr indent="0" algn="l">
              <a:lnSpc>
                <a:spcPct val="100000"/>
              </a:lnSpc>
            </a:pPr>
            <a:r>
              <a:rPr lang="en-US" sz="1400" b="0" i="0" u="none" strike="noStrike">
                <a:solidFill>
                  <a:srgbClr val="000000"/>
                </a:solidFill>
              </a:rPr>
              <a:t>同时，我们必须严格遵守几个硬性验收约束，比如可执行文件名为pascc，支持-i参数输入，并生成同名的.c文件。</a:t>
            </a:r>
            <a:endParaRPr lang="en-US" sz="1400" b="0" i="0" u="none" strike="noStrike">
              <a:solidFill>
                <a:srgbClr val="000000"/>
              </a:solidFill>
            </a:endParaRPr>
          </a:p>
          <a:p>
            <a:pPr indent="0" algn="l">
              <a:lnSpc>
                <a:spcPct val="100000"/>
              </a:lnSpc>
            </a:pPr>
            <a:r>
              <a:rPr lang="en-US" sz="1400" b="0" i="0" u="none" strike="noStrike">
                <a:solidFill>
                  <a:srgbClr val="000000"/>
                </a:solidFill>
              </a:rPr>
              <a:t>本次中期汇报，我们将重点展示前两个里程碑，即工程搭建和词法分析的完成情况。</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为了清晰地展示项目进展，我们将整个开发过程划分为多个里程碑。这里列出了前三个关键里程碑的全称和核心目标。</a:t>
            </a:r>
            <a:endParaRPr lang="en-US" sz="1400" b="0" i="0" u="none" strike="noStrike">
              <a:solidFill>
                <a:srgbClr val="000000"/>
              </a:solidFill>
            </a:endParaRPr>
          </a:p>
          <a:p>
            <a:pPr indent="0" algn="l">
              <a:lnSpc>
                <a:spcPct val="100000"/>
              </a:lnSpc>
            </a:pPr>
            <a:r>
              <a:rPr lang="en-US" sz="1400" b="0" i="0" u="none" strike="noStrike">
                <a:solidFill>
                  <a:srgbClr val="000000"/>
                </a:solidFill>
              </a:rPr>
              <a:t>我们目前正处于M2完成、准备进入M3的节点。M1阶段我们完成了基础的工程搭建，M2阶段核心的词法分析模块已经开发完毕并通过了严格的测试。</a:t>
            </a:r>
            <a:endParaRPr lang="en-US" sz="1400" b="0" i="0" u="none" strike="noStrike">
              <a:solidFill>
                <a:srgbClr val="000000"/>
              </a:solidFill>
            </a:endParaRPr>
          </a:p>
          <a:p>
            <a:pPr indent="0" algn="l">
              <a:lnSpc>
                <a:spcPct val="100000"/>
              </a:lnSpc>
            </a:pPr>
            <a:r>
              <a:rPr lang="en-US" sz="1400" b="0" i="0" u="none" strike="noStrike">
                <a:solidFill>
                  <a:srgbClr val="000000"/>
                </a:solidFill>
              </a:rPr>
              <a:t>接下来的M3阶段，我们将重点攻克语法分析和错误恢复功能。每个里程碑的完成都有明确的判定标准，即“功能实现、测试通过、可验证证据”，这确保了我们每一步交付的质量都是可追溯、可验证的。</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回顾M1阶段，我们的核心工作是“搭骨架、定规则”。我们建立了标准的工程目录结构，统一了文法规则，确保了后续开发的一致性。同时，我们打通了从命令行输入到生成.c文件的最小链路，并建立了完善的文档记录机制。这些工作虽然不直接实现功能，但为M2阶段词法分析的顺利开发铺平了道路，有效减少了后期可能出现的返工。</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进入M2阶段，我们的目标非常明确：实现一个功能完整、健壮且可测试的词法分析器。这里列出了我们为M2设定的四个完成标准，涵盖了功能正确性、错误处理、接口规范和测试验证四个方面。这些标准是客观、可量化的，确保我们的交付成果是可靠且易于验证的。</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在设计上，我们采用了清晰的模块化结构。左侧的图展示了词法分析的核心流程：输入源代码字符串，经过处理后，输出Token流和错误流。</a:t>
            </a:r>
            <a:endParaRPr lang="en-US" sz="1400" b="0" i="0" u="none" strike="noStrike">
              <a:solidFill>
                <a:srgbClr val="000000"/>
              </a:solidFill>
            </a:endParaRPr>
          </a:p>
          <a:p>
            <a:pPr indent="0" algn="l">
              <a:lnSpc>
                <a:spcPct val="100000"/>
              </a:lnSpc>
            </a:pPr>
            <a:r>
              <a:rPr lang="en-US" sz="1400" b="0" i="0" u="none" strike="noStrike">
                <a:solidFill>
                  <a:srgbClr val="000000"/>
                </a:solidFill>
              </a:rPr>
              <a:t>我们精心设计了数据结构和接口，特别是将结果和错误并行返回的设计，使得错误处理更加灵活。同时，我们全面支持了Pascal-S语言的各种词法规则，包括大小写不敏感、多种常量类型和复合符号的识别。</a:t>
            </a:r>
            <a:endParaRPr lang="en-US" sz="1400" b="0" i="0" u="none" strike="noStrike">
              <a:solidFill>
                <a:srgbClr val="000000"/>
              </a:solidFill>
            </a:endParaRPr>
          </a:p>
          <a:p>
            <a:pPr indent="0" algn="l">
              <a:lnSpc>
                <a:spcPct val="100000"/>
              </a:lnSpc>
            </a:pPr>
            <a:r>
              <a:rPr lang="en-US" sz="1400" b="0" i="0" u="none" strike="noStrike">
                <a:solidFill>
                  <a:srgbClr val="000000"/>
                </a:solidFill>
              </a:rPr>
              <a:t>在驱动对接方面，词法分析作为第一道关卡，一旦发现严重错误，会立即终止流程并返回特定退出码，保证了系统的健壮性。</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为了确保词法分析的严谨性，我们将M1阶段定义的文法规则转化为具体的错误检测逻辑。这张表格清晰地展示了我们为各种违规情况定义的错误码，例如标识符过长、注释嵌套等。每个错误码都对应着明确的触发条件，并且所有词法错误最终都会通过统一的错误码E199来汇总，保证了程序对外接口的一致性。</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测试是验证成果的关键。我们构建了自动化的测试框架，编写了全面的测试用例。通过正常样例，我们验证词法分析器能否正确识别所有合法元素；通过异常样例，我们验证它能否准确捕获并报告各种错误。整个测试过程可以通过ctest一键执行，确保了测试的可重复性和效率，这也是我们中期汇报的核心价值所在。</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这是我们本次汇报的核心证据页。大家可以看到，我们的项目能够成功构建，所有自动化测试都已通过。通过运行合法样例，程序正确生成了.c文件；运行非法样例，程序也准确地输出了错误码并返回了非零退出码。这些真实的终端输出证明了我们的词法分析模块已经达到了预期的设计目标，M2阶段已成功完成。</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在开发过程中，我们也遇到了一些挑战。例如，原始文法文档的乱码问题、团队成员对规则的理解偏差以及版本控制的配置问题。面对这些问题，我们没有回避，而是积极分析根因，采取了有效的措施，如冻结统一文档、明确错误码规则、制定配置规范等，并最终将所有问题闭环解决。这体现了我们团队的工程化管理能力和问题解决能力。</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基于当前稳定的状态，我们对M3阶段进行了详细的规划。这个阶段的核心任务是实现语法分析，并初步引入错误恢复机制。我们将分步骤完成文法规则的落地、语法分析器的接入、错误恢复的实现以及测试用例的编写。每个任务都有明确的负责人和可验收标准，确保M3阶段能够高效、高质量地完成。</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最后，对本次汇报进行总结。我们已经完成了前两个里程碑的全部工作，并且所有成果都经过了严格的测试验证。目前项目状态良好，可以顺利进入下一阶段的语法分析开发。我们已经做好了充分的答辩准备，期待各位老师的提问，并特别希望能得到关于后续语法错误恢复和语义分析方面的指导。我的汇报到此结束，谢谢大家！</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matchingName="标题幻灯片">
  <p:cSld name="TITLE">
    <p:spTree>
      <p:nvGrpSpPr>
        <p:cNvPr id="11" name="Shape 11"/>
        <p:cNvGrpSpPr/>
        <p:nvPr/>
      </p:nvGrpSpPr>
      <p:grpSpPr>
        <a:xfrm>
          <a:off x="0" y="0"/>
          <a:ext cx="0" cy="0"/>
          <a:chOff x="0" y="0"/>
          <a:chExt cx="0" cy="0"/>
        </a:xfrm>
      </p:grpSpPr>
      <p:sp>
        <p:nvSpPr>
          <p:cNvPr id="12" name="Shape 30"/>
          <p:cNvSpPr txBox="1"/>
          <p:nvPr>
            <p:ph type="ctrTitle"/>
          </p:nvPr>
        </p:nvSpPr>
        <p:spPr>
          <a:xfrm>
            <a:off x="1143000" y="841772"/>
            <a:ext cx="6858000" cy="1790700"/>
          </a:xfrm>
          <a:prstGeom prst="rect">
            <a:avLst/>
          </a:prstGeom>
          <a:noFill/>
          <a:ln>
            <a:noFill/>
          </a:ln>
        </p:spPr>
        <p:txBody>
          <a:bodyPr spcFirstLastPara="1" wrap="square" lIns="68575" tIns="34275" rIns="68575" bIns="34275" anchor="b" anchorCtr="0">
            <a:normAutofit/>
          </a:bodyPr>
          <a:lstStyle>
            <a:lvl1pPr lvl="0" algn="ctr">
              <a:lnSpc>
                <a:spcPct val="90000"/>
              </a:lnSpc>
              <a:spcBef>
                <a:spcPts val="0"/>
              </a:spcBef>
              <a:spcAft>
                <a:spcPts val="0"/>
              </a:spcAft>
              <a:buClr>
                <a:schemeClr val="dk1"/>
              </a:buClr>
              <a:buSzPts val="4500"/>
              <a:buFont typeface="Arial" panose="020B0604020202020204"/>
              <a:buNone/>
              <a:defRPr sz="4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13" name="Shape 31"/>
          <p:cNvSpPr txBox="1"/>
          <p:nvPr>
            <p:ph type="subTitle" idx="1"/>
          </p:nvPr>
        </p:nvSpPr>
        <p:spPr>
          <a:xfrm>
            <a:off x="1143000" y="2701528"/>
            <a:ext cx="6858000" cy="1241821"/>
          </a:xfrm>
          <a:prstGeom prst="rect">
            <a:avLst/>
          </a:prstGeom>
          <a:noFill/>
          <a:ln>
            <a:noFill/>
          </a:ln>
        </p:spPr>
        <p:txBody>
          <a:bodyPr spcFirstLastPara="1" wrap="square" lIns="68575" tIns="34275" rIns="68575" bIns="34275" anchor="t" anchorCtr="0">
            <a:normAutofit/>
          </a:bodyPr>
          <a:lstStyle>
            <a:lvl1pPr lvl="0" algn="ctr">
              <a:lnSpc>
                <a:spcPct val="90000"/>
              </a:lnSpc>
              <a:spcBef>
                <a:spcPts val="800"/>
              </a:spcBef>
              <a:spcAft>
                <a:spcPts val="0"/>
              </a:spcAft>
              <a:buClr>
                <a:schemeClr val="dk1"/>
              </a:buClr>
              <a:buSzPts val="1800"/>
              <a:buNone/>
              <a:defRPr sz="1800"/>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sp>
        <p:nvSpPr>
          <p:cNvPr id="14" name="Shape 32"/>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5" name="Shape 33"/>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6" name="Shape 34"/>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matchingName="标题和内容">
  <p:cSld name="OBJECT">
    <p:spTree>
      <p:nvGrpSpPr>
        <p:cNvPr id="17" name="Shape 17"/>
        <p:cNvGrpSpPr/>
        <p:nvPr/>
      </p:nvGrpSpPr>
      <p:grpSpPr>
        <a:xfrm>
          <a:off x="0" y="0"/>
          <a:ext cx="0" cy="0"/>
          <a:chOff x="0" y="0"/>
          <a:chExt cx="0" cy="0"/>
        </a:xfrm>
      </p:grpSpPr>
      <p:sp>
        <p:nvSpPr>
          <p:cNvPr id="18" name="Shape 54"/>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19" name="Shape 55"/>
          <p:cNvSpPr txBox="1"/>
          <p:nvPr>
            <p:ph type="body" idx="1"/>
          </p:nvPr>
        </p:nvSpPr>
        <p:spPr>
          <a:xfrm>
            <a:off x="628650" y="1369219"/>
            <a:ext cx="7886700" cy="3263504"/>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20" name="Shape 56"/>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1" name="Shape 57"/>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2" name="Shape 58"/>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matchingName="节标题">
  <p:cSld name="SECTION_HEADER">
    <p:spTree>
      <p:nvGrpSpPr>
        <p:cNvPr id="23" name="Shape 23"/>
        <p:cNvGrpSpPr/>
        <p:nvPr/>
      </p:nvGrpSpPr>
      <p:grpSpPr>
        <a:xfrm>
          <a:off x="0" y="0"/>
          <a:ext cx="0" cy="0"/>
          <a:chOff x="0" y="0"/>
          <a:chExt cx="0" cy="0"/>
        </a:xfrm>
      </p:grpSpPr>
      <p:sp>
        <p:nvSpPr>
          <p:cNvPr id="24" name="Shape 59"/>
          <p:cNvSpPr txBox="1"/>
          <p:nvPr>
            <p:ph type="title"/>
          </p:nvPr>
        </p:nvSpPr>
        <p:spPr>
          <a:xfrm>
            <a:off x="623888" y="1282304"/>
            <a:ext cx="7886700" cy="2139553"/>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4500"/>
              <a:buFont typeface="Arial" panose="020B0604020202020204"/>
              <a:buNone/>
              <a:defRPr sz="4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25" name="Shape 60"/>
          <p:cNvSpPr txBox="1"/>
          <p:nvPr>
            <p:ph type="body" idx="1"/>
          </p:nvPr>
        </p:nvSpPr>
        <p:spPr>
          <a:xfrm>
            <a:off x="623888" y="3442097"/>
            <a:ext cx="7886700" cy="112514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rgbClr val="888888"/>
              </a:buClr>
              <a:buSzPts val="1800"/>
              <a:buNone/>
              <a:defRPr sz="1800">
                <a:solidFill>
                  <a:srgbClr val="888888"/>
                </a:solidFill>
              </a:defRPr>
            </a:lvl1pPr>
            <a:lvl2pPr marL="914400" lvl="1" indent="-228600" algn="l">
              <a:lnSpc>
                <a:spcPct val="90000"/>
              </a:lnSpc>
              <a:spcBef>
                <a:spcPts val="400"/>
              </a:spcBef>
              <a:spcAft>
                <a:spcPts val="0"/>
              </a:spcAft>
              <a:buClr>
                <a:srgbClr val="888888"/>
              </a:buClr>
              <a:buSzPts val="1500"/>
              <a:buNone/>
              <a:defRPr sz="1500">
                <a:solidFill>
                  <a:srgbClr val="888888"/>
                </a:solidFill>
              </a:defRPr>
            </a:lvl2pPr>
            <a:lvl3pPr marL="1371600" lvl="2" indent="-228600" algn="l">
              <a:lnSpc>
                <a:spcPct val="90000"/>
              </a:lnSpc>
              <a:spcBef>
                <a:spcPts val="400"/>
              </a:spcBef>
              <a:spcAft>
                <a:spcPts val="0"/>
              </a:spcAft>
              <a:buClr>
                <a:srgbClr val="888888"/>
              </a:buClr>
              <a:buSzPts val="1400"/>
              <a:buNone/>
              <a:defRPr sz="1400">
                <a:solidFill>
                  <a:srgbClr val="888888"/>
                </a:solidFill>
              </a:defRPr>
            </a:lvl3pPr>
            <a:lvl4pPr marL="1828800" lvl="3" indent="-228600" algn="l">
              <a:lnSpc>
                <a:spcPct val="90000"/>
              </a:lnSpc>
              <a:spcBef>
                <a:spcPts val="400"/>
              </a:spcBef>
              <a:spcAft>
                <a:spcPts val="0"/>
              </a:spcAft>
              <a:buClr>
                <a:srgbClr val="888888"/>
              </a:buClr>
              <a:buSzPts val="1200"/>
              <a:buNone/>
              <a:defRPr sz="1200">
                <a:solidFill>
                  <a:srgbClr val="888888"/>
                </a:solidFill>
              </a:defRPr>
            </a:lvl4pPr>
            <a:lvl5pPr marL="2286000" lvl="4" indent="-228600" algn="l">
              <a:lnSpc>
                <a:spcPct val="90000"/>
              </a:lnSpc>
              <a:spcBef>
                <a:spcPts val="400"/>
              </a:spcBef>
              <a:spcAft>
                <a:spcPts val="0"/>
              </a:spcAft>
              <a:buClr>
                <a:srgbClr val="888888"/>
              </a:buClr>
              <a:buSzPts val="1200"/>
              <a:buNone/>
              <a:defRPr sz="1200">
                <a:solidFill>
                  <a:srgbClr val="888888"/>
                </a:solidFill>
              </a:defRPr>
            </a:lvl5pPr>
            <a:lvl6pPr marL="2743200" lvl="5" indent="-228600" algn="l">
              <a:lnSpc>
                <a:spcPct val="90000"/>
              </a:lnSpc>
              <a:spcBef>
                <a:spcPts val="400"/>
              </a:spcBef>
              <a:spcAft>
                <a:spcPts val="0"/>
              </a:spcAft>
              <a:buClr>
                <a:srgbClr val="888888"/>
              </a:buClr>
              <a:buSzPts val="1200"/>
              <a:buNone/>
              <a:defRPr sz="1200">
                <a:solidFill>
                  <a:srgbClr val="888888"/>
                </a:solidFill>
              </a:defRPr>
            </a:lvl6pPr>
            <a:lvl7pPr marL="3200400" lvl="6" indent="-228600" algn="l">
              <a:lnSpc>
                <a:spcPct val="90000"/>
              </a:lnSpc>
              <a:spcBef>
                <a:spcPts val="400"/>
              </a:spcBef>
              <a:spcAft>
                <a:spcPts val="0"/>
              </a:spcAft>
              <a:buClr>
                <a:srgbClr val="888888"/>
              </a:buClr>
              <a:buSzPts val="1200"/>
              <a:buNone/>
              <a:defRPr sz="1200">
                <a:solidFill>
                  <a:srgbClr val="888888"/>
                </a:solidFill>
              </a:defRPr>
            </a:lvl7pPr>
            <a:lvl8pPr marL="3657600" lvl="7" indent="-228600" algn="l">
              <a:lnSpc>
                <a:spcPct val="90000"/>
              </a:lnSpc>
              <a:spcBef>
                <a:spcPts val="400"/>
              </a:spcBef>
              <a:spcAft>
                <a:spcPts val="0"/>
              </a:spcAft>
              <a:buClr>
                <a:srgbClr val="888888"/>
              </a:buClr>
              <a:buSzPts val="1200"/>
              <a:buNone/>
              <a:defRPr sz="1200">
                <a:solidFill>
                  <a:srgbClr val="888888"/>
                </a:solidFill>
              </a:defRPr>
            </a:lvl8pPr>
            <a:lvl9pPr marL="4114800" lvl="8" indent="-228600" algn="l">
              <a:lnSpc>
                <a:spcPct val="90000"/>
              </a:lnSpc>
              <a:spcBef>
                <a:spcPts val="400"/>
              </a:spcBef>
              <a:spcAft>
                <a:spcPts val="0"/>
              </a:spcAft>
              <a:buClr>
                <a:srgbClr val="888888"/>
              </a:buClr>
              <a:buSzPts val="1200"/>
              <a:buNone/>
              <a:defRPr sz="1200">
                <a:solidFill>
                  <a:srgbClr val="888888"/>
                </a:solidFill>
              </a:defRPr>
            </a:lvl9pPr>
          </a:lstStyle>
          <a:p/>
        </p:txBody>
      </p:sp>
      <p:sp>
        <p:nvSpPr>
          <p:cNvPr id="26" name="Shape 61"/>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7" name="Shape 62"/>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8" name="Shape 63"/>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matchingName="两栏内容">
  <p:cSld name="TWO_OBJECTS">
    <p:spTree>
      <p:nvGrpSpPr>
        <p:cNvPr id="29" name="Shape 29"/>
        <p:cNvGrpSpPr/>
        <p:nvPr/>
      </p:nvGrpSpPr>
      <p:grpSpPr>
        <a:xfrm>
          <a:off x="0" y="0"/>
          <a:ext cx="0" cy="0"/>
          <a:chOff x="0" y="0"/>
          <a:chExt cx="0" cy="0"/>
        </a:xfrm>
      </p:grpSpPr>
      <p:sp>
        <p:nvSpPr>
          <p:cNvPr id="30" name="Shape 9"/>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31" name="Shape 10"/>
          <p:cNvSpPr txBox="1"/>
          <p:nvPr>
            <p:ph type="body" idx="1"/>
          </p:nvPr>
        </p:nvSpPr>
        <p:spPr>
          <a:xfrm>
            <a:off x="628650" y="1369219"/>
            <a:ext cx="3886200" cy="3263504"/>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32" name="Shape 11"/>
          <p:cNvSpPr txBox="1"/>
          <p:nvPr>
            <p:ph type="body" idx="2"/>
          </p:nvPr>
        </p:nvSpPr>
        <p:spPr>
          <a:xfrm>
            <a:off x="4629150" y="1369219"/>
            <a:ext cx="3886200" cy="3263504"/>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33" name="Shape 12"/>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34" name="Shape 13"/>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35" name="Shape 14"/>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matchingName="比较">
  <p:cSld name="TWO_OBJECTS_WITH_TEXT">
    <p:spTree>
      <p:nvGrpSpPr>
        <p:cNvPr id="36" name="Shape 36"/>
        <p:cNvGrpSpPr/>
        <p:nvPr/>
      </p:nvGrpSpPr>
      <p:grpSpPr>
        <a:xfrm>
          <a:off x="0" y="0"/>
          <a:ext cx="0" cy="0"/>
          <a:chOff x="0" y="0"/>
          <a:chExt cx="0" cy="0"/>
        </a:xfrm>
      </p:grpSpPr>
      <p:sp>
        <p:nvSpPr>
          <p:cNvPr id="37" name="Shape 35"/>
          <p:cNvSpPr txBox="1"/>
          <p:nvPr>
            <p:ph type="title"/>
          </p:nvPr>
        </p:nvSpPr>
        <p:spPr>
          <a:xfrm>
            <a:off x="629841"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38" name="Shape 36"/>
          <p:cNvSpPr txBox="1"/>
          <p:nvPr>
            <p:ph type="body" idx="1"/>
          </p:nvPr>
        </p:nvSpPr>
        <p:spPr>
          <a:xfrm>
            <a:off x="629841" y="1260872"/>
            <a:ext cx="3868340" cy="617934"/>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p:txBody>
      </p:sp>
      <p:sp>
        <p:nvSpPr>
          <p:cNvPr id="39" name="Shape 37"/>
          <p:cNvSpPr txBox="1"/>
          <p:nvPr>
            <p:ph type="body" idx="2"/>
          </p:nvPr>
        </p:nvSpPr>
        <p:spPr>
          <a:xfrm>
            <a:off x="629841" y="1878806"/>
            <a:ext cx="3868340" cy="2763441"/>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40" name="Shape 38"/>
          <p:cNvSpPr txBox="1"/>
          <p:nvPr>
            <p:ph type="body" idx="3"/>
          </p:nvPr>
        </p:nvSpPr>
        <p:spPr>
          <a:xfrm>
            <a:off x="4629150" y="1260872"/>
            <a:ext cx="3887391" cy="617934"/>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p:txBody>
      </p:sp>
      <p:sp>
        <p:nvSpPr>
          <p:cNvPr id="41" name="Shape 39"/>
          <p:cNvSpPr txBox="1"/>
          <p:nvPr>
            <p:ph type="body" idx="4"/>
          </p:nvPr>
        </p:nvSpPr>
        <p:spPr>
          <a:xfrm>
            <a:off x="4629150" y="1878806"/>
            <a:ext cx="3887391" cy="2763441"/>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42" name="Shape 40"/>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3" name="Shape 41"/>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4" name="Shape 42"/>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matchingName="仅标题">
  <p:cSld name="TITLE_ONLY">
    <p:spTree>
      <p:nvGrpSpPr>
        <p:cNvPr id="45" name="Shape 45"/>
        <p:cNvGrpSpPr/>
        <p:nvPr/>
      </p:nvGrpSpPr>
      <p:grpSpPr>
        <a:xfrm>
          <a:off x="0" y="0"/>
          <a:ext cx="0" cy="0"/>
          <a:chOff x="0" y="0"/>
          <a:chExt cx="0" cy="0"/>
        </a:xfrm>
      </p:grpSpPr>
      <p:sp>
        <p:nvSpPr>
          <p:cNvPr id="46" name="Shape 20"/>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47" name="Shape 21"/>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8" name="Shape 22"/>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9" name="Shape 23"/>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matchingName="空白">
  <p:cSld name="BLANK">
    <p:spTree>
      <p:nvGrpSpPr>
        <p:cNvPr id="50" name="Shape 50"/>
        <p:cNvGrpSpPr/>
        <p:nvPr/>
      </p:nvGrpSpPr>
      <p:grpSpPr>
        <a:xfrm>
          <a:off x="0" y="0"/>
          <a:ext cx="0" cy="0"/>
          <a:chOff x="0" y="0"/>
          <a:chExt cx="0" cy="0"/>
        </a:xfrm>
      </p:grpSpPr>
      <p:sp>
        <p:nvSpPr>
          <p:cNvPr id="51" name="Shape 6"/>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52" name="Shape 7"/>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53" name="Shape 8"/>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matchingName="内容与标题">
  <p:cSld name="OBJECT_WITH_CAPTION_TEXT">
    <p:spTree>
      <p:nvGrpSpPr>
        <p:cNvPr id="54" name="Shape 54"/>
        <p:cNvGrpSpPr/>
        <p:nvPr/>
      </p:nvGrpSpPr>
      <p:grpSpPr>
        <a:xfrm>
          <a:off x="0" y="0"/>
          <a:ext cx="0" cy="0"/>
          <a:chOff x="0" y="0"/>
          <a:chExt cx="0" cy="0"/>
        </a:xfrm>
      </p:grpSpPr>
      <p:sp>
        <p:nvSpPr>
          <p:cNvPr id="55" name="Shape 43"/>
          <p:cNvSpPr txBox="1"/>
          <p:nvPr>
            <p:ph type="title"/>
          </p:nvPr>
        </p:nvSpPr>
        <p:spPr>
          <a:xfrm>
            <a:off x="629841" y="342900"/>
            <a:ext cx="2949178" cy="120015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Arial" panose="020B0604020202020204"/>
              <a:buNone/>
              <a:defRPr sz="2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56" name="Shape 44"/>
          <p:cNvSpPr txBox="1"/>
          <p:nvPr>
            <p:ph type="body" idx="1"/>
          </p:nvPr>
        </p:nvSpPr>
        <p:spPr>
          <a:xfrm>
            <a:off x="3887391" y="740569"/>
            <a:ext cx="4629150" cy="3655219"/>
          </a:xfrm>
          <a:prstGeom prst="rect">
            <a:avLst/>
          </a:prstGeom>
          <a:noFill/>
          <a:ln>
            <a:noFill/>
          </a:ln>
        </p:spPr>
        <p:txBody>
          <a:bodyPr spcFirstLastPara="1" wrap="square" lIns="68575" tIns="34275" rIns="68575" bIns="34275" anchor="t" anchorCtr="0">
            <a:normAutofit/>
          </a:bodyPr>
          <a:lstStyle>
            <a:lvl1pPr marL="457200" lvl="0" indent="-381000" algn="l">
              <a:lnSpc>
                <a:spcPct val="90000"/>
              </a:lnSpc>
              <a:spcBef>
                <a:spcPts val="800"/>
              </a:spcBef>
              <a:spcAft>
                <a:spcPts val="0"/>
              </a:spcAft>
              <a:buClr>
                <a:schemeClr val="dk1"/>
              </a:buClr>
              <a:buSzPts val="2400"/>
              <a:buChar char="•"/>
              <a:defRPr sz="2400"/>
            </a:lvl1pPr>
            <a:lvl2pPr marL="914400" lvl="1" indent="-361950" algn="l">
              <a:lnSpc>
                <a:spcPct val="90000"/>
              </a:lnSpc>
              <a:spcBef>
                <a:spcPts val="400"/>
              </a:spcBef>
              <a:spcAft>
                <a:spcPts val="0"/>
              </a:spcAft>
              <a:buClr>
                <a:schemeClr val="dk1"/>
              </a:buClr>
              <a:buSzPts val="2100"/>
              <a:buChar char="•"/>
              <a:defRPr sz="2100"/>
            </a:lvl2pPr>
            <a:lvl3pPr marL="1371600" lvl="2" indent="-342900" algn="l">
              <a:lnSpc>
                <a:spcPct val="90000"/>
              </a:lnSpc>
              <a:spcBef>
                <a:spcPts val="400"/>
              </a:spcBef>
              <a:spcAft>
                <a:spcPts val="0"/>
              </a:spcAft>
              <a:buClr>
                <a:schemeClr val="dk1"/>
              </a:buClr>
              <a:buSzPts val="1800"/>
              <a:buChar char="•"/>
              <a:defRPr sz="1800"/>
            </a:lvl3pPr>
            <a:lvl4pPr marL="1828800" lvl="3" indent="-323850" algn="l">
              <a:lnSpc>
                <a:spcPct val="90000"/>
              </a:lnSpc>
              <a:spcBef>
                <a:spcPts val="400"/>
              </a:spcBef>
              <a:spcAft>
                <a:spcPts val="0"/>
              </a:spcAft>
              <a:buClr>
                <a:schemeClr val="dk1"/>
              </a:buClr>
              <a:buSzPts val="1500"/>
              <a:buChar char="•"/>
              <a:defRPr sz="1500"/>
            </a:lvl4pPr>
            <a:lvl5pPr marL="2286000" lvl="4" indent="-323850" algn="l">
              <a:lnSpc>
                <a:spcPct val="90000"/>
              </a:lnSpc>
              <a:spcBef>
                <a:spcPts val="400"/>
              </a:spcBef>
              <a:spcAft>
                <a:spcPts val="0"/>
              </a:spcAft>
              <a:buClr>
                <a:schemeClr val="dk1"/>
              </a:buClr>
              <a:buSzPts val="1500"/>
              <a:buChar char="•"/>
              <a:defRPr sz="1500"/>
            </a:lvl5pPr>
            <a:lvl6pPr marL="2743200" lvl="5" indent="-323850" algn="l">
              <a:lnSpc>
                <a:spcPct val="90000"/>
              </a:lnSpc>
              <a:spcBef>
                <a:spcPts val="400"/>
              </a:spcBef>
              <a:spcAft>
                <a:spcPts val="0"/>
              </a:spcAft>
              <a:buClr>
                <a:schemeClr val="dk1"/>
              </a:buClr>
              <a:buSzPts val="1500"/>
              <a:buChar char="•"/>
              <a:defRPr sz="1500"/>
            </a:lvl6pPr>
            <a:lvl7pPr marL="3200400" lvl="6" indent="-323850" algn="l">
              <a:lnSpc>
                <a:spcPct val="90000"/>
              </a:lnSpc>
              <a:spcBef>
                <a:spcPts val="400"/>
              </a:spcBef>
              <a:spcAft>
                <a:spcPts val="0"/>
              </a:spcAft>
              <a:buClr>
                <a:schemeClr val="dk1"/>
              </a:buClr>
              <a:buSzPts val="1500"/>
              <a:buChar char="•"/>
              <a:defRPr sz="1500"/>
            </a:lvl7pPr>
            <a:lvl8pPr marL="3657600" lvl="7" indent="-323850" algn="l">
              <a:lnSpc>
                <a:spcPct val="90000"/>
              </a:lnSpc>
              <a:spcBef>
                <a:spcPts val="400"/>
              </a:spcBef>
              <a:spcAft>
                <a:spcPts val="0"/>
              </a:spcAft>
              <a:buClr>
                <a:schemeClr val="dk1"/>
              </a:buClr>
              <a:buSzPts val="1500"/>
              <a:buChar char="•"/>
              <a:defRPr sz="1500"/>
            </a:lvl8pPr>
            <a:lvl9pPr marL="4114800" lvl="8" indent="-323850" algn="l">
              <a:lnSpc>
                <a:spcPct val="90000"/>
              </a:lnSpc>
              <a:spcBef>
                <a:spcPts val="400"/>
              </a:spcBef>
              <a:spcAft>
                <a:spcPts val="0"/>
              </a:spcAft>
              <a:buClr>
                <a:schemeClr val="dk1"/>
              </a:buClr>
              <a:buSzPts val="1500"/>
              <a:buChar char="•"/>
              <a:defRPr sz="1500"/>
            </a:lvl9pPr>
          </a:lstStyle>
          <a:p/>
        </p:txBody>
      </p:sp>
      <p:sp>
        <p:nvSpPr>
          <p:cNvPr id="57" name="Shape 45"/>
          <p:cNvSpPr txBox="1"/>
          <p:nvPr>
            <p:ph type="body" idx="2"/>
          </p:nvPr>
        </p:nvSpPr>
        <p:spPr>
          <a:xfrm>
            <a:off x="629841" y="1543050"/>
            <a:ext cx="2949178" cy="2858691"/>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p:txBody>
      </p:sp>
      <p:sp>
        <p:nvSpPr>
          <p:cNvPr id="58" name="Shape 46"/>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59" name="Shape 47"/>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0" name="Shape 48"/>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matchingName="图片与标题">
  <p:cSld name="PICTURE_WITH_CAPTION_TEXT">
    <p:spTree>
      <p:nvGrpSpPr>
        <p:cNvPr id="61" name="Shape 61"/>
        <p:cNvGrpSpPr/>
        <p:nvPr/>
      </p:nvGrpSpPr>
      <p:grpSpPr>
        <a:xfrm>
          <a:off x="0" y="0"/>
          <a:ext cx="0" cy="0"/>
          <a:chOff x="0" y="0"/>
          <a:chExt cx="0" cy="0"/>
        </a:xfrm>
      </p:grpSpPr>
      <p:sp>
        <p:nvSpPr>
          <p:cNvPr id="62" name="Shape 24"/>
          <p:cNvSpPr txBox="1"/>
          <p:nvPr>
            <p:ph type="title"/>
          </p:nvPr>
        </p:nvSpPr>
        <p:spPr>
          <a:xfrm>
            <a:off x="629841" y="342900"/>
            <a:ext cx="2949178" cy="120015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Arial" panose="020B0604020202020204"/>
              <a:buNone/>
              <a:defRPr sz="2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63" name="Shape 25"/>
          <p:cNvSpPr/>
          <p:nvPr>
            <p:ph type="pic" idx="2"/>
          </p:nvPr>
        </p:nvSpPr>
        <p:spPr>
          <a:xfrm>
            <a:off x="3887391" y="740569"/>
            <a:ext cx="4629150" cy="3655219"/>
          </a:xfrm>
          <a:prstGeom prst="rect">
            <a:avLst/>
          </a:prstGeom>
          <a:noFill/>
          <a:ln>
            <a:noFill/>
          </a:ln>
        </p:spPr>
      </p:sp>
      <p:sp>
        <p:nvSpPr>
          <p:cNvPr id="64" name="Shape 26"/>
          <p:cNvSpPr txBox="1"/>
          <p:nvPr>
            <p:ph type="body" idx="1"/>
          </p:nvPr>
        </p:nvSpPr>
        <p:spPr>
          <a:xfrm>
            <a:off x="629841" y="1543050"/>
            <a:ext cx="2949178" cy="2858691"/>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p:txBody>
      </p:sp>
      <p:sp>
        <p:nvSpPr>
          <p:cNvPr id="65" name="Shape 27"/>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6" name="Shape 28"/>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7" name="Shape 29"/>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matchingName="标题和竖排文字">
  <p:cSld name="VERTICAL_TEXT">
    <p:spTree>
      <p:nvGrpSpPr>
        <p:cNvPr id="68" name="Shape 68"/>
        <p:cNvGrpSpPr/>
        <p:nvPr/>
      </p:nvGrpSpPr>
      <p:grpSpPr>
        <a:xfrm>
          <a:off x="0" y="0"/>
          <a:ext cx="0" cy="0"/>
          <a:chOff x="0" y="0"/>
          <a:chExt cx="0" cy="0"/>
        </a:xfrm>
      </p:grpSpPr>
      <p:sp>
        <p:nvSpPr>
          <p:cNvPr id="69" name="Shape 49"/>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70" name="Shape 50"/>
          <p:cNvSpPr txBox="1"/>
          <p:nvPr>
            <p:ph type="body" idx="1"/>
          </p:nvPr>
        </p:nvSpPr>
        <p:spPr>
          <a:xfrm rot="5400000">
            <a:off x="2940248" y="-942379"/>
            <a:ext cx="3263504" cy="78867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71" name="Shape 51"/>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2" name="Shape 52"/>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3" name="Shape 53"/>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matchingName="竖排标题与文本">
  <p:cSld name="VERTICAL_TITLE_AND_VERTICAL_TEXT">
    <p:spTree>
      <p:nvGrpSpPr>
        <p:cNvPr id="74" name="Shape 74"/>
        <p:cNvGrpSpPr/>
        <p:nvPr/>
      </p:nvGrpSpPr>
      <p:grpSpPr>
        <a:xfrm>
          <a:off x="0" y="0"/>
          <a:ext cx="0" cy="0"/>
          <a:chOff x="0" y="0"/>
          <a:chExt cx="0" cy="0"/>
        </a:xfrm>
      </p:grpSpPr>
      <p:sp>
        <p:nvSpPr>
          <p:cNvPr id="75" name="Shape 15"/>
          <p:cNvSpPr txBox="1"/>
          <p:nvPr>
            <p:ph type="title"/>
          </p:nvPr>
        </p:nvSpPr>
        <p:spPr>
          <a:xfrm rot="5400000">
            <a:off x="5350073" y="1467445"/>
            <a:ext cx="4358879" cy="1971675"/>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76" name="Shape 16"/>
          <p:cNvSpPr txBox="1"/>
          <p:nvPr>
            <p:ph type="body" idx="1"/>
          </p:nvPr>
        </p:nvSpPr>
        <p:spPr>
          <a:xfrm rot="5400000">
            <a:off x="1349573" y="-447080"/>
            <a:ext cx="4358879" cy="5800725"/>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77" name="Shape 17"/>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8" name="Shape 18"/>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9" name="Shape 19"/>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1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5" name="Shape 5"/>
        <p:cNvGrpSpPr/>
        <p:nvPr/>
      </p:nvGrpSpPr>
      <p:grpSpPr>
        <a:xfrm>
          <a:off x="0" y="0"/>
          <a:ext cx="0" cy="0"/>
          <a:chOff x="0" y="0"/>
          <a:chExt cx="0" cy="0"/>
        </a:xfrm>
      </p:grpSpPr>
      <p:sp>
        <p:nvSpPr>
          <p:cNvPr id="6" name="Shape 1"/>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marR="0" lvl="0" algn="l" rtl="0">
              <a:lnSpc>
                <a:spcPct val="90000"/>
              </a:lnSpc>
              <a:spcBef>
                <a:spcPts val="0"/>
              </a:spcBef>
              <a:spcAft>
                <a:spcPts val="0"/>
              </a:spcAft>
              <a:buClr>
                <a:schemeClr val="dk1"/>
              </a:buClr>
              <a:buSzPts val="3300"/>
              <a:buFont typeface="Arial" panose="020B0604020202020204"/>
              <a:buNone/>
              <a:defRPr sz="3300" b="0" i="0" u="none" strike="noStrike" cap="none">
                <a:solidFill>
                  <a:schemeClr val="dk1"/>
                </a:solidFill>
                <a:latin typeface="Arial" panose="020B0604020202020204"/>
                <a:ea typeface="Arial" panose="020B0604020202020204"/>
                <a:cs typeface="Arial" panose="020B0604020202020204"/>
                <a:sym typeface="Arial" panose="020B0604020202020204"/>
              </a:defRPr>
            </a:lvl1pPr>
            <a:lvl2pPr lvl="1">
              <a:spcBef>
                <a:spcPts val="0"/>
              </a:spcBef>
              <a:spcAft>
                <a:spcPts val="0"/>
              </a:spcAft>
              <a:buSzPts val="1100"/>
              <a:buNone/>
              <a:defRPr sz="1400"/>
            </a:lvl2pPr>
            <a:lvl3pPr lvl="2">
              <a:spcBef>
                <a:spcPts val="0"/>
              </a:spcBef>
              <a:spcAft>
                <a:spcPts val="0"/>
              </a:spcAft>
              <a:buSzPts val="1100"/>
              <a:buNone/>
              <a:defRPr sz="1400"/>
            </a:lvl3pPr>
            <a:lvl4pPr lvl="3">
              <a:spcBef>
                <a:spcPts val="0"/>
              </a:spcBef>
              <a:spcAft>
                <a:spcPts val="0"/>
              </a:spcAft>
              <a:buSzPts val="1100"/>
              <a:buNone/>
              <a:defRPr sz="1400"/>
            </a:lvl4pPr>
            <a:lvl5pPr lvl="4">
              <a:spcBef>
                <a:spcPts val="0"/>
              </a:spcBef>
              <a:spcAft>
                <a:spcPts val="0"/>
              </a:spcAft>
              <a:buSzPts val="1100"/>
              <a:buNone/>
              <a:defRPr sz="1400"/>
            </a:lvl5pPr>
            <a:lvl6pPr lvl="5">
              <a:spcBef>
                <a:spcPts val="0"/>
              </a:spcBef>
              <a:spcAft>
                <a:spcPts val="0"/>
              </a:spcAft>
              <a:buSzPts val="1100"/>
              <a:buNone/>
              <a:defRPr sz="1400"/>
            </a:lvl6pPr>
            <a:lvl7pPr lvl="6">
              <a:spcBef>
                <a:spcPts val="0"/>
              </a:spcBef>
              <a:spcAft>
                <a:spcPts val="0"/>
              </a:spcAft>
              <a:buSzPts val="1100"/>
              <a:buNone/>
              <a:defRPr sz="1400"/>
            </a:lvl7pPr>
            <a:lvl8pPr lvl="7">
              <a:spcBef>
                <a:spcPts val="0"/>
              </a:spcBef>
              <a:spcAft>
                <a:spcPts val="0"/>
              </a:spcAft>
              <a:buSzPts val="1100"/>
              <a:buNone/>
              <a:defRPr sz="1400"/>
            </a:lvl8pPr>
            <a:lvl9pPr lvl="8">
              <a:spcBef>
                <a:spcPts val="0"/>
              </a:spcBef>
              <a:spcAft>
                <a:spcPts val="0"/>
              </a:spcAft>
              <a:buSzPts val="1100"/>
              <a:buNone/>
              <a:defRPr sz="1400"/>
            </a:lvl9pPr>
          </a:lstStyle>
          <a:p/>
        </p:txBody>
      </p:sp>
      <p:sp>
        <p:nvSpPr>
          <p:cNvPr id="7" name="Shape 2"/>
          <p:cNvSpPr txBox="1"/>
          <p:nvPr>
            <p:ph type="body" idx="1"/>
          </p:nvPr>
        </p:nvSpPr>
        <p:spPr>
          <a:xfrm>
            <a:off x="628650" y="1369219"/>
            <a:ext cx="7886700" cy="3263504"/>
          </a:xfrm>
          <a:prstGeom prst="rect">
            <a:avLst/>
          </a:prstGeom>
          <a:noFill/>
          <a:ln>
            <a:noFill/>
          </a:ln>
        </p:spPr>
        <p:txBody>
          <a:bodyPr spcFirstLastPara="1" wrap="square" lIns="68575" tIns="34275" rIns="68575" bIns="34275" anchor="t" anchorCtr="0">
            <a:normAutofit/>
          </a:bodyPr>
          <a:lstStyle>
            <a:lvl1pPr marL="457200" marR="0" lvl="0" indent="-361950" algn="l" rtl="0">
              <a:lnSpc>
                <a:spcPct val="90000"/>
              </a:lnSpc>
              <a:spcBef>
                <a:spcPts val="800"/>
              </a:spcBef>
              <a:spcAft>
                <a:spcPts val="0"/>
              </a:spcAft>
              <a:buClr>
                <a:schemeClr val="dk1"/>
              </a:buClr>
              <a:buSzPts val="2100"/>
              <a:buFont typeface="Arial" panose="020B0604020202020204"/>
              <a:buChar char="•"/>
              <a:defRPr sz="2100" b="0" i="0" u="none" strike="noStrike" cap="none">
                <a:solidFill>
                  <a:schemeClr val="dk1"/>
                </a:solidFill>
                <a:latin typeface="Arial" panose="020B0604020202020204"/>
                <a:ea typeface="Arial" panose="020B0604020202020204"/>
                <a:cs typeface="Arial" panose="020B0604020202020204"/>
                <a:sym typeface="Arial" panose="020B0604020202020204"/>
              </a:defRPr>
            </a:lvl1pPr>
            <a:lvl2pPr marL="914400" marR="0" lvl="1" indent="-342900" algn="l" rtl="0">
              <a:lnSpc>
                <a:spcPct val="90000"/>
              </a:lnSpc>
              <a:spcBef>
                <a:spcPts val="400"/>
              </a:spcBef>
              <a:spcAft>
                <a:spcPts val="0"/>
              </a:spcAft>
              <a:buClr>
                <a:schemeClr val="dk1"/>
              </a:buClr>
              <a:buSzPts val="1800"/>
              <a:buFont typeface="Arial" panose="020B0604020202020204"/>
              <a:buChar char="•"/>
              <a:defRPr sz="1800" b="0" i="0" u="none" strike="noStrike" cap="none">
                <a:solidFill>
                  <a:schemeClr val="dk1"/>
                </a:solidFill>
                <a:latin typeface="Arial" panose="020B0604020202020204"/>
                <a:ea typeface="Arial" panose="020B0604020202020204"/>
                <a:cs typeface="Arial" panose="020B0604020202020204"/>
                <a:sym typeface="Arial" panose="020B0604020202020204"/>
              </a:defRPr>
            </a:lvl2pPr>
            <a:lvl3pPr marL="1371600" marR="0" lvl="2" indent="-323850" algn="l" rtl="0">
              <a:lnSpc>
                <a:spcPct val="90000"/>
              </a:lnSpc>
              <a:spcBef>
                <a:spcPts val="400"/>
              </a:spcBef>
              <a:spcAft>
                <a:spcPts val="0"/>
              </a:spcAft>
              <a:buClr>
                <a:schemeClr val="dk1"/>
              </a:buClr>
              <a:buSzPts val="1500"/>
              <a:buFont typeface="Arial" panose="020B0604020202020204"/>
              <a:buChar char="•"/>
              <a:defRPr sz="1500" b="0" i="0" u="none" strike="noStrike" cap="none">
                <a:solidFill>
                  <a:schemeClr val="dk1"/>
                </a:solidFill>
                <a:latin typeface="Arial" panose="020B0604020202020204"/>
                <a:ea typeface="Arial" panose="020B0604020202020204"/>
                <a:cs typeface="Arial" panose="020B0604020202020204"/>
                <a:sym typeface="Arial" panose="020B0604020202020204"/>
              </a:defRPr>
            </a:lvl3pPr>
            <a:lvl4pPr marL="1828800" marR="0" lvl="3"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4pPr>
            <a:lvl5pPr marL="2286000" marR="0" lvl="4"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5pPr>
            <a:lvl6pPr marL="2743200" marR="0" lvl="5"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6pPr>
            <a:lvl7pPr marL="3200400" marR="0" lvl="6"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7pPr>
            <a:lvl8pPr marL="3657600" marR="0" lvl="7"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8pPr>
            <a:lvl9pPr marL="4114800" marR="0" lvl="8"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9pPr>
          </a:lstStyle>
          <a:p/>
        </p:txBody>
      </p:sp>
      <p:sp>
        <p:nvSpPr>
          <p:cNvPr id="8" name="Shape 3"/>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marR="0" lvl="0" algn="l" rtl="0">
              <a:spcBef>
                <a:spcPts val="0"/>
              </a:spcBef>
              <a:spcAft>
                <a:spcPts val="0"/>
              </a:spcAft>
              <a:buSzPts val="1100"/>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1pPr>
            <a:lvl2pPr marR="0" lvl="1"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2pPr>
            <a:lvl3pPr marR="0" lvl="2"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3pPr>
            <a:lvl4pPr marR="0" lvl="3"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4pPr>
            <a:lvl5pPr marR="0" lvl="4"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5pPr>
            <a:lvl6pPr marR="0" lvl="5"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6pPr>
            <a:lvl7pPr marR="0" lvl="6"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7pPr>
            <a:lvl8pPr marR="0" lvl="7"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8pPr>
            <a:lvl9pPr marR="0" lvl="8"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9pPr>
          </a:lstStyle>
          <a:p/>
        </p:txBody>
      </p:sp>
      <p:sp>
        <p:nvSpPr>
          <p:cNvPr id="9" name="Shape 4"/>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marR="0" lvl="0" algn="ctr" rtl="0">
              <a:spcBef>
                <a:spcPts val="0"/>
              </a:spcBef>
              <a:spcAft>
                <a:spcPts val="0"/>
              </a:spcAft>
              <a:buSzPts val="1100"/>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1pPr>
            <a:lvl2pPr marR="0" lvl="1"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2pPr>
            <a:lvl3pPr marR="0" lvl="2"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3pPr>
            <a:lvl4pPr marR="0" lvl="3"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4pPr>
            <a:lvl5pPr marR="0" lvl="4"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5pPr>
            <a:lvl6pPr marR="0" lvl="5"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6pPr>
            <a:lvl7pPr marR="0" lvl="6"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7pPr>
            <a:lvl8pPr marR="0" lvl="7"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8pPr>
            <a:lvl9pPr marR="0" lvl="8"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9pPr>
          </a:lstStyle>
          <a:p/>
        </p:txBody>
      </p:sp>
      <p:sp>
        <p:nvSpPr>
          <p:cNvPr id="10" name="Shape 5"/>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marR="0" lvl="0"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1pPr>
            <a:lvl2pPr marL="0" marR="0" lvl="1"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2pPr>
            <a:lvl3pPr marL="0" marR="0" lvl="2"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3pPr>
            <a:lvl4pPr marL="0" marR="0" lvl="3"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4pPr>
            <a:lvl5pPr marL="0" marR="0" lvl="4"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5pPr>
            <a:lvl6pPr marL="0" marR="0" lvl="5"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6pPr>
            <a:lvl7pPr marL="0" marR="0" lvl="6"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7pPr>
            <a:lvl8pPr marL="0" marR="0" lvl="7"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8pPr>
            <a:lvl9pPr marL="0" marR="0" lvl="8"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9pPr>
          </a:lstStyle>
          <a:p>
            <a:pPr marL="0" lvl="0" indent="0" algn="r" rtl="0">
              <a:spcBef>
                <a:spcPts val="0"/>
              </a:spcBef>
              <a:spcAft>
                <a:spcPts val="0"/>
              </a:spcAft>
              <a:buNone/>
            </a:pPr>
            <a:fld id="{00000000-1234-1234-1234-123412341234}" type="slidenum">
              <a:rPr lang="zh-CN"/>
            </a:fld>
            <a:endParaRPr lang="zh-CN"/>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5"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61"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s/_rels/slide1.xml.rels><?xml version="1.0" encoding="UTF-8" standalone="yes"?>
<Relationships xmlns="http://schemas.openxmlformats.org/package/2006/relationships"><Relationship Id="rId7" Type="http://schemas.openxmlformats.org/officeDocument/2006/relationships/notesSlide" Target="../notesSlides/notesSlide1.xml"/><Relationship Id="rId6" Type="http://schemas.openxmlformats.org/officeDocument/2006/relationships/slideLayout" Target="../slideLayouts/slideLayout12.xml"/><Relationship Id="rId5" Type="http://schemas.openxmlformats.org/officeDocument/2006/relationships/image" Target="../media/image5.svg"/><Relationship Id="rId4" Type="http://schemas.openxmlformats.org/officeDocument/2006/relationships/image" Target="../media/image4.png"/><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image" Target="../media/image1.jpeg"/></Relationships>
</file>

<file path=ppt/slides/_rels/slide2.xml.rels><?xml version="1.0" encoding="UTF-8" standalone="yes"?>
<Relationships xmlns="http://schemas.openxmlformats.org/package/2006/relationships"><Relationship Id="rId9" Type="http://schemas.openxmlformats.org/officeDocument/2006/relationships/notesSlide" Target="../notesSlides/notesSlide2.xml"/><Relationship Id="rId8" Type="http://schemas.openxmlformats.org/officeDocument/2006/relationships/slideLayout" Target="../slideLayouts/slideLayout12.xml"/><Relationship Id="rId7" Type="http://schemas.openxmlformats.org/officeDocument/2006/relationships/image" Target="../media/image12.svg"/><Relationship Id="rId6" Type="http://schemas.openxmlformats.org/officeDocument/2006/relationships/image" Target="../media/image11.png"/><Relationship Id="rId5" Type="http://schemas.openxmlformats.org/officeDocument/2006/relationships/image" Target="../media/image10.svg"/><Relationship Id="rId4" Type="http://schemas.openxmlformats.org/officeDocument/2006/relationships/image" Target="../media/image9.png"/><Relationship Id="rId3" Type="http://schemas.openxmlformats.org/officeDocument/2006/relationships/image" Target="../media/image8.svg"/><Relationship Id="rId2" Type="http://schemas.openxmlformats.org/officeDocument/2006/relationships/image" Target="../media/image7.png"/><Relationship Id="rId1" Type="http://schemas.openxmlformats.org/officeDocument/2006/relationships/image" Target="../media/image6.jpeg"/></Relationships>
</file>

<file path=ppt/slides/_rels/slide3.xml.rels><?xml version="1.0" encoding="UTF-8" standalone="yes"?>
<Relationships xmlns="http://schemas.openxmlformats.org/package/2006/relationships"><Relationship Id="rId9" Type="http://schemas.openxmlformats.org/officeDocument/2006/relationships/image" Target="../media/image20.svg"/><Relationship Id="rId8" Type="http://schemas.openxmlformats.org/officeDocument/2006/relationships/image" Target="../media/image19.png"/><Relationship Id="rId7" Type="http://schemas.openxmlformats.org/officeDocument/2006/relationships/image" Target="../media/image18.svg"/><Relationship Id="rId6" Type="http://schemas.openxmlformats.org/officeDocument/2006/relationships/image" Target="../media/image17.png"/><Relationship Id="rId5" Type="http://schemas.openxmlformats.org/officeDocument/2006/relationships/image" Target="../media/image16.svg"/><Relationship Id="rId4" Type="http://schemas.openxmlformats.org/officeDocument/2006/relationships/image" Target="../media/image15.png"/><Relationship Id="rId3" Type="http://schemas.openxmlformats.org/officeDocument/2006/relationships/image" Target="../media/image14.svg"/><Relationship Id="rId2" Type="http://schemas.openxmlformats.org/officeDocument/2006/relationships/image" Target="../media/image13.png"/><Relationship Id="rId13" Type="http://schemas.openxmlformats.org/officeDocument/2006/relationships/notesSlide" Target="../notesSlides/notesSlide3.xml"/><Relationship Id="rId12" Type="http://schemas.openxmlformats.org/officeDocument/2006/relationships/slideLayout" Target="../slideLayouts/slideLayout12.xml"/><Relationship Id="rId11" Type="http://schemas.openxmlformats.org/officeDocument/2006/relationships/image" Target="../media/image22.svg"/><Relationship Id="rId10" Type="http://schemas.openxmlformats.org/officeDocument/2006/relationships/image" Target="../media/image21.png"/><Relationship Id="rId1" Type="http://schemas.openxmlformats.org/officeDocument/2006/relationships/image" Target="../media/image6.jpeg"/></Relationships>
</file>

<file path=ppt/slides/_rels/slide4.xml.rels><?xml version="1.0" encoding="UTF-8" standalone="yes"?>
<Relationships xmlns="http://schemas.openxmlformats.org/package/2006/relationships"><Relationship Id="rId9" Type="http://schemas.openxmlformats.org/officeDocument/2006/relationships/image" Target="../media/image30.png"/><Relationship Id="rId8" Type="http://schemas.openxmlformats.org/officeDocument/2006/relationships/image" Target="../media/image29.svg"/><Relationship Id="rId7" Type="http://schemas.openxmlformats.org/officeDocument/2006/relationships/image" Target="../media/image28.png"/><Relationship Id="rId6" Type="http://schemas.openxmlformats.org/officeDocument/2006/relationships/image" Target="../media/image27.svg"/><Relationship Id="rId5" Type="http://schemas.openxmlformats.org/officeDocument/2006/relationships/image" Target="../media/image26.png"/><Relationship Id="rId4" Type="http://schemas.openxmlformats.org/officeDocument/2006/relationships/image" Target="../media/image25.svg"/><Relationship Id="rId3" Type="http://schemas.openxmlformats.org/officeDocument/2006/relationships/image" Target="../media/image24.png"/><Relationship Id="rId2" Type="http://schemas.openxmlformats.org/officeDocument/2006/relationships/image" Target="../media/image23.jpeg"/><Relationship Id="rId12" Type="http://schemas.openxmlformats.org/officeDocument/2006/relationships/notesSlide" Target="../notesSlides/notesSlide4.xml"/><Relationship Id="rId11" Type="http://schemas.openxmlformats.org/officeDocument/2006/relationships/slideLayout" Target="../slideLayouts/slideLayout12.xml"/><Relationship Id="rId10" Type="http://schemas.openxmlformats.org/officeDocument/2006/relationships/image" Target="../media/image31.svg"/><Relationship Id="rId1" Type="http://schemas.openxmlformats.org/officeDocument/2006/relationships/image" Target="../media/image6.jpeg"/></Relationships>
</file>

<file path=ppt/slides/_rels/slide5.xml.rels><?xml version="1.0" encoding="UTF-8" standalone="yes"?>
<Relationships xmlns="http://schemas.openxmlformats.org/package/2006/relationships"><Relationship Id="rId9" Type="http://schemas.openxmlformats.org/officeDocument/2006/relationships/image" Target="../media/image39.svg"/><Relationship Id="rId8" Type="http://schemas.openxmlformats.org/officeDocument/2006/relationships/image" Target="../media/image38.png"/><Relationship Id="rId7" Type="http://schemas.openxmlformats.org/officeDocument/2006/relationships/image" Target="../media/image37.svg"/><Relationship Id="rId6" Type="http://schemas.openxmlformats.org/officeDocument/2006/relationships/image" Target="../media/image36.png"/><Relationship Id="rId5" Type="http://schemas.openxmlformats.org/officeDocument/2006/relationships/image" Target="../media/image35.svg"/><Relationship Id="rId4" Type="http://schemas.openxmlformats.org/officeDocument/2006/relationships/image" Target="../media/image34.png"/><Relationship Id="rId3" Type="http://schemas.openxmlformats.org/officeDocument/2006/relationships/image" Target="../media/image33.svg"/><Relationship Id="rId2" Type="http://schemas.openxmlformats.org/officeDocument/2006/relationships/image" Target="../media/image32.png"/><Relationship Id="rId11" Type="http://schemas.openxmlformats.org/officeDocument/2006/relationships/notesSlide" Target="../notesSlides/notesSlide5.xml"/><Relationship Id="rId10" Type="http://schemas.openxmlformats.org/officeDocument/2006/relationships/slideLayout" Target="../slideLayouts/slideLayout12.xml"/><Relationship Id="rId1" Type="http://schemas.openxmlformats.org/officeDocument/2006/relationships/image" Target="../media/image6.jpeg"/></Relationships>
</file>

<file path=ppt/slides/_rels/slide6.xml.rels><?xml version="1.0" encoding="UTF-8" standalone="yes"?>
<Relationships xmlns="http://schemas.openxmlformats.org/package/2006/relationships"><Relationship Id="rId9" Type="http://schemas.openxmlformats.org/officeDocument/2006/relationships/image" Target="../media/image32.png"/><Relationship Id="rId8" Type="http://schemas.openxmlformats.org/officeDocument/2006/relationships/image" Target="../media/image44.svg"/><Relationship Id="rId7" Type="http://schemas.openxmlformats.org/officeDocument/2006/relationships/image" Target="../media/image43.png"/><Relationship Id="rId6" Type="http://schemas.openxmlformats.org/officeDocument/2006/relationships/image" Target="../media/image42.svg"/><Relationship Id="rId5" Type="http://schemas.openxmlformats.org/officeDocument/2006/relationships/image" Target="../media/image41.png"/><Relationship Id="rId4" Type="http://schemas.openxmlformats.org/officeDocument/2006/relationships/image" Target="../media/image27.svg"/><Relationship Id="rId3" Type="http://schemas.openxmlformats.org/officeDocument/2006/relationships/image" Target="../media/image26.png"/><Relationship Id="rId2" Type="http://schemas.openxmlformats.org/officeDocument/2006/relationships/image" Target="../media/image40.jpeg"/><Relationship Id="rId12" Type="http://schemas.openxmlformats.org/officeDocument/2006/relationships/notesSlide" Target="../notesSlides/notesSlide6.xml"/><Relationship Id="rId11" Type="http://schemas.openxmlformats.org/officeDocument/2006/relationships/slideLayout" Target="../slideLayouts/slideLayout12.xml"/><Relationship Id="rId10" Type="http://schemas.openxmlformats.org/officeDocument/2006/relationships/image" Target="../media/image33.svg"/><Relationship Id="rId1" Type="http://schemas.openxmlformats.org/officeDocument/2006/relationships/image" Target="../media/image6.jpeg"/></Relationships>
</file>

<file path=ppt/slides/_rels/slide7.xml.rels><?xml version="1.0" encoding="UTF-8" standalone="yes"?>
<Relationships xmlns="http://schemas.openxmlformats.org/package/2006/relationships"><Relationship Id="rId5" Type="http://schemas.openxmlformats.org/officeDocument/2006/relationships/notesSlide" Target="../notesSlides/notesSlide7.xml"/><Relationship Id="rId4" Type="http://schemas.openxmlformats.org/officeDocument/2006/relationships/slideLayout" Target="../slideLayouts/slideLayout12.xml"/><Relationship Id="rId3" Type="http://schemas.openxmlformats.org/officeDocument/2006/relationships/image" Target="../media/image46.svg"/><Relationship Id="rId2" Type="http://schemas.openxmlformats.org/officeDocument/2006/relationships/image" Target="../media/image45.png"/><Relationship Id="rId1" Type="http://schemas.openxmlformats.org/officeDocument/2006/relationships/image" Target="../media/image6.jpeg"/></Relationships>
</file>

<file path=ppt/slides/_rels/slide8.xml.rels><?xml version="1.0" encoding="UTF-8" standalone="yes"?>
<Relationships xmlns="http://schemas.openxmlformats.org/package/2006/relationships"><Relationship Id="rId9" Type="http://schemas.openxmlformats.org/officeDocument/2006/relationships/slideLayout" Target="../slideLayouts/slideLayout12.xml"/><Relationship Id="rId8" Type="http://schemas.openxmlformats.org/officeDocument/2006/relationships/image" Target="../media/image51.svg"/><Relationship Id="rId7" Type="http://schemas.openxmlformats.org/officeDocument/2006/relationships/image" Target="../media/image50.png"/><Relationship Id="rId6" Type="http://schemas.openxmlformats.org/officeDocument/2006/relationships/image" Target="../media/image49.svg"/><Relationship Id="rId5" Type="http://schemas.openxmlformats.org/officeDocument/2006/relationships/image" Target="../media/image48.png"/><Relationship Id="rId4" Type="http://schemas.openxmlformats.org/officeDocument/2006/relationships/image" Target="../media/image27.svg"/><Relationship Id="rId3" Type="http://schemas.openxmlformats.org/officeDocument/2006/relationships/image" Target="../media/image26.png"/><Relationship Id="rId2" Type="http://schemas.openxmlformats.org/officeDocument/2006/relationships/image" Target="../media/image47.jpeg"/><Relationship Id="rId10" Type="http://schemas.openxmlformats.org/officeDocument/2006/relationships/notesSlide" Target="../notesSlides/notesSlide8.xml"/><Relationship Id="rId1" Type="http://schemas.openxmlformats.org/officeDocument/2006/relationships/image" Target="../media/image6.jpeg"/></Relationships>
</file>

<file path=ppt/slides/_rels/slide9.xml.rels><?xml version="1.0" encoding="UTF-8" standalone="yes"?>
<Relationships xmlns="http://schemas.openxmlformats.org/package/2006/relationships"><Relationship Id="rId9" Type="http://schemas.openxmlformats.org/officeDocument/2006/relationships/tags" Target="../tags/tag8.xml"/><Relationship Id="rId8" Type="http://schemas.openxmlformats.org/officeDocument/2006/relationships/tags" Target="../tags/tag7.xml"/><Relationship Id="rId7" Type="http://schemas.openxmlformats.org/officeDocument/2006/relationships/tags" Target="../tags/tag6.xml"/><Relationship Id="rId6" Type="http://schemas.openxmlformats.org/officeDocument/2006/relationships/tags" Target="../tags/tag5.xml"/><Relationship Id="rId5" Type="http://schemas.openxmlformats.org/officeDocument/2006/relationships/tags" Target="../tags/tag4.xml"/><Relationship Id="rId4" Type="http://schemas.openxmlformats.org/officeDocument/2006/relationships/tags" Target="../tags/tag3.xml"/><Relationship Id="rId3" Type="http://schemas.openxmlformats.org/officeDocument/2006/relationships/tags" Target="../tags/tag2.xml"/><Relationship Id="rId2" Type="http://schemas.openxmlformats.org/officeDocument/2006/relationships/tags" Target="../tags/tag1.xml"/><Relationship Id="rId19" Type="http://schemas.openxmlformats.org/officeDocument/2006/relationships/notesSlide" Target="../notesSlides/notesSlide9.xml"/><Relationship Id="rId18" Type="http://schemas.openxmlformats.org/officeDocument/2006/relationships/slideLayout" Target="../slideLayouts/slideLayout12.xml"/><Relationship Id="rId17" Type="http://schemas.openxmlformats.org/officeDocument/2006/relationships/image" Target="../media/image55.png"/><Relationship Id="rId16" Type="http://schemas.openxmlformats.org/officeDocument/2006/relationships/image" Target="../media/image54.png"/><Relationship Id="rId15" Type="http://schemas.openxmlformats.org/officeDocument/2006/relationships/image" Target="../media/image53.png"/><Relationship Id="rId14" Type="http://schemas.openxmlformats.org/officeDocument/2006/relationships/image" Target="../media/image52.png"/><Relationship Id="rId13" Type="http://schemas.openxmlformats.org/officeDocument/2006/relationships/tags" Target="../tags/tag12.xml"/><Relationship Id="rId12" Type="http://schemas.openxmlformats.org/officeDocument/2006/relationships/tags" Target="../tags/tag11.xml"/><Relationship Id="rId11" Type="http://schemas.openxmlformats.org/officeDocument/2006/relationships/tags" Target="../tags/tag10.xml"/><Relationship Id="rId10" Type="http://schemas.openxmlformats.org/officeDocument/2006/relationships/tags" Target="../tags/tag9.xml"/><Relationship Id="rId1" Type="http://schemas.openxmlformats.org/officeDocument/2006/relationships/image" Target="../media/image6.jpeg"/></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12.xml"/><Relationship Id="rId1" Type="http://schemas.openxmlformats.org/officeDocument/2006/relationships/image" Target="../media/image6.jpeg"/></Relationships>
</file>

<file path=ppt/slides/_rels/slide11.xml.rels><?xml version="1.0" encoding="UTF-8" standalone="yes"?>
<Relationships xmlns="http://schemas.openxmlformats.org/package/2006/relationships"><Relationship Id="rId9" Type="http://schemas.openxmlformats.org/officeDocument/2006/relationships/image" Target="../media/image57.svg"/><Relationship Id="rId8" Type="http://schemas.openxmlformats.org/officeDocument/2006/relationships/image" Target="../media/image56.png"/><Relationship Id="rId7" Type="http://schemas.openxmlformats.org/officeDocument/2006/relationships/image" Target="../media/image10.svg"/><Relationship Id="rId6" Type="http://schemas.openxmlformats.org/officeDocument/2006/relationships/image" Target="../media/image9.png"/><Relationship Id="rId5" Type="http://schemas.openxmlformats.org/officeDocument/2006/relationships/image" Target="../media/image29.svg"/><Relationship Id="rId4" Type="http://schemas.openxmlformats.org/officeDocument/2006/relationships/image" Target="../media/image28.png"/><Relationship Id="rId3" Type="http://schemas.openxmlformats.org/officeDocument/2006/relationships/image" Target="../media/image27.svg"/><Relationship Id="rId2" Type="http://schemas.openxmlformats.org/officeDocument/2006/relationships/image" Target="../media/image26.png"/><Relationship Id="rId13" Type="http://schemas.openxmlformats.org/officeDocument/2006/relationships/notesSlide" Target="../notesSlides/notesSlide11.xml"/><Relationship Id="rId12" Type="http://schemas.openxmlformats.org/officeDocument/2006/relationships/slideLayout" Target="../slideLayouts/slideLayout12.xml"/><Relationship Id="rId11" Type="http://schemas.openxmlformats.org/officeDocument/2006/relationships/image" Target="../media/image59.svg"/><Relationship Id="rId10" Type="http://schemas.openxmlformats.org/officeDocument/2006/relationships/image" Target="../media/image58.png"/><Relationship Id="rId1" Type="http://schemas.openxmlformats.org/officeDocument/2006/relationships/image" Target="../media/image6.jpeg"/></Relationships>
</file>

<file path=ppt/slides/_rels/slide12.xml.rels><?xml version="1.0" encoding="UTF-8" standalone="yes"?>
<Relationships xmlns="http://schemas.openxmlformats.org/package/2006/relationships"><Relationship Id="rId9" Type="http://schemas.openxmlformats.org/officeDocument/2006/relationships/image" Target="../media/image65.svg"/><Relationship Id="rId8" Type="http://schemas.openxmlformats.org/officeDocument/2006/relationships/image" Target="../media/image64.png"/><Relationship Id="rId7" Type="http://schemas.openxmlformats.org/officeDocument/2006/relationships/image" Target="../media/image63.svg"/><Relationship Id="rId6" Type="http://schemas.openxmlformats.org/officeDocument/2006/relationships/image" Target="../media/image62.png"/><Relationship Id="rId5" Type="http://schemas.openxmlformats.org/officeDocument/2006/relationships/image" Target="../media/image61.svg"/><Relationship Id="rId4" Type="http://schemas.openxmlformats.org/officeDocument/2006/relationships/image" Target="../media/image60.png"/><Relationship Id="rId3" Type="http://schemas.openxmlformats.org/officeDocument/2006/relationships/image" Target="../media/image39.svg"/><Relationship Id="rId2" Type="http://schemas.openxmlformats.org/officeDocument/2006/relationships/image" Target="../media/image38.png"/><Relationship Id="rId12" Type="http://schemas.openxmlformats.org/officeDocument/2006/relationships/notesSlide" Target="../notesSlides/notesSlide12.xml"/><Relationship Id="rId11" Type="http://schemas.openxmlformats.org/officeDocument/2006/relationships/slideLayout" Target="../slideLayouts/slideLayout12.xml"/><Relationship Id="rId10" Type="http://schemas.openxmlformats.org/officeDocument/2006/relationships/image" Target="../media/image66.png"/><Relationship Id="rId1" Type="http://schemas.openxmlformats.org/officeDocument/2006/relationships/image" Target="../media/image6.jpe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pic>
        <p:nvPicPr>
          <p:cNvPr id="2" name="Picture 2"/>
          <p:cNvPicPr>
            <a:picLocks noChangeAspect="1"/>
          </p:cNvPicPr>
          <p:nvPr/>
        </p:nvPicPr>
        <p:blipFill>
          <a:blip r:embed="rId1"/>
          <a:srcRect/>
          <a:stretch>
            <a:fillRect/>
          </a:stretch>
        </p:blipFill>
        <p:spPr>
          <a:xfrm>
            <a:off x="0" y="0"/>
            <a:ext cx="12192000" cy="6858000"/>
          </a:xfrm>
          <a:prstGeom prst="rect">
            <a:avLst/>
          </a:prstGeom>
          <a:noFill/>
          <a:ln w="25400" cap="flat" cmpd="sng">
            <a:noFill/>
            <a:prstDash val="solid"/>
            <a:round/>
          </a:ln>
        </p:spPr>
      </p:pic>
      <p:sp>
        <p:nvSpPr>
          <p:cNvPr id="3" name="AutoShape 3"/>
          <p:cNvSpPr/>
          <p:nvPr/>
        </p:nvSpPr>
        <p:spPr>
          <a:xfrm>
            <a:off x="0" y="0"/>
            <a:ext cx="12192000" cy="6858000"/>
          </a:xfrm>
          <a:prstGeom prst="roundRect">
            <a:avLst>
              <a:gd name="adj" fmla="val 0"/>
            </a:avLst>
          </a:prstGeom>
          <a:solidFill>
            <a:srgbClr val="FFFFFF">
              <a:alpha val="90000"/>
            </a:srgbClr>
          </a:solidFill>
          <a:ln w="25400" cap="flat" cmpd="sng">
            <a:noFill/>
            <a:prstDash val="solid"/>
            <a:round/>
          </a:ln>
        </p:spPr>
        <p:txBody>
          <a:bodyPr vert="horz" wrap="square" lIns="63500" tIns="63500" rIns="63500" bIns="63500" rtlCol="0" anchor="ctr"/>
          <a:lstStyle/>
          <a:p>
            <a:pPr algn="ctr">
              <a:defRPr/>
            </a:pPr>
          </a:p>
        </p:txBody>
      </p:sp>
      <p:sp>
        <p:nvSpPr>
          <p:cNvPr id="4" name="AutoShape 4"/>
          <p:cNvSpPr/>
          <p:nvPr/>
        </p:nvSpPr>
        <p:spPr>
          <a:xfrm>
            <a:off x="381000" y="1270000"/>
            <a:ext cx="11430000" cy="635000"/>
          </a:xfrm>
          <a:prstGeom prst="rect">
            <a:avLst/>
          </a:prstGeom>
          <a:noFill/>
          <a:ln w="12700" cap="flat" cmpd="sng">
            <a:noFill/>
            <a:prstDash val="solid"/>
            <a:round/>
          </a:ln>
        </p:spPr>
        <p:txBody>
          <a:bodyPr vert="horz" wrap="none" lIns="0" tIns="0" rIns="0" bIns="0" rtlCol="0" anchor="ctr" anchorCtr="0"/>
          <a:lstStyle/>
          <a:p>
            <a:pPr indent="0" algn="ctr">
              <a:lnSpc>
                <a:spcPct val="125000"/>
              </a:lnSpc>
              <a:defRPr/>
            </a:pPr>
            <a:r>
              <a:rPr lang="en-US" sz="3200" b="1" i="0" u="none" strike="noStrike">
                <a:solidFill>
                  <a:srgbClr val="005A9C"/>
                </a:solidFill>
                <a:latin typeface="Noto Sans SC" panose="020B0200000000000000" charset="-122"/>
                <a:ea typeface="Noto Sans SC" panose="020B0200000000000000" charset="-122"/>
                <a:cs typeface="Noto Sans SC" panose="020B0200000000000000" charset="-122"/>
                <a:sym typeface="Noto Sans SC" panose="020B0200000000000000" charset="-122"/>
              </a:rPr>
              <a:t>Pascal-S 到 C 编译器设计与实现（交流汇报）</a:t>
            </a:r>
            <a:endParaRPr lang="en-US" sz="1100"/>
          </a:p>
        </p:txBody>
      </p:sp>
      <p:sp>
        <p:nvSpPr>
          <p:cNvPr id="5" name="AutoShape 5"/>
          <p:cNvSpPr/>
          <p:nvPr/>
        </p:nvSpPr>
        <p:spPr>
          <a:xfrm>
            <a:off x="381000" y="1968500"/>
            <a:ext cx="11430000" cy="381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20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编译原理与技术课程设计</a:t>
            </a:r>
            <a:endParaRPr lang="en-US" sz="1100"/>
          </a:p>
        </p:txBody>
      </p:sp>
      <p:sp>
        <p:nvSpPr>
          <p:cNvPr id="6" name="AutoShape 6"/>
          <p:cNvSpPr/>
          <p:nvPr/>
        </p:nvSpPr>
        <p:spPr>
          <a:xfrm>
            <a:off x="4191000" y="2603500"/>
            <a:ext cx="3810000" cy="457200"/>
          </a:xfrm>
          <a:prstGeom prst="roundRect">
            <a:avLst>
              <a:gd name="adj" fmla="val 50000"/>
            </a:avLst>
          </a:prstGeom>
          <a:solidFill>
            <a:srgbClr val="005A9C">
              <a:alpha val="10000"/>
            </a:srgbClr>
          </a:solidFill>
          <a:ln w="12700" cap="flat" cmpd="sng">
            <a:solidFill>
              <a:srgbClr val="005A9C">
                <a:alpha val="100000"/>
              </a:srgbClr>
            </a:solidFill>
            <a:prstDash val="solid"/>
            <a:round/>
          </a:ln>
        </p:spPr>
        <p:txBody>
          <a:bodyPr vert="horz" wrap="square" lIns="0" tIns="0" rIns="0" bIns="0" rtlCol="0" anchor="ctr" anchorCtr="0"/>
          <a:lstStyle/>
          <a:p>
            <a:pPr indent="0" algn="ctr">
              <a:lnSpc>
                <a:spcPct val="125000"/>
              </a:lnSpc>
              <a:defRPr/>
            </a:pPr>
            <a:r>
              <a:rPr lang="en-US" sz="1600" b="1" i="0" u="none" strike="noStrike">
                <a:solidFill>
                  <a:srgbClr val="005A9C"/>
                </a:solidFill>
                <a:latin typeface="Noto Sans SC" panose="020B0200000000000000" charset="-122"/>
                <a:ea typeface="Noto Sans SC" panose="020B0200000000000000" charset="-122"/>
                <a:cs typeface="Noto Sans SC" panose="020B0200000000000000" charset="-122"/>
                <a:sym typeface="Noto Sans SC" panose="020B0200000000000000" charset="-122"/>
              </a:rPr>
              <a:t>M2 已完成 · 准备进入 M3</a:t>
            </a:r>
            <a:endParaRPr lang="en-US" sz="1100"/>
          </a:p>
        </p:txBody>
      </p:sp>
      <p:pic>
        <p:nvPicPr>
          <p:cNvPr id="7" name="Picture 7"/>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556000" y="3429000"/>
            <a:ext cx="304800" cy="304800"/>
          </a:xfrm>
          <a:prstGeom prst="rect">
            <a:avLst/>
          </a:prstGeom>
        </p:spPr>
      </p:pic>
      <p:sp>
        <p:nvSpPr>
          <p:cNvPr id="8" name="AutoShape 8"/>
          <p:cNvSpPr/>
          <p:nvPr/>
        </p:nvSpPr>
        <p:spPr>
          <a:xfrm>
            <a:off x="3937000" y="3390900"/>
            <a:ext cx="4826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组长：丁乐航</a:t>
            </a:r>
            <a:endParaRPr lang="en-US" sz="1100"/>
          </a:p>
        </p:txBody>
      </p:sp>
      <p:pic>
        <p:nvPicPr>
          <p:cNvPr id="9" name="Picture 9"/>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556000" y="3873500"/>
            <a:ext cx="304800" cy="304800"/>
          </a:xfrm>
          <a:prstGeom prst="rect">
            <a:avLst/>
          </a:prstGeom>
        </p:spPr>
      </p:pic>
      <p:sp>
        <p:nvSpPr>
          <p:cNvPr id="10" name="AutoShape 10"/>
          <p:cNvSpPr/>
          <p:nvPr/>
        </p:nvSpPr>
        <p:spPr>
          <a:xfrm>
            <a:off x="3937000" y="3835400"/>
            <a:ext cx="4826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组员：金介然、何俊辉、李璇</a:t>
            </a:r>
            <a:endParaRPr lang="en-US" sz="1100"/>
          </a:p>
        </p:txBody>
      </p:sp>
      <p:cxnSp>
        <p:nvCxnSpPr>
          <p:cNvPr id="11" name="Connector 11"/>
          <p:cNvCxnSpPr/>
          <p:nvPr/>
        </p:nvCxnSpPr>
        <p:spPr>
          <a:xfrm rot="-8594">
            <a:off x="3556008" y="4438650"/>
            <a:ext cx="5080000" cy="12700"/>
          </a:xfrm>
          <a:prstGeom prst="line">
            <a:avLst/>
          </a:prstGeom>
          <a:solidFill>
            <a:srgbClr val="DEE0E3">
              <a:alpha val="100000"/>
            </a:srgbClr>
          </a:solidFill>
          <a:ln w="12700" cap="flat" cmpd="sng">
            <a:solidFill>
              <a:srgbClr val="CCCCCC">
                <a:alpha val="100000"/>
              </a:srgbClr>
            </a:solidFill>
            <a:prstDash val="solid"/>
            <a:round/>
            <a:headEnd type="none" w="med" len="med"/>
            <a:tailEnd type="none" w="med" len="med"/>
          </a:ln>
        </p:spPr>
      </p:cxnSp>
      <p:sp>
        <p:nvSpPr>
          <p:cNvPr id="12" name="AutoShape 12"/>
          <p:cNvSpPr/>
          <p:nvPr/>
        </p:nvSpPr>
        <p:spPr>
          <a:xfrm>
            <a:off x="381000" y="4699000"/>
            <a:ext cx="11430000" cy="381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16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汇报人：金介然  |  2026年3月</a:t>
            </a:r>
            <a:endParaRPr lang="en-US" sz="110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5F7FA">
            <a:alpha val="100000"/>
          </a:srgbClr>
        </a:solidFill>
        <a:effectLst/>
      </p:bgPr>
    </p:bg>
    <p:spTree>
      <p:nvGrpSpPr>
        <p:cNvPr id="1" name=""/>
        <p:cNvGrpSpPr/>
        <p:nvPr/>
      </p:nvGrpSpPr>
      <p:grpSpPr>
        <a:xfrm>
          <a:off x="0" y="0"/>
          <a:ext cx="0" cy="0"/>
          <a:chOff x="0" y="0"/>
          <a:chExt cx="0" cy="0"/>
        </a:xfrm>
      </p:grpSpPr>
      <p:pic>
        <p:nvPicPr>
          <p:cNvPr id="2" name="Picture 2"/>
          <p:cNvPicPr>
            <a:picLocks noChangeAspect="1"/>
          </p:cNvPicPr>
          <p:nvPr/>
        </p:nvPicPr>
        <p:blipFill>
          <a:blip r:embed="rId1"/>
          <a:srcRect/>
          <a:stretch>
            <a:fillRect/>
          </a:stretch>
        </p:blipFill>
        <p:spPr>
          <a:xfrm>
            <a:off x="0" y="0"/>
            <a:ext cx="12192000" cy="6858000"/>
          </a:xfrm>
          <a:prstGeom prst="rect">
            <a:avLst/>
          </a:prstGeom>
          <a:noFill/>
          <a:ln w="25400" cap="flat" cmpd="sng">
            <a:noFill/>
            <a:prstDash val="solid"/>
            <a:round/>
          </a:ln>
        </p:spPr>
      </p:pic>
      <p:sp>
        <p:nvSpPr>
          <p:cNvPr id="3" name="AutoShape 3"/>
          <p:cNvSpPr/>
          <p:nvPr/>
        </p:nvSpPr>
        <p:spPr>
          <a:xfrm>
            <a:off x="762000" y="508000"/>
            <a:ext cx="4470400" cy="508000"/>
          </a:xfrm>
          <a:prstGeom prst="rect">
            <a:avLst/>
          </a:prstGeom>
          <a:noFill/>
          <a:ln w="12700" cap="flat" cmpd="sng">
            <a:noFill/>
            <a:prstDash val="solid"/>
            <a:round/>
          </a:ln>
        </p:spPr>
        <p:txBody>
          <a:bodyPr vert="horz" wrap="none" lIns="0" tIns="0" rIns="0" bIns="0" rtlCol="0" anchor="ctr" anchorCtr="0"/>
          <a:lstStyle/>
          <a:p>
            <a:pPr indent="0" algn="l">
              <a:lnSpc>
                <a:spcPct val="125000"/>
              </a:lnSpc>
              <a:defRPr/>
            </a:pPr>
            <a:r>
              <a:rPr lang="en-US" sz="32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项目目标与验收约束</a:t>
            </a:r>
            <a:endParaRPr lang="en-US" sz="1100"/>
          </a:p>
        </p:txBody>
      </p:sp>
      <p:sp>
        <p:nvSpPr>
          <p:cNvPr id="4" name="AutoShape 4"/>
          <p:cNvSpPr/>
          <p:nvPr/>
        </p:nvSpPr>
        <p:spPr>
          <a:xfrm>
            <a:off x="762000" y="1397000"/>
            <a:ext cx="3302000" cy="4064000"/>
          </a:xfrm>
          <a:prstGeom prst="roundRect">
            <a:avLst>
              <a:gd name="adj" fmla="val 3846"/>
            </a:avLst>
          </a:prstGeom>
          <a:solidFill>
            <a:srgbClr val="FFFFFF">
              <a:alpha val="95000"/>
            </a:srgbClr>
          </a:solidFill>
          <a:ln w="12700" cap="flat" cmpd="sng">
            <a:solidFill>
              <a:srgbClr val="CCCCCC">
                <a:alpha val="50000"/>
              </a:srgbClr>
            </a:solidFill>
            <a:prstDash val="solid"/>
            <a:round/>
          </a:ln>
          <a:effectLst>
            <a:outerShdw blurRad="127000" dist="50800" dir="5400000" algn="tl" rotWithShape="0">
              <a:srgbClr val="000000">
                <a:alpha val="8000"/>
              </a:srgbClr>
            </a:outerShdw>
          </a:effectLst>
        </p:spPr>
        <p:txBody>
          <a:bodyPr vert="horz" wrap="square" lIns="63500" tIns="63500" rIns="63500" bIns="63500" rtlCol="0" anchor="ctr"/>
          <a:lstStyle/>
          <a:p>
            <a:pPr algn="ctr">
              <a:defRPr/>
            </a:pPr>
          </a:p>
        </p:txBody>
      </p:sp>
      <p:pic>
        <p:nvPicPr>
          <p:cNvPr id="5" name="Picture 5"/>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2095500" y="1651000"/>
            <a:ext cx="609600" cy="609600"/>
          </a:xfrm>
          <a:prstGeom prst="rect">
            <a:avLst/>
          </a:prstGeom>
        </p:spPr>
      </p:pic>
      <p:sp>
        <p:nvSpPr>
          <p:cNvPr id="6" name="AutoShape 6"/>
          <p:cNvSpPr/>
          <p:nvPr/>
        </p:nvSpPr>
        <p:spPr>
          <a:xfrm>
            <a:off x="889000" y="2413000"/>
            <a:ext cx="3048000" cy="381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2000" b="1" i="0" u="none" strike="noStrike">
                <a:solidFill>
                  <a:srgbClr val="005A9C"/>
                </a:solidFill>
                <a:latin typeface="Noto Sans SC" panose="020B0200000000000000" charset="-122"/>
                <a:ea typeface="Noto Sans SC" panose="020B0200000000000000" charset="-122"/>
                <a:cs typeface="Noto Sans SC" panose="020B0200000000000000" charset="-122"/>
                <a:sym typeface="Noto Sans SC" panose="020B0200000000000000" charset="-122"/>
              </a:rPr>
              <a:t>项目目标</a:t>
            </a:r>
            <a:endParaRPr lang="en-US" sz="1100"/>
          </a:p>
        </p:txBody>
      </p:sp>
      <p:sp>
        <p:nvSpPr>
          <p:cNvPr id="7" name="AutoShape 7"/>
          <p:cNvSpPr/>
          <p:nvPr/>
        </p:nvSpPr>
        <p:spPr>
          <a:xfrm>
            <a:off x="952500" y="2921000"/>
            <a:ext cx="2921000" cy="2159000"/>
          </a:xfrm>
          <a:prstGeom prst="rect">
            <a:avLst/>
          </a:prstGeom>
          <a:noFill/>
          <a:ln w="12700" cap="flat" cmpd="sng">
            <a:noFill/>
            <a:prstDash val="solid"/>
            <a:round/>
          </a:ln>
        </p:spPr>
        <p:txBody>
          <a:bodyPr vert="horz" wrap="square" lIns="0" tIns="0" rIns="0" bIns="0" rtlCol="0" anchor="t" anchorCtr="0"/>
          <a:lstStyle/>
          <a:p>
            <a:pPr indent="0" algn="l">
              <a:lnSpc>
                <a:spcPct val="108000"/>
              </a:lnSpc>
              <a:spcBef>
                <a:spcPts val="500"/>
              </a:spcBef>
              <a:defRPr/>
            </a:pPr>
            <a:r>
              <a:rPr lang="en-US" sz="14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总目标：</a:t>
            </a:r>
            <a:endParaRPr lang="en-US" sz="1100"/>
          </a:p>
          <a:p>
            <a:pPr indent="0" algn="l">
              <a:lnSpc>
                <a:spcPct val="108000"/>
              </a:lnSpc>
            </a:pPr>
            <a:r>
              <a:rPr lang="en-US" sz="13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将 Pascal-S 程序翻译为可编译运行的 C 程序。</a:t>
            </a:r>
            <a:endParaRPr lang="en-US" sz="13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indent="0" algn="l">
              <a:lnSpc>
                <a:spcPct val="108000"/>
              </a:lnSpc>
              <a:spcBef>
                <a:spcPts val="1000"/>
              </a:spcBef>
            </a:pPr>
            <a:r>
              <a:rPr lang="en-US" sz="14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核心功能链路：</a:t>
            </a:r>
            <a:endParaRPr lang="en-US" sz="14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indent="0" algn="l">
              <a:lnSpc>
                <a:spcPct val="108000"/>
              </a:lnSpc>
            </a:pPr>
            <a:r>
              <a:rPr lang="en-US" sz="13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词法分析 → 语法分析 → 语义分析 → 代码生成 → 测试验证</a:t>
            </a:r>
            <a:endParaRPr lang="en-US" sz="13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8" name="AutoShape 8"/>
          <p:cNvSpPr/>
          <p:nvPr/>
        </p:nvSpPr>
        <p:spPr>
          <a:xfrm>
            <a:off x="4445000" y="1397000"/>
            <a:ext cx="3302000" cy="4064000"/>
          </a:xfrm>
          <a:prstGeom prst="roundRect">
            <a:avLst>
              <a:gd name="adj" fmla="val 3846"/>
            </a:avLst>
          </a:prstGeom>
          <a:solidFill>
            <a:srgbClr val="FFFFFF">
              <a:alpha val="95000"/>
            </a:srgbClr>
          </a:solidFill>
          <a:ln w="12700" cap="flat" cmpd="sng">
            <a:solidFill>
              <a:srgbClr val="CCCCCC">
                <a:alpha val="50000"/>
              </a:srgbClr>
            </a:solidFill>
            <a:prstDash val="solid"/>
            <a:round/>
          </a:ln>
          <a:effectLst>
            <a:outerShdw blurRad="127000" dist="50800" dir="5400000" algn="tl" rotWithShape="0">
              <a:srgbClr val="000000">
                <a:alpha val="8000"/>
              </a:srgbClr>
            </a:outerShdw>
          </a:effectLst>
        </p:spPr>
        <p:txBody>
          <a:bodyPr vert="horz" wrap="square" lIns="63500" tIns="63500" rIns="63500" bIns="63500" rtlCol="0" anchor="ctr"/>
          <a:lstStyle/>
          <a:p>
            <a:pPr algn="ctr">
              <a:defRPr/>
            </a:pPr>
          </a:p>
        </p:txBody>
      </p:sp>
      <p:pic>
        <p:nvPicPr>
          <p:cNvPr id="9" name="Picture 9"/>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5778500" y="1651000"/>
            <a:ext cx="609600" cy="609600"/>
          </a:xfrm>
          <a:prstGeom prst="rect">
            <a:avLst/>
          </a:prstGeom>
        </p:spPr>
      </p:pic>
      <p:sp>
        <p:nvSpPr>
          <p:cNvPr id="10" name="AutoShape 10"/>
          <p:cNvSpPr/>
          <p:nvPr/>
        </p:nvSpPr>
        <p:spPr>
          <a:xfrm>
            <a:off x="4572000" y="2413000"/>
            <a:ext cx="3048000" cy="381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2000" b="1" i="0" u="none" strike="noStrike">
                <a:solidFill>
                  <a:srgbClr val="005A9C"/>
                </a:solidFill>
                <a:latin typeface="Noto Sans SC" panose="020B0200000000000000" charset="-122"/>
                <a:ea typeface="Noto Sans SC" panose="020B0200000000000000" charset="-122"/>
                <a:cs typeface="Noto Sans SC" panose="020B0200000000000000" charset="-122"/>
                <a:sym typeface="Noto Sans SC" panose="020B0200000000000000" charset="-122"/>
              </a:rPr>
              <a:t>验收硬约束</a:t>
            </a:r>
            <a:endParaRPr lang="en-US" sz="1100"/>
          </a:p>
        </p:txBody>
      </p:sp>
      <p:sp>
        <p:nvSpPr>
          <p:cNvPr id="11" name="AutoShape 11"/>
          <p:cNvSpPr/>
          <p:nvPr/>
        </p:nvSpPr>
        <p:spPr>
          <a:xfrm>
            <a:off x="4635500" y="2921000"/>
            <a:ext cx="2921000" cy="2159000"/>
          </a:xfrm>
          <a:prstGeom prst="rect">
            <a:avLst/>
          </a:prstGeom>
          <a:noFill/>
          <a:ln w="12700" cap="flat" cmpd="sng">
            <a:noFill/>
            <a:prstDash val="solid"/>
            <a:round/>
          </a:ln>
        </p:spPr>
        <p:txBody>
          <a:bodyPr vert="horz" wrap="square" lIns="0" tIns="0" rIns="0" bIns="0" rtlCol="0" anchor="t" anchorCtr="0"/>
          <a:lstStyle/>
          <a:p>
            <a:pPr marL="165100" indent="-165100" algn="l">
              <a:lnSpc>
                <a:spcPct val="117000"/>
              </a:lnSpc>
              <a:buClr>
                <a:srgbClr val="555555"/>
              </a:buClr>
              <a:buFont typeface="+mj-lt"/>
              <a:buAutoNum type="arabicPeriod"/>
              <a:defRPr/>
            </a:pPr>
            <a:r>
              <a:rPr lang="en-US" sz="13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可执行文件命名为</a:t>
            </a:r>
            <a:r>
              <a:rPr lang="en-US" sz="1300" b="1" i="0" u="none" strike="noStrike">
                <a:solidFill>
                  <a:srgbClr val="005A9C"/>
                </a:solidFill>
                <a:latin typeface="Noto Sans SC" panose="020B0200000000000000" charset="-122"/>
                <a:ea typeface="Noto Sans SC" panose="020B0200000000000000" charset="-122"/>
                <a:cs typeface="Noto Sans SC" panose="020B0200000000000000" charset="-122"/>
                <a:sym typeface="Noto Sans SC" panose="020B0200000000000000" charset="-122"/>
              </a:rPr>
              <a:t>pascc</a:t>
            </a:r>
            <a:endParaRPr lang="en-US" sz="1100"/>
          </a:p>
          <a:p>
            <a:pPr marL="165100" indent="-165100" algn="l">
              <a:lnSpc>
                <a:spcPct val="117000"/>
              </a:lnSpc>
              <a:buClr>
                <a:srgbClr val="555555"/>
              </a:buClr>
              <a:buFont typeface="+mj-lt"/>
              <a:buAutoNum type="arabicPeriod"/>
            </a:pPr>
            <a:r>
              <a:rPr lang="en-US" sz="13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命令行参数支持</a:t>
            </a:r>
            <a:r>
              <a:rPr lang="en-US" sz="1300" b="1" i="0" u="none" strike="noStrike">
                <a:solidFill>
                  <a:srgbClr val="005A9C"/>
                </a:solidFill>
                <a:latin typeface="Noto Sans SC" panose="020B0200000000000000" charset="-122"/>
                <a:ea typeface="Noto Sans SC" panose="020B0200000000000000" charset="-122"/>
                <a:cs typeface="Noto Sans SC" panose="020B0200000000000000" charset="-122"/>
                <a:sym typeface="Noto Sans SC" panose="020B0200000000000000" charset="-122"/>
              </a:rPr>
              <a:t>-i filename.pas</a:t>
            </a:r>
            <a:endParaRPr lang="en-US" sz="1300" b="1" i="0" u="none" strike="noStrike">
              <a:solidFill>
                <a:srgbClr val="005A9C"/>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165100" indent="-165100" algn="l">
              <a:lnSpc>
                <a:spcPct val="117000"/>
              </a:lnSpc>
              <a:buClr>
                <a:srgbClr val="555555"/>
              </a:buClr>
              <a:buFont typeface="+mj-lt"/>
              <a:buAutoNum type="arabicPeriod"/>
            </a:pPr>
            <a:r>
              <a:rPr lang="en-US" sz="13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输出同名</a:t>
            </a:r>
            <a:r>
              <a:rPr lang="en-US" sz="1300" b="1" i="0" u="none" strike="noStrike">
                <a:solidFill>
                  <a:srgbClr val="005A9C"/>
                </a:solidFill>
                <a:latin typeface="Noto Sans SC" panose="020B0200000000000000" charset="-122"/>
                <a:ea typeface="Noto Sans SC" panose="020B0200000000000000" charset="-122"/>
                <a:cs typeface="Noto Sans SC" panose="020B0200000000000000" charset="-122"/>
                <a:sym typeface="Noto Sans SC" panose="020B0200000000000000" charset="-122"/>
              </a:rPr>
              <a:t>.c</a:t>
            </a:r>
            <a:r>
              <a:rPr lang="en-US" sz="13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文件，保存在输入文件同目录</a:t>
            </a:r>
            <a:endParaRPr lang="en-US" sz="13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2" name="AutoShape 12"/>
          <p:cNvSpPr/>
          <p:nvPr/>
        </p:nvSpPr>
        <p:spPr>
          <a:xfrm>
            <a:off x="8128000" y="1397000"/>
            <a:ext cx="3302000" cy="4064000"/>
          </a:xfrm>
          <a:prstGeom prst="roundRect">
            <a:avLst>
              <a:gd name="adj" fmla="val 3846"/>
            </a:avLst>
          </a:prstGeom>
          <a:solidFill>
            <a:srgbClr val="FFFFFF">
              <a:alpha val="95000"/>
            </a:srgbClr>
          </a:solidFill>
          <a:ln w="12700" cap="flat" cmpd="sng">
            <a:solidFill>
              <a:srgbClr val="CCCCCC">
                <a:alpha val="50000"/>
              </a:srgbClr>
            </a:solidFill>
            <a:prstDash val="solid"/>
            <a:round/>
          </a:ln>
          <a:effectLst>
            <a:outerShdw blurRad="127000" dist="50800" dir="5400000" algn="tl" rotWithShape="0">
              <a:srgbClr val="000000">
                <a:alpha val="8000"/>
              </a:srgbClr>
            </a:outerShdw>
          </a:effectLst>
        </p:spPr>
        <p:txBody>
          <a:bodyPr vert="horz" wrap="square" lIns="63500" tIns="63500" rIns="63500" bIns="63500" rtlCol="0" anchor="ctr"/>
          <a:lstStyle/>
          <a:p>
            <a:pPr algn="ctr">
              <a:defRPr/>
            </a:pPr>
          </a:p>
        </p:txBody>
      </p:sp>
      <p:pic>
        <p:nvPicPr>
          <p:cNvPr id="13" name="Picture 13"/>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9461500" y="1651000"/>
            <a:ext cx="609600" cy="609600"/>
          </a:xfrm>
          <a:prstGeom prst="rect">
            <a:avLst/>
          </a:prstGeom>
        </p:spPr>
      </p:pic>
      <p:sp>
        <p:nvSpPr>
          <p:cNvPr id="14" name="AutoShape 14"/>
          <p:cNvSpPr/>
          <p:nvPr/>
        </p:nvSpPr>
        <p:spPr>
          <a:xfrm>
            <a:off x="8255000" y="2413000"/>
            <a:ext cx="3048000" cy="381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2000" b="1" i="0" u="none" strike="noStrike">
                <a:solidFill>
                  <a:srgbClr val="005A9C"/>
                </a:solidFill>
                <a:latin typeface="Noto Sans SC" panose="020B0200000000000000" charset="-122"/>
                <a:ea typeface="Noto Sans SC" panose="020B0200000000000000" charset="-122"/>
                <a:cs typeface="Noto Sans SC" panose="020B0200000000000000" charset="-122"/>
                <a:sym typeface="Noto Sans SC" panose="020B0200000000000000" charset="-122"/>
              </a:rPr>
              <a:t>汇报范围</a:t>
            </a:r>
            <a:endParaRPr lang="en-US" sz="1100"/>
          </a:p>
        </p:txBody>
      </p:sp>
      <p:sp>
        <p:nvSpPr>
          <p:cNvPr id="15" name="AutoShape 15"/>
          <p:cNvSpPr/>
          <p:nvPr/>
        </p:nvSpPr>
        <p:spPr>
          <a:xfrm>
            <a:off x="8318500" y="2921000"/>
            <a:ext cx="2921000" cy="2159000"/>
          </a:xfrm>
          <a:prstGeom prst="rect">
            <a:avLst/>
          </a:prstGeom>
          <a:noFill/>
          <a:ln w="12700" cap="flat" cmpd="sng">
            <a:noFill/>
            <a:prstDash val="solid"/>
            <a:round/>
          </a:ln>
        </p:spPr>
        <p:txBody>
          <a:bodyPr vert="horz" wrap="square" lIns="0" tIns="0" rIns="0" bIns="0" rtlCol="0" anchor="t" anchorCtr="0"/>
          <a:lstStyle/>
          <a:p>
            <a:pPr indent="0" algn="l">
              <a:lnSpc>
                <a:spcPct val="108000"/>
              </a:lnSpc>
              <a:spcBef>
                <a:spcPts val="500"/>
              </a:spcBef>
              <a:defRPr/>
            </a:pPr>
            <a:r>
              <a:rPr lang="en-US" sz="14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聚焦已完成里程碑：</a:t>
            </a:r>
            <a:endParaRPr lang="en-US" sz="1100"/>
          </a:p>
          <a:p>
            <a:pPr indent="0" algn="l">
              <a:lnSpc>
                <a:spcPct val="125000"/>
              </a:lnSpc>
              <a:spcBef>
                <a:spcPts val="800"/>
              </a:spcBef>
            </a:pPr>
            <a:r>
              <a:rPr lang="en-US" sz="1400" b="1" i="0" u="none" strike="noStrike">
                <a:solidFill>
                  <a:srgbClr val="005A9C"/>
                </a:solidFill>
                <a:latin typeface="Noto Sans SC" panose="020B0200000000000000" charset="-122"/>
                <a:ea typeface="Noto Sans SC" panose="020B0200000000000000" charset="-122"/>
                <a:cs typeface="Noto Sans SC" panose="020B0200000000000000" charset="-122"/>
                <a:sym typeface="Noto Sans SC" panose="020B0200000000000000" charset="-122"/>
              </a:rPr>
              <a:t>M1 工程搭建与基础框架</a:t>
            </a:r>
            <a:endParaRPr lang="en-US" sz="1400" b="1" i="0" u="none" strike="noStrike">
              <a:solidFill>
                <a:srgbClr val="005A9C"/>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indent="0" algn="l">
              <a:lnSpc>
                <a:spcPct val="108000"/>
              </a:lnSpc>
            </a:pPr>
            <a:r>
              <a:rPr lang="en-US" sz="13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完成项目初始化、环境配置及模块划分。</a:t>
            </a:r>
            <a:endParaRPr lang="en-US" sz="13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indent="0" algn="l">
              <a:lnSpc>
                <a:spcPct val="125000"/>
              </a:lnSpc>
              <a:spcBef>
                <a:spcPts val="800"/>
              </a:spcBef>
            </a:pPr>
            <a:r>
              <a:rPr lang="en-US" sz="1400" b="1" i="0" u="none" strike="noStrike">
                <a:solidFill>
                  <a:srgbClr val="005A9C"/>
                </a:solidFill>
                <a:latin typeface="Noto Sans SC" panose="020B0200000000000000" charset="-122"/>
                <a:ea typeface="Noto Sans SC" panose="020B0200000000000000" charset="-122"/>
                <a:cs typeface="Noto Sans SC" panose="020B0200000000000000" charset="-122"/>
                <a:sym typeface="Noto Sans SC" panose="020B0200000000000000" charset="-122"/>
              </a:rPr>
              <a:t>M2 词法分析器实现</a:t>
            </a:r>
            <a:endParaRPr lang="en-US" sz="1400" b="1" i="0" u="none" strike="noStrike">
              <a:solidFill>
                <a:srgbClr val="005A9C"/>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indent="0" algn="l">
              <a:lnSpc>
                <a:spcPct val="108000"/>
              </a:lnSpc>
            </a:pPr>
            <a:r>
              <a:rPr lang="en-US" sz="13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完成 Lex 规则编写，实现 Token 识别与输出。</a:t>
            </a:r>
            <a:endParaRPr lang="en-US" sz="13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pic>
        <p:nvPicPr>
          <p:cNvPr id="2" name="Picture 2"/>
          <p:cNvPicPr>
            <a:picLocks noChangeAspect="1"/>
          </p:cNvPicPr>
          <p:nvPr/>
        </p:nvPicPr>
        <p:blipFill>
          <a:blip r:embed="rId1"/>
          <a:srcRect/>
          <a:stretch>
            <a:fillRect/>
          </a:stretch>
        </p:blipFill>
        <p:spPr>
          <a:xfrm>
            <a:off x="0" y="0"/>
            <a:ext cx="12192000" cy="6858000"/>
          </a:xfrm>
          <a:prstGeom prst="rect">
            <a:avLst/>
          </a:prstGeom>
          <a:noFill/>
          <a:ln w="25400" cap="flat" cmpd="sng">
            <a:noFill/>
            <a:prstDash val="solid"/>
            <a:round/>
          </a:ln>
        </p:spPr>
      </p:pic>
      <p:sp>
        <p:nvSpPr>
          <p:cNvPr id="3" name="AutoShape 3"/>
          <p:cNvSpPr/>
          <p:nvPr/>
        </p:nvSpPr>
        <p:spPr>
          <a:xfrm>
            <a:off x="762000" y="508000"/>
            <a:ext cx="4470400" cy="508000"/>
          </a:xfrm>
          <a:prstGeom prst="rect">
            <a:avLst/>
          </a:prstGeom>
          <a:noFill/>
          <a:ln w="12700" cap="flat" cmpd="sng">
            <a:noFill/>
            <a:prstDash val="solid"/>
            <a:round/>
          </a:ln>
        </p:spPr>
        <p:txBody>
          <a:bodyPr vert="horz" wrap="none" lIns="0" tIns="0" rIns="0" bIns="0" rtlCol="0" anchor="ctr" anchorCtr="0"/>
          <a:lstStyle/>
          <a:p>
            <a:pPr indent="0" algn="l">
              <a:lnSpc>
                <a:spcPct val="125000"/>
              </a:lnSpc>
              <a:defRPr/>
            </a:pPr>
            <a:r>
              <a:rPr lang="en-US" sz="32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里程碑计划与当前位置</a:t>
            </a:r>
            <a:endParaRPr lang="en-US" sz="1100"/>
          </a:p>
        </p:txBody>
      </p:sp>
      <p:sp>
        <p:nvSpPr>
          <p:cNvPr id="4" name="AutoShape 4"/>
          <p:cNvSpPr/>
          <p:nvPr/>
        </p:nvSpPr>
        <p:spPr>
          <a:xfrm>
            <a:off x="762000" y="1397000"/>
            <a:ext cx="3302000" cy="2286000"/>
          </a:xfrm>
          <a:prstGeom prst="roundRect">
            <a:avLst>
              <a:gd name="adj" fmla="val 5555"/>
            </a:avLst>
          </a:prstGeom>
          <a:solidFill>
            <a:srgbClr val="F5F7FA">
              <a:alpha val="100000"/>
            </a:srgbClr>
          </a:solidFill>
          <a:ln w="12700" cap="flat" cmpd="sng">
            <a:solidFill>
              <a:srgbClr val="CCCCCC">
                <a:alpha val="100000"/>
              </a:srgbClr>
            </a:solidFill>
            <a:prstDash val="solid"/>
            <a:round/>
          </a:ln>
        </p:spPr>
        <p:txBody>
          <a:bodyPr vert="horz" wrap="square" lIns="63500" tIns="63500" rIns="63500" bIns="63500" rtlCol="0" anchor="ctr"/>
          <a:lstStyle/>
          <a:p>
            <a:pPr algn="ctr">
              <a:defRPr/>
            </a:pPr>
          </a:p>
        </p:txBody>
      </p:sp>
      <p:pic>
        <p:nvPicPr>
          <p:cNvPr id="5" name="Picture 5"/>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016000" y="1587500"/>
            <a:ext cx="304800" cy="304800"/>
          </a:xfrm>
          <a:prstGeom prst="rect">
            <a:avLst/>
          </a:prstGeom>
        </p:spPr>
      </p:pic>
      <p:sp>
        <p:nvSpPr>
          <p:cNvPr id="6" name="AutoShape 6"/>
          <p:cNvSpPr/>
          <p:nvPr/>
        </p:nvSpPr>
        <p:spPr>
          <a:xfrm>
            <a:off x="1397000" y="1549400"/>
            <a:ext cx="2413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第一里程碑 (M1)</a:t>
            </a:r>
            <a:endParaRPr lang="en-US" sz="1100"/>
          </a:p>
        </p:txBody>
      </p:sp>
      <p:sp>
        <p:nvSpPr>
          <p:cNvPr id="7" name="AutoShape 7"/>
          <p:cNvSpPr/>
          <p:nvPr/>
        </p:nvSpPr>
        <p:spPr>
          <a:xfrm>
            <a:off x="1016000" y="1968500"/>
            <a:ext cx="2794000" cy="254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2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第 1 - 10 天</a:t>
            </a:r>
            <a:endParaRPr lang="en-US" sz="1100"/>
          </a:p>
        </p:txBody>
      </p:sp>
      <p:sp>
        <p:nvSpPr>
          <p:cNvPr id="8" name="AutoShape 8"/>
          <p:cNvSpPr/>
          <p:nvPr/>
        </p:nvSpPr>
        <p:spPr>
          <a:xfrm>
            <a:off x="1016000" y="2286000"/>
            <a:ext cx="2794000" cy="1143000"/>
          </a:xfrm>
          <a:prstGeom prst="rect">
            <a:avLst/>
          </a:prstGeom>
          <a:noFill/>
          <a:ln w="12700" cap="flat" cmpd="sng">
            <a:noFill/>
            <a:prstDash val="solid"/>
            <a:round/>
          </a:ln>
        </p:spPr>
        <p:txBody>
          <a:bodyPr vert="horz" wrap="square" lIns="0" tIns="0" rIns="0" bIns="0" rtlCol="0" anchor="ctr" anchorCtr="0"/>
          <a:lstStyle/>
          <a:p>
            <a:pPr indent="0" algn="l">
              <a:lnSpc>
                <a:spcPct val="108000"/>
              </a:lnSpc>
              <a:defRPr/>
            </a:pPr>
            <a:r>
              <a:rPr lang="en-US" sz="1300" b="1" i="0" u="none" strike="noStrike">
                <a:solidFill>
                  <a:srgbClr val="505050"/>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核心任务：</a:t>
            </a:r>
            <a:r>
              <a:rPr lang="en-US" sz="1300" b="0" i="0" u="none" strike="noStrike">
                <a:solidFill>
                  <a:srgbClr val="505050"/>
                </a:solidFill>
                <a:latin typeface="Noto Sans SC" panose="020B0200000000000000" charset="-122"/>
                <a:ea typeface="Noto Sans SC" panose="020B0200000000000000" charset="-122"/>
                <a:cs typeface="Noto Sans SC" panose="020B0200000000000000" charset="-122"/>
                <a:sym typeface="Noto Sans SC" panose="020B0200000000000000" charset="-122"/>
              </a:rPr>
              <a:t>需求复核、文法边界确认、工程骨架初始化。</a:t>
            </a:r>
            <a:endParaRPr lang="en-US" sz="1100"/>
          </a:p>
          <a:p>
            <a:pPr indent="0" algn="l">
              <a:lnSpc>
                <a:spcPct val="108000"/>
              </a:lnSpc>
            </a:pPr>
            <a:r>
              <a:rPr lang="en-US" sz="1300" b="1" i="0" u="none" strike="noStrike">
                <a:solidFill>
                  <a:srgbClr val="505050"/>
                </a:solidFill>
                <a:latin typeface="Noto Sans SC" panose="020B0200000000000000" charset="-122"/>
                <a:ea typeface="Noto Sans SC" panose="020B0200000000000000" charset="-122"/>
                <a:cs typeface="Noto Sans SC" panose="020B0200000000000000" charset="-122"/>
                <a:sym typeface="Noto Sans SC" panose="020B0200000000000000" charset="-122"/>
              </a:rPr>
              <a:t>目标：</a:t>
            </a:r>
            <a:r>
              <a:rPr lang="en-US" sz="1300" b="0" i="0" u="none" strike="noStrike">
                <a:solidFill>
                  <a:srgbClr val="505050"/>
                </a:solidFill>
                <a:latin typeface="Noto Sans SC" panose="020B0200000000000000" charset="-122"/>
                <a:ea typeface="Noto Sans SC" panose="020B0200000000000000" charset="-122"/>
                <a:cs typeface="Noto Sans SC" panose="020B0200000000000000" charset="-122"/>
                <a:sym typeface="Noto Sans SC" panose="020B0200000000000000" charset="-122"/>
              </a:rPr>
              <a:t>搭建开发基础，减少后续返工。</a:t>
            </a:r>
            <a:endParaRPr lang="en-US" sz="1300" b="0" i="0" u="none" strike="noStrike">
              <a:solidFill>
                <a:srgbClr val="505050"/>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9" name="AutoShape 9"/>
          <p:cNvSpPr/>
          <p:nvPr/>
        </p:nvSpPr>
        <p:spPr>
          <a:xfrm>
            <a:off x="4445000" y="1397000"/>
            <a:ext cx="3302000" cy="2286000"/>
          </a:xfrm>
          <a:prstGeom prst="roundRect">
            <a:avLst>
              <a:gd name="adj" fmla="val 5555"/>
            </a:avLst>
          </a:prstGeom>
          <a:solidFill>
            <a:srgbClr val="005A9C">
              <a:alpha val="100000"/>
            </a:srgbClr>
          </a:solidFill>
          <a:ln w="25400" cap="flat" cmpd="sng">
            <a:noFill/>
            <a:prstDash val="solid"/>
            <a:round/>
          </a:ln>
          <a:effectLst>
            <a:outerShdw blurRad="190500" dist="101600" dir="5400000" algn="tl" rotWithShape="0">
              <a:srgbClr val="005A9C">
                <a:alpha val="30000"/>
              </a:srgbClr>
            </a:outerShdw>
          </a:effectLst>
        </p:spPr>
        <p:txBody>
          <a:bodyPr vert="horz" wrap="square" lIns="63500" tIns="63500" rIns="63500" bIns="63500" rtlCol="0" anchor="ctr"/>
          <a:lstStyle/>
          <a:p>
            <a:pPr algn="ctr">
              <a:defRPr/>
            </a:pPr>
          </a:p>
        </p:txBody>
      </p:sp>
      <p:pic>
        <p:nvPicPr>
          <p:cNvPr id="10" name="Picture 10"/>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4699000" y="1587500"/>
            <a:ext cx="304800" cy="304800"/>
          </a:xfrm>
          <a:prstGeom prst="rect">
            <a:avLst/>
          </a:prstGeom>
        </p:spPr>
      </p:pic>
      <p:sp>
        <p:nvSpPr>
          <p:cNvPr id="11" name="AutoShape 11"/>
          <p:cNvSpPr/>
          <p:nvPr/>
        </p:nvSpPr>
        <p:spPr>
          <a:xfrm>
            <a:off x="5080000" y="1549400"/>
            <a:ext cx="2413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第二里程碑 (M2)</a:t>
            </a:r>
            <a:endParaRPr lang="en-US" sz="1100"/>
          </a:p>
        </p:txBody>
      </p:sp>
      <p:sp>
        <p:nvSpPr>
          <p:cNvPr id="12" name="AutoShape 12"/>
          <p:cNvSpPr/>
          <p:nvPr/>
        </p:nvSpPr>
        <p:spPr>
          <a:xfrm>
            <a:off x="4699000" y="1968500"/>
            <a:ext cx="2794000" cy="254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200" b="0" i="0" u="none" strike="noStrike">
                <a:solidFill>
                  <a:srgbClr val="FFFFFF">
                    <a:alpha val="80000"/>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第 11 - 20 天 (已完成)</a:t>
            </a:r>
            <a:endParaRPr lang="en-US" sz="1100"/>
          </a:p>
        </p:txBody>
      </p:sp>
      <p:sp>
        <p:nvSpPr>
          <p:cNvPr id="13" name="AutoShape 13"/>
          <p:cNvSpPr/>
          <p:nvPr/>
        </p:nvSpPr>
        <p:spPr>
          <a:xfrm>
            <a:off x="4699000" y="2286000"/>
            <a:ext cx="2794000" cy="1143000"/>
          </a:xfrm>
          <a:prstGeom prst="rect">
            <a:avLst/>
          </a:prstGeom>
          <a:noFill/>
          <a:ln w="12700" cap="flat" cmpd="sng">
            <a:noFill/>
            <a:prstDash val="solid"/>
            <a:round/>
          </a:ln>
        </p:spPr>
        <p:txBody>
          <a:bodyPr vert="horz" wrap="square" lIns="0" tIns="0" rIns="0" bIns="0" rtlCol="0" anchor="ctr" anchorCtr="0"/>
          <a:lstStyle/>
          <a:p>
            <a:pPr indent="0" algn="l">
              <a:lnSpc>
                <a:spcPct val="108000"/>
              </a:lnSpc>
              <a:defRPr/>
            </a:pPr>
            <a:r>
              <a:rPr lang="en-US" sz="13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核心任务：</a:t>
            </a:r>
            <a:r>
              <a:rPr lang="en-US" sz="1300" b="0" i="0" u="none" strike="noStrike">
                <a:solidFill>
                  <a:srgbClr val="FFFFFF">
                    <a:alpha val="90196"/>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词法分析模块开发与测试收口。</a:t>
            </a:r>
            <a:endParaRPr lang="en-US" sz="1100"/>
          </a:p>
          <a:p>
            <a:pPr indent="0" algn="l">
              <a:lnSpc>
                <a:spcPct val="108000"/>
              </a:lnSpc>
            </a:pPr>
            <a:r>
              <a:rPr lang="en-US" sz="13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目标：</a:t>
            </a:r>
            <a:r>
              <a:rPr lang="en-US" sz="1300" b="0" i="0" u="none" strike="noStrike">
                <a:solidFill>
                  <a:srgbClr val="FFFFFF">
                    <a:alpha val="90196"/>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实现完整词法分析功能并通过测试。</a:t>
            </a:r>
            <a:endParaRPr lang="en-US" sz="1300" b="0" i="0" u="none" strike="noStrike">
              <a:solidFill>
                <a:srgbClr val="FFFFFF">
                  <a:alpha val="90196"/>
                </a:srgbClr>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4" name="AutoShape 14"/>
          <p:cNvSpPr/>
          <p:nvPr/>
        </p:nvSpPr>
        <p:spPr>
          <a:xfrm>
            <a:off x="8128000" y="1397000"/>
            <a:ext cx="3302000" cy="2286000"/>
          </a:xfrm>
          <a:prstGeom prst="roundRect">
            <a:avLst>
              <a:gd name="adj" fmla="val 5555"/>
            </a:avLst>
          </a:prstGeom>
          <a:solidFill>
            <a:srgbClr val="FFFFFF">
              <a:alpha val="100000"/>
            </a:srgbClr>
          </a:solidFill>
          <a:ln w="12700" cap="flat" cmpd="sng">
            <a:solidFill>
              <a:srgbClr val="CCCCCC">
                <a:alpha val="100000"/>
              </a:srgbClr>
            </a:solidFill>
            <a:prstDash val="dash"/>
            <a:round/>
          </a:ln>
        </p:spPr>
        <p:txBody>
          <a:bodyPr vert="horz" wrap="square" lIns="63500" tIns="63500" rIns="63500" bIns="63500" rtlCol="0" anchor="ctr"/>
          <a:lstStyle/>
          <a:p>
            <a:pPr algn="ctr">
              <a:defRPr/>
            </a:pPr>
          </a:p>
        </p:txBody>
      </p:sp>
      <p:pic>
        <p:nvPicPr>
          <p:cNvPr id="15" name="Picture 15"/>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8382000" y="1587500"/>
            <a:ext cx="304800" cy="304800"/>
          </a:xfrm>
          <a:prstGeom prst="rect">
            <a:avLst/>
          </a:prstGeom>
        </p:spPr>
      </p:pic>
      <p:sp>
        <p:nvSpPr>
          <p:cNvPr id="16" name="AutoShape 16"/>
          <p:cNvSpPr/>
          <p:nvPr/>
        </p:nvSpPr>
        <p:spPr>
          <a:xfrm>
            <a:off x="8763000" y="1549400"/>
            <a:ext cx="2413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646464"/>
                </a:solidFill>
                <a:latin typeface="Noto Sans SC" panose="020B0200000000000000" charset="-122"/>
                <a:ea typeface="Noto Sans SC" panose="020B0200000000000000" charset="-122"/>
                <a:cs typeface="Noto Sans SC" panose="020B0200000000000000" charset="-122"/>
                <a:sym typeface="Noto Sans SC" panose="020B0200000000000000" charset="-122"/>
              </a:rPr>
              <a:t>第三里程碑 (M3)</a:t>
            </a:r>
            <a:endParaRPr lang="en-US" sz="1100"/>
          </a:p>
        </p:txBody>
      </p:sp>
      <p:sp>
        <p:nvSpPr>
          <p:cNvPr id="17" name="AutoShape 17"/>
          <p:cNvSpPr/>
          <p:nvPr/>
        </p:nvSpPr>
        <p:spPr>
          <a:xfrm>
            <a:off x="8382000" y="1968500"/>
            <a:ext cx="2794000" cy="254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200" b="0" i="0" u="none" strike="noStrike">
                <a:solidFill>
                  <a:srgbClr val="969696"/>
                </a:solidFill>
                <a:latin typeface="Noto Sans SC" panose="020B0200000000000000" charset="-122"/>
                <a:ea typeface="Noto Sans SC" panose="020B0200000000000000" charset="-122"/>
                <a:cs typeface="Noto Sans SC" panose="020B0200000000000000" charset="-122"/>
                <a:sym typeface="Noto Sans SC" panose="020B0200000000000000" charset="-122"/>
              </a:rPr>
              <a:t>第 21 - 32 天 (待启动)</a:t>
            </a:r>
            <a:endParaRPr lang="en-US" sz="1100"/>
          </a:p>
        </p:txBody>
      </p:sp>
      <p:sp>
        <p:nvSpPr>
          <p:cNvPr id="18" name="AutoShape 18"/>
          <p:cNvSpPr/>
          <p:nvPr/>
        </p:nvSpPr>
        <p:spPr>
          <a:xfrm>
            <a:off x="8382000" y="2286000"/>
            <a:ext cx="2794000" cy="1143000"/>
          </a:xfrm>
          <a:prstGeom prst="rect">
            <a:avLst/>
          </a:prstGeom>
          <a:noFill/>
          <a:ln w="12700" cap="flat" cmpd="sng">
            <a:noFill/>
            <a:prstDash val="solid"/>
            <a:round/>
          </a:ln>
        </p:spPr>
        <p:txBody>
          <a:bodyPr vert="horz" wrap="square" lIns="0" tIns="0" rIns="0" bIns="0" rtlCol="0" anchor="ctr" anchorCtr="0"/>
          <a:lstStyle/>
          <a:p>
            <a:pPr indent="0" algn="l">
              <a:lnSpc>
                <a:spcPct val="108000"/>
              </a:lnSpc>
              <a:defRPr/>
            </a:pPr>
            <a:r>
              <a:rPr lang="en-US" sz="1300" b="1" i="0" u="none" strike="noStrike">
                <a:solidFill>
                  <a:srgbClr val="646464"/>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核心任务：</a:t>
            </a:r>
            <a:r>
              <a:rPr lang="en-US" sz="1300" b="0" i="0" u="none" strike="noStrike">
                <a:solidFill>
                  <a:srgbClr val="646464"/>
                </a:solidFill>
                <a:latin typeface="Noto Sans SC" panose="020B0200000000000000" charset="-122"/>
                <a:ea typeface="Noto Sans SC" panose="020B0200000000000000" charset="-122"/>
                <a:cs typeface="Noto Sans SC" panose="020B0200000000000000" charset="-122"/>
                <a:sym typeface="Noto Sans SC" panose="020B0200000000000000" charset="-122"/>
              </a:rPr>
              <a:t>语法分析接入、错误恢复初版、链路打通。</a:t>
            </a:r>
            <a:endParaRPr lang="en-US" sz="1100"/>
          </a:p>
          <a:p>
            <a:pPr indent="0" algn="l">
              <a:lnSpc>
                <a:spcPct val="108000"/>
              </a:lnSpc>
            </a:pPr>
            <a:r>
              <a:rPr lang="en-US" sz="1300" b="1" i="0" u="none" strike="noStrike">
                <a:solidFill>
                  <a:srgbClr val="646464"/>
                </a:solidFill>
                <a:latin typeface="Noto Sans SC" panose="020B0200000000000000" charset="-122"/>
                <a:ea typeface="Noto Sans SC" panose="020B0200000000000000" charset="-122"/>
                <a:cs typeface="Noto Sans SC" panose="020B0200000000000000" charset="-122"/>
                <a:sym typeface="Noto Sans SC" panose="020B0200000000000000" charset="-122"/>
              </a:rPr>
              <a:t>目标：</a:t>
            </a:r>
            <a:r>
              <a:rPr lang="en-US" sz="1300" b="0" i="0" u="none" strike="noStrike">
                <a:solidFill>
                  <a:srgbClr val="646464"/>
                </a:solidFill>
                <a:latin typeface="Noto Sans SC" panose="020B0200000000000000" charset="-122"/>
                <a:ea typeface="Noto Sans SC" panose="020B0200000000000000" charset="-122"/>
                <a:cs typeface="Noto Sans SC" panose="020B0200000000000000" charset="-122"/>
                <a:sym typeface="Noto Sans SC" panose="020B0200000000000000" charset="-122"/>
              </a:rPr>
              <a:t>建立完整的编译前端基础能力。</a:t>
            </a:r>
            <a:endParaRPr lang="en-US" sz="1300" b="0" i="0" u="none" strike="noStrike">
              <a:solidFill>
                <a:srgbClr val="64646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9" name="AutoShape 19"/>
          <p:cNvSpPr/>
          <p:nvPr/>
        </p:nvSpPr>
        <p:spPr>
          <a:xfrm>
            <a:off x="762000" y="4064000"/>
            <a:ext cx="5270500" cy="1270000"/>
          </a:xfrm>
          <a:prstGeom prst="roundRect">
            <a:avLst>
              <a:gd name="adj" fmla="val 10000"/>
            </a:avLst>
          </a:prstGeom>
          <a:solidFill>
            <a:srgbClr val="EBF5FF">
              <a:alpha val="100000"/>
            </a:srgbClr>
          </a:solidFill>
          <a:ln w="12700" cap="flat" cmpd="sng">
            <a:solidFill>
              <a:srgbClr val="005A9C">
                <a:alpha val="20000"/>
              </a:srgbClr>
            </a:solidFill>
            <a:prstDash val="solid"/>
            <a:round/>
          </a:ln>
        </p:spPr>
        <p:txBody>
          <a:bodyPr vert="horz" wrap="square" lIns="63500" tIns="63500" rIns="63500" bIns="63500" rtlCol="0" anchor="ctr"/>
          <a:lstStyle/>
          <a:p>
            <a:pPr algn="ctr">
              <a:defRPr/>
            </a:pPr>
          </a:p>
        </p:txBody>
      </p:sp>
      <p:pic>
        <p:nvPicPr>
          <p:cNvPr id="20" name="Picture 20"/>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1016000" y="4254500"/>
            <a:ext cx="304800" cy="304800"/>
          </a:xfrm>
          <a:prstGeom prst="rect">
            <a:avLst/>
          </a:prstGeom>
        </p:spPr>
      </p:pic>
      <p:sp>
        <p:nvSpPr>
          <p:cNvPr id="21" name="AutoShape 21"/>
          <p:cNvSpPr/>
          <p:nvPr/>
        </p:nvSpPr>
        <p:spPr>
          <a:xfrm>
            <a:off x="1397000" y="4216400"/>
            <a:ext cx="4318000" cy="3556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005A9C"/>
                </a:solidFill>
                <a:latin typeface="Noto Sans SC" panose="020B0200000000000000" charset="-122"/>
                <a:ea typeface="Noto Sans SC" panose="020B0200000000000000" charset="-122"/>
                <a:cs typeface="Noto Sans SC" panose="020B0200000000000000" charset="-122"/>
                <a:sym typeface="Noto Sans SC" panose="020B0200000000000000" charset="-122"/>
              </a:rPr>
              <a:t>当前项目状态</a:t>
            </a:r>
            <a:endParaRPr lang="en-US" sz="1100"/>
          </a:p>
        </p:txBody>
      </p:sp>
      <p:sp>
        <p:nvSpPr>
          <p:cNvPr id="22" name="AutoShape 22"/>
          <p:cNvSpPr/>
          <p:nvPr/>
        </p:nvSpPr>
        <p:spPr>
          <a:xfrm>
            <a:off x="1016000" y="4635500"/>
            <a:ext cx="4762500" cy="571500"/>
          </a:xfrm>
          <a:prstGeom prst="rect">
            <a:avLst/>
          </a:prstGeom>
          <a:noFill/>
          <a:ln w="12700" cap="flat" cmpd="sng">
            <a:noFill/>
            <a:prstDash val="solid"/>
            <a:round/>
          </a:ln>
        </p:spPr>
        <p:txBody>
          <a:bodyPr vert="horz" wrap="square" lIns="0" tIns="0" rIns="0" bIns="0" rtlCol="0" anchor="ctr" anchorCtr="0"/>
          <a:lstStyle/>
          <a:p>
            <a:pPr indent="0" algn="l">
              <a:lnSpc>
                <a:spcPct val="100000"/>
              </a:lnSpc>
              <a:defRPr/>
            </a:pPr>
            <a:r>
              <a:rPr lang="en-US" sz="13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已成功完成 M2 所有目标，测试覆盖率达标，项目状态稳定，已具备进入 M3 阶段的条件。</a:t>
            </a:r>
            <a:endParaRPr lang="en-US" sz="1100"/>
          </a:p>
        </p:txBody>
      </p:sp>
      <p:sp>
        <p:nvSpPr>
          <p:cNvPr id="23" name="AutoShape 23"/>
          <p:cNvSpPr/>
          <p:nvPr/>
        </p:nvSpPr>
        <p:spPr>
          <a:xfrm>
            <a:off x="6159500" y="4064000"/>
            <a:ext cx="5270500" cy="1270000"/>
          </a:xfrm>
          <a:prstGeom prst="roundRect">
            <a:avLst>
              <a:gd name="adj" fmla="val 10000"/>
            </a:avLst>
          </a:prstGeom>
          <a:solidFill>
            <a:srgbClr val="F9FAFB">
              <a:alpha val="100000"/>
            </a:srgbClr>
          </a:solidFill>
          <a:ln w="12700" cap="flat" cmpd="sng">
            <a:solidFill>
              <a:srgbClr val="CCCCCC">
                <a:alpha val="50000"/>
              </a:srgbClr>
            </a:solidFill>
            <a:prstDash val="solid"/>
            <a:round/>
          </a:ln>
        </p:spPr>
        <p:txBody>
          <a:bodyPr vert="horz" wrap="square" lIns="63500" tIns="63500" rIns="63500" bIns="63500" rtlCol="0" anchor="ctr"/>
          <a:lstStyle/>
          <a:p>
            <a:pPr algn="ctr">
              <a:defRPr/>
            </a:pPr>
          </a:p>
        </p:txBody>
      </p:sp>
      <p:pic>
        <p:nvPicPr>
          <p:cNvPr id="24" name="Picture 24"/>
          <p:cNvPicPr>
            <a:picLocks noChangeAspect="1"/>
          </p:cNvPicPr>
          <p:nvPr/>
        </p:nvPicPr>
        <p:blipFill>
          <a:blip r:embed="rId10">
            <a:extLst>
              <a:ext uri="{28A0092B-C50C-407E-A947-70E740481C1C}">
                <a14:useLocalDpi xmlns:a14="http://schemas.microsoft.com/office/drawing/2010/main" val="0"/>
              </a:ext>
              <a:ext uri="{96DAC541-7B7A-43D3-8B79-37D633B846F1}">
                <asvg:svgBlip xmlns:asvg="http://schemas.microsoft.com/office/drawing/2016/SVG/main" r:embed="rId11"/>
              </a:ext>
            </a:extLst>
          </a:blip>
          <a:stretch>
            <a:fillRect/>
          </a:stretch>
        </p:blipFill>
        <p:spPr>
          <a:xfrm>
            <a:off x="6413500" y="4254500"/>
            <a:ext cx="304800" cy="304800"/>
          </a:xfrm>
          <a:prstGeom prst="rect">
            <a:avLst/>
          </a:prstGeom>
        </p:spPr>
      </p:pic>
      <p:sp>
        <p:nvSpPr>
          <p:cNvPr id="25" name="AutoShape 25"/>
          <p:cNvSpPr/>
          <p:nvPr/>
        </p:nvSpPr>
        <p:spPr>
          <a:xfrm>
            <a:off x="6794500" y="4216400"/>
            <a:ext cx="4318000" cy="3556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完成判定标准</a:t>
            </a:r>
            <a:endParaRPr lang="en-US" sz="1100"/>
          </a:p>
        </p:txBody>
      </p:sp>
      <p:sp>
        <p:nvSpPr>
          <p:cNvPr id="26" name="AutoShape 26"/>
          <p:cNvSpPr/>
          <p:nvPr/>
        </p:nvSpPr>
        <p:spPr>
          <a:xfrm>
            <a:off x="6413500" y="4635500"/>
            <a:ext cx="4762500" cy="571500"/>
          </a:xfrm>
          <a:prstGeom prst="rect">
            <a:avLst/>
          </a:prstGeom>
          <a:noFill/>
          <a:ln w="12700" cap="flat" cmpd="sng">
            <a:noFill/>
            <a:prstDash val="solid"/>
            <a:round/>
          </a:ln>
        </p:spPr>
        <p:txBody>
          <a:bodyPr vert="horz" wrap="square" lIns="0" tIns="0" rIns="0" bIns="0" rtlCol="0" anchor="ctr" anchorCtr="0"/>
          <a:lstStyle/>
          <a:p>
            <a:pPr indent="0" algn="l">
              <a:lnSpc>
                <a:spcPct val="100000"/>
              </a:lnSpc>
              <a:defRPr/>
            </a:pPr>
            <a:r>
              <a:rPr lang="en-US" sz="1300" b="0" i="0" u="none" strike="noStrike">
                <a:solidFill>
                  <a:srgbClr val="505050"/>
                </a:solidFill>
                <a:latin typeface="Noto Sans SC" panose="020B0200000000000000" charset="-122"/>
                <a:ea typeface="Noto Sans SC" panose="020B0200000000000000" charset="-122"/>
                <a:cs typeface="Noto Sans SC" panose="020B0200000000000000" charset="-122"/>
                <a:sym typeface="Noto Sans SC" panose="020B0200000000000000" charset="-122"/>
              </a:rPr>
              <a:t>每个里程碑必须满足：</a:t>
            </a:r>
            <a:r>
              <a:rPr lang="en-US" sz="1300" b="1" i="0" u="none" strike="noStrike">
                <a:solidFill>
                  <a:srgbClr val="005A9C"/>
                </a:solidFill>
                <a:latin typeface="Noto Sans SC" panose="020B0200000000000000" charset="-122"/>
                <a:ea typeface="Noto Sans SC" panose="020B0200000000000000" charset="-122"/>
                <a:cs typeface="Noto Sans SC" panose="020B0200000000000000" charset="-122"/>
                <a:sym typeface="Noto Sans SC" panose="020B0200000000000000" charset="-122"/>
              </a:rPr>
              <a:t>功能实现 + 测试通过 + 可验证证据</a:t>
            </a:r>
            <a:r>
              <a:rPr lang="en-US" sz="1300" b="0" i="0" u="none" strike="noStrike">
                <a:solidFill>
                  <a:srgbClr val="505050"/>
                </a:solidFill>
                <a:latin typeface="Noto Sans SC" panose="020B0200000000000000" charset="-122"/>
                <a:ea typeface="Noto Sans SC" panose="020B0200000000000000" charset="-122"/>
                <a:cs typeface="Noto Sans SC" panose="020B0200000000000000" charset="-122"/>
                <a:sym typeface="Noto Sans SC" panose="020B0200000000000000" charset="-122"/>
              </a:rPr>
              <a:t>，确保交付质量。</a:t>
            </a:r>
            <a:endParaRPr lang="en-US" sz="11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pic>
        <p:nvPicPr>
          <p:cNvPr id="2" name="Picture 2"/>
          <p:cNvPicPr>
            <a:picLocks noChangeAspect="1"/>
          </p:cNvPicPr>
          <p:nvPr/>
        </p:nvPicPr>
        <p:blipFill>
          <a:blip r:embed="rId1"/>
          <a:srcRect/>
          <a:stretch>
            <a:fillRect/>
          </a:stretch>
        </p:blipFill>
        <p:spPr>
          <a:xfrm>
            <a:off x="0" y="0"/>
            <a:ext cx="12192000" cy="6858000"/>
          </a:xfrm>
          <a:prstGeom prst="rect">
            <a:avLst/>
          </a:prstGeom>
          <a:noFill/>
          <a:ln w="25400" cap="flat" cmpd="sng">
            <a:noFill/>
            <a:prstDash val="solid"/>
            <a:round/>
          </a:ln>
        </p:spPr>
      </p:pic>
      <p:sp>
        <p:nvSpPr>
          <p:cNvPr id="3" name="AutoShape 3"/>
          <p:cNvSpPr/>
          <p:nvPr/>
        </p:nvSpPr>
        <p:spPr>
          <a:xfrm>
            <a:off x="0" y="0"/>
            <a:ext cx="12192000" cy="6858000"/>
          </a:xfrm>
          <a:prstGeom prst="roundRect">
            <a:avLst>
              <a:gd name="adj" fmla="val 0"/>
            </a:avLst>
          </a:prstGeom>
          <a:solidFill>
            <a:srgbClr val="FFFFFF">
              <a:alpha val="90000"/>
            </a:srgbClr>
          </a:solidFill>
          <a:ln w="25400" cap="flat" cmpd="sng">
            <a:noFill/>
            <a:prstDash val="solid"/>
            <a:round/>
          </a:ln>
        </p:spPr>
        <p:txBody>
          <a:bodyPr vert="horz" wrap="square" lIns="63500" tIns="63500" rIns="63500" bIns="63500" rtlCol="0" anchor="ctr"/>
          <a:lstStyle/>
          <a:p>
            <a:pPr algn="ctr">
              <a:defRPr/>
            </a:pPr>
          </a:p>
        </p:txBody>
      </p:sp>
      <p:sp>
        <p:nvSpPr>
          <p:cNvPr id="4" name="AutoShape 4"/>
          <p:cNvSpPr/>
          <p:nvPr/>
        </p:nvSpPr>
        <p:spPr>
          <a:xfrm>
            <a:off x="762000" y="508000"/>
            <a:ext cx="5359400" cy="508000"/>
          </a:xfrm>
          <a:prstGeom prst="rect">
            <a:avLst/>
          </a:prstGeom>
          <a:noFill/>
          <a:ln w="12700" cap="flat" cmpd="sng">
            <a:noFill/>
            <a:prstDash val="solid"/>
            <a:round/>
          </a:ln>
        </p:spPr>
        <p:txBody>
          <a:bodyPr vert="horz" wrap="none" lIns="0" tIns="0" rIns="0" bIns="0" rtlCol="0" anchor="ctr" anchorCtr="0"/>
          <a:lstStyle/>
          <a:p>
            <a:pPr indent="0" algn="l">
              <a:lnSpc>
                <a:spcPct val="125000"/>
              </a:lnSpc>
              <a:defRPr/>
            </a:pPr>
            <a:r>
              <a:rPr lang="en-US" sz="32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M1 结果回顾（支撑 M2）</a:t>
            </a:r>
            <a:endParaRPr lang="en-US" sz="1100"/>
          </a:p>
        </p:txBody>
      </p:sp>
      <p:sp>
        <p:nvSpPr>
          <p:cNvPr id="5" name="AutoShape 5"/>
          <p:cNvSpPr/>
          <p:nvPr/>
        </p:nvSpPr>
        <p:spPr>
          <a:xfrm>
            <a:off x="762000" y="1524000"/>
            <a:ext cx="2794000" cy="2794000"/>
          </a:xfrm>
          <a:prstGeom prst="roundRect">
            <a:avLst>
              <a:gd name="adj" fmla="val 4545"/>
            </a:avLst>
          </a:prstGeom>
          <a:solidFill>
            <a:srgbClr val="FFFFFF">
              <a:alpha val="100000"/>
            </a:srgbClr>
          </a:solidFill>
          <a:ln w="12700" cap="flat" cmpd="sng">
            <a:solidFill>
              <a:srgbClr val="DCDCDC">
                <a:alpha val="100000"/>
              </a:srgbClr>
            </a:solidFill>
            <a:prstDash val="solid"/>
            <a:round/>
          </a:ln>
          <a:effectLst>
            <a:outerShdw blurRad="127000" dist="50800" dir="5400000" algn="tl" rotWithShape="0">
              <a:srgbClr val="000000">
                <a:alpha val="10000"/>
              </a:srgbClr>
            </a:outerShdw>
          </a:effectLst>
        </p:spPr>
        <p:txBody>
          <a:bodyPr vert="horz" wrap="square" lIns="63500" tIns="63500" rIns="63500" bIns="63500" rtlCol="0" anchor="ctr"/>
          <a:lstStyle/>
          <a:p>
            <a:pPr algn="ctr">
              <a:defRPr/>
            </a:pPr>
          </a:p>
        </p:txBody>
      </p:sp>
      <p:pic>
        <p:nvPicPr>
          <p:cNvPr id="6" name="Picture 6"/>
          <p:cNvPicPr>
            <a:picLocks noChangeAspect="1"/>
          </p:cNvPicPr>
          <p:nvPr/>
        </p:nvPicPr>
        <p:blipFill>
          <a:blip r:embed="rId2"/>
          <a:srcRect/>
          <a:stretch>
            <a:fillRect/>
          </a:stretch>
        </p:blipFill>
        <p:spPr>
          <a:xfrm>
            <a:off x="889000" y="1651000"/>
            <a:ext cx="2540000" cy="2540000"/>
          </a:xfrm>
          <a:prstGeom prst="roundRect">
            <a:avLst>
              <a:gd name="adj" fmla="val 5000"/>
            </a:avLst>
          </a:prstGeom>
          <a:noFill/>
          <a:ln w="25400" cap="flat" cmpd="sng">
            <a:noFill/>
            <a:prstDash val="solid"/>
            <a:round/>
          </a:ln>
        </p:spPr>
      </p:pic>
      <p:sp>
        <p:nvSpPr>
          <p:cNvPr id="7" name="AutoShape 7"/>
          <p:cNvSpPr/>
          <p:nvPr/>
        </p:nvSpPr>
        <p:spPr>
          <a:xfrm>
            <a:off x="762000" y="4445000"/>
            <a:ext cx="2794000" cy="381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14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标准 CMake 工程目录结构</a:t>
            </a:r>
            <a:endParaRPr lang="en-US" sz="1100"/>
          </a:p>
        </p:txBody>
      </p:sp>
      <p:sp>
        <p:nvSpPr>
          <p:cNvPr id="8" name="AutoShape 8"/>
          <p:cNvSpPr/>
          <p:nvPr/>
        </p:nvSpPr>
        <p:spPr>
          <a:xfrm>
            <a:off x="4064000" y="1397000"/>
            <a:ext cx="6858000" cy="1016000"/>
          </a:xfrm>
          <a:prstGeom prst="roundRect">
            <a:avLst>
              <a:gd name="adj" fmla="val 6250"/>
            </a:avLst>
          </a:prstGeom>
          <a:solidFill>
            <a:srgbClr val="F5F7FA">
              <a:alpha val="100000"/>
            </a:srgbClr>
          </a:solidFill>
          <a:ln w="12700" cap="flat" cmpd="sng">
            <a:solidFill>
              <a:srgbClr val="005A9C">
                <a:alpha val="10000"/>
              </a:srgbClr>
            </a:solidFill>
            <a:prstDash val="solid"/>
            <a:round/>
          </a:ln>
        </p:spPr>
        <p:txBody>
          <a:bodyPr vert="horz" wrap="square" lIns="63500" tIns="63500" rIns="63500" bIns="63500" rtlCol="0" anchor="ctr"/>
          <a:lstStyle/>
          <a:p>
            <a:pPr algn="ctr">
              <a:defRPr/>
            </a:pPr>
          </a:p>
        </p:txBody>
      </p:sp>
      <p:pic>
        <p:nvPicPr>
          <p:cNvPr id="9" name="Picture 9"/>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4318000" y="1701800"/>
            <a:ext cx="406400" cy="406400"/>
          </a:xfrm>
          <a:prstGeom prst="rect">
            <a:avLst/>
          </a:prstGeom>
        </p:spPr>
      </p:pic>
      <p:sp>
        <p:nvSpPr>
          <p:cNvPr id="10" name="AutoShape 10"/>
          <p:cNvSpPr/>
          <p:nvPr/>
        </p:nvSpPr>
        <p:spPr>
          <a:xfrm>
            <a:off x="4826000" y="1524000"/>
            <a:ext cx="5842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005A9C"/>
                </a:solidFill>
                <a:latin typeface="Noto Sans SC" panose="020B0200000000000000" charset="-122"/>
                <a:ea typeface="Noto Sans SC" panose="020B0200000000000000" charset="-122"/>
                <a:cs typeface="Noto Sans SC" panose="020B0200000000000000" charset="-122"/>
                <a:sym typeface="Noto Sans SC" panose="020B0200000000000000" charset="-122"/>
              </a:rPr>
              <a:t>工程骨架完成</a:t>
            </a:r>
            <a:endParaRPr lang="en-US" sz="1100"/>
          </a:p>
        </p:txBody>
      </p:sp>
      <p:sp>
        <p:nvSpPr>
          <p:cNvPr id="11" name="AutoShape 11"/>
          <p:cNvSpPr/>
          <p:nvPr/>
        </p:nvSpPr>
        <p:spPr>
          <a:xfrm>
            <a:off x="4826000" y="1879600"/>
            <a:ext cx="5842000" cy="508000"/>
          </a:xfrm>
          <a:prstGeom prst="rect">
            <a:avLst/>
          </a:prstGeom>
          <a:noFill/>
          <a:ln w="12700" cap="flat" cmpd="sng">
            <a:noFill/>
            <a:prstDash val="solid"/>
            <a:round/>
          </a:ln>
        </p:spPr>
        <p:txBody>
          <a:bodyPr vert="horz" wrap="square" lIns="0" tIns="0" rIns="0" bIns="0" rtlCol="0" anchor="ctr" anchorCtr="0"/>
          <a:lstStyle/>
          <a:p>
            <a:pPr indent="0" algn="l">
              <a:lnSpc>
                <a:spcPct val="100000"/>
              </a:lnSpc>
              <a:defRPr/>
            </a:pPr>
            <a:r>
              <a:rPr lang="en-US" sz="14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建立标准 CMake 结构，包含 src、include、tests、samples 目录，规范代码组织。</a:t>
            </a:r>
            <a:endParaRPr lang="en-US" sz="1100"/>
          </a:p>
        </p:txBody>
      </p:sp>
      <p:sp>
        <p:nvSpPr>
          <p:cNvPr id="12" name="AutoShape 12"/>
          <p:cNvSpPr/>
          <p:nvPr/>
        </p:nvSpPr>
        <p:spPr>
          <a:xfrm>
            <a:off x="4064000" y="2540000"/>
            <a:ext cx="6858000" cy="1016000"/>
          </a:xfrm>
          <a:prstGeom prst="roundRect">
            <a:avLst>
              <a:gd name="adj" fmla="val 6250"/>
            </a:avLst>
          </a:prstGeom>
          <a:solidFill>
            <a:srgbClr val="F5F7FA">
              <a:alpha val="100000"/>
            </a:srgbClr>
          </a:solidFill>
          <a:ln w="12700" cap="flat" cmpd="sng">
            <a:solidFill>
              <a:srgbClr val="005A9C">
                <a:alpha val="10000"/>
              </a:srgbClr>
            </a:solidFill>
            <a:prstDash val="solid"/>
            <a:round/>
          </a:ln>
        </p:spPr>
        <p:txBody>
          <a:bodyPr vert="horz" wrap="square" lIns="63500" tIns="63500" rIns="63500" bIns="63500" rtlCol="0" anchor="ctr"/>
          <a:lstStyle/>
          <a:p>
            <a:pPr algn="ctr">
              <a:defRPr/>
            </a:pPr>
          </a:p>
        </p:txBody>
      </p:sp>
      <p:pic>
        <p:nvPicPr>
          <p:cNvPr id="13" name="Picture 13"/>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4318000" y="2844800"/>
            <a:ext cx="406400" cy="406400"/>
          </a:xfrm>
          <a:prstGeom prst="rect">
            <a:avLst/>
          </a:prstGeom>
        </p:spPr>
      </p:pic>
      <p:sp>
        <p:nvSpPr>
          <p:cNvPr id="14" name="AutoShape 14"/>
          <p:cNvSpPr/>
          <p:nvPr/>
        </p:nvSpPr>
        <p:spPr>
          <a:xfrm>
            <a:off x="4826000" y="2667000"/>
            <a:ext cx="5842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005A9C"/>
                </a:solidFill>
                <a:latin typeface="Noto Sans SC" panose="020B0200000000000000" charset="-122"/>
                <a:ea typeface="Noto Sans SC" panose="020B0200000000000000" charset="-122"/>
                <a:cs typeface="Noto Sans SC" panose="020B0200000000000000" charset="-122"/>
                <a:sym typeface="Noto Sans SC" panose="020B0200000000000000" charset="-122"/>
              </a:rPr>
              <a:t>文法口径冻结</a:t>
            </a:r>
            <a:endParaRPr lang="en-US" sz="1100"/>
          </a:p>
        </p:txBody>
      </p:sp>
      <p:sp>
        <p:nvSpPr>
          <p:cNvPr id="15" name="AutoShape 15"/>
          <p:cNvSpPr/>
          <p:nvPr/>
        </p:nvSpPr>
        <p:spPr>
          <a:xfrm>
            <a:off x="4826000" y="3022600"/>
            <a:ext cx="5842000" cy="508000"/>
          </a:xfrm>
          <a:prstGeom prst="rect">
            <a:avLst/>
          </a:prstGeom>
          <a:noFill/>
          <a:ln w="12700" cap="flat" cmpd="sng">
            <a:noFill/>
            <a:prstDash val="solid"/>
            <a:round/>
          </a:ln>
        </p:spPr>
        <p:txBody>
          <a:bodyPr vert="horz" wrap="square" lIns="0" tIns="0" rIns="0" bIns="0" rtlCol="0" anchor="ctr" anchorCtr="0"/>
          <a:lstStyle/>
          <a:p>
            <a:pPr indent="0" algn="l">
              <a:lnSpc>
                <a:spcPct val="100000"/>
              </a:lnSpc>
              <a:defRPr/>
            </a:pPr>
            <a:r>
              <a:rPr lang="en-US" sz="14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统一 Pascal-S 文法细节（epsilon、符号、大小写），解决文档歧义与乱码问题。</a:t>
            </a:r>
            <a:endParaRPr lang="en-US" sz="1100"/>
          </a:p>
        </p:txBody>
      </p:sp>
      <p:sp>
        <p:nvSpPr>
          <p:cNvPr id="16" name="AutoShape 16"/>
          <p:cNvSpPr/>
          <p:nvPr/>
        </p:nvSpPr>
        <p:spPr>
          <a:xfrm>
            <a:off x="4064000" y="3683000"/>
            <a:ext cx="6858000" cy="1016000"/>
          </a:xfrm>
          <a:prstGeom prst="roundRect">
            <a:avLst>
              <a:gd name="adj" fmla="val 6250"/>
            </a:avLst>
          </a:prstGeom>
          <a:solidFill>
            <a:srgbClr val="F5F7FA">
              <a:alpha val="100000"/>
            </a:srgbClr>
          </a:solidFill>
          <a:ln w="12700" cap="flat" cmpd="sng">
            <a:solidFill>
              <a:srgbClr val="005A9C">
                <a:alpha val="10000"/>
              </a:srgbClr>
            </a:solidFill>
            <a:prstDash val="solid"/>
            <a:round/>
          </a:ln>
        </p:spPr>
        <p:txBody>
          <a:bodyPr vert="horz" wrap="square" lIns="63500" tIns="63500" rIns="63500" bIns="63500" rtlCol="0" anchor="ctr"/>
          <a:lstStyle/>
          <a:p>
            <a:pPr algn="ctr">
              <a:defRPr/>
            </a:pPr>
          </a:p>
        </p:txBody>
      </p:sp>
      <p:pic>
        <p:nvPicPr>
          <p:cNvPr id="17" name="Picture 17"/>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4318000" y="3987800"/>
            <a:ext cx="406400" cy="406400"/>
          </a:xfrm>
          <a:prstGeom prst="rect">
            <a:avLst/>
          </a:prstGeom>
        </p:spPr>
      </p:pic>
      <p:sp>
        <p:nvSpPr>
          <p:cNvPr id="18" name="AutoShape 18"/>
          <p:cNvSpPr/>
          <p:nvPr/>
        </p:nvSpPr>
        <p:spPr>
          <a:xfrm>
            <a:off x="4826000" y="3810000"/>
            <a:ext cx="5842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005A9C"/>
                </a:solidFill>
                <a:latin typeface="Noto Sans SC" panose="020B0200000000000000" charset="-122"/>
                <a:ea typeface="Noto Sans SC" panose="020B0200000000000000" charset="-122"/>
                <a:cs typeface="Noto Sans SC" panose="020B0200000000000000" charset="-122"/>
                <a:sym typeface="Noto Sans SC" panose="020B0200000000000000" charset="-122"/>
              </a:rPr>
              <a:t>CLI 最小链路打通</a:t>
            </a:r>
            <a:endParaRPr lang="en-US" sz="1100"/>
          </a:p>
        </p:txBody>
      </p:sp>
      <p:sp>
        <p:nvSpPr>
          <p:cNvPr id="19" name="AutoShape 19"/>
          <p:cNvSpPr/>
          <p:nvPr/>
        </p:nvSpPr>
        <p:spPr>
          <a:xfrm>
            <a:off x="4826000" y="4165600"/>
            <a:ext cx="5842000" cy="508000"/>
          </a:xfrm>
          <a:prstGeom prst="rect">
            <a:avLst/>
          </a:prstGeom>
          <a:noFill/>
          <a:ln w="12700" cap="flat" cmpd="sng">
            <a:noFill/>
            <a:prstDash val="solid"/>
            <a:round/>
          </a:ln>
        </p:spPr>
        <p:txBody>
          <a:bodyPr vert="horz" wrap="square" lIns="0" tIns="0" rIns="0" bIns="0" rtlCol="0" anchor="ctr" anchorCtr="0"/>
          <a:lstStyle/>
          <a:p>
            <a:pPr indent="0" algn="l">
              <a:lnSpc>
                <a:spcPct val="100000"/>
              </a:lnSpc>
              <a:defRPr/>
            </a:pPr>
            <a:r>
              <a:rPr lang="en-US" sz="14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实现 `pascc -i` 接口，验证从输入文件到生成 .c 文件的基础编译流程可行性。</a:t>
            </a:r>
            <a:endParaRPr lang="en-US" sz="1100"/>
          </a:p>
        </p:txBody>
      </p:sp>
      <p:sp>
        <p:nvSpPr>
          <p:cNvPr id="20" name="AutoShape 20"/>
          <p:cNvSpPr/>
          <p:nvPr/>
        </p:nvSpPr>
        <p:spPr>
          <a:xfrm>
            <a:off x="4064000" y="4826000"/>
            <a:ext cx="6858000" cy="1016000"/>
          </a:xfrm>
          <a:prstGeom prst="roundRect">
            <a:avLst>
              <a:gd name="adj" fmla="val 6250"/>
            </a:avLst>
          </a:prstGeom>
          <a:solidFill>
            <a:srgbClr val="F5F7FA">
              <a:alpha val="100000"/>
            </a:srgbClr>
          </a:solidFill>
          <a:ln w="12700" cap="flat" cmpd="sng">
            <a:solidFill>
              <a:srgbClr val="005A9C">
                <a:alpha val="10000"/>
              </a:srgbClr>
            </a:solidFill>
            <a:prstDash val="solid"/>
            <a:round/>
          </a:ln>
        </p:spPr>
        <p:txBody>
          <a:bodyPr vert="horz" wrap="square" lIns="63500" tIns="63500" rIns="63500" bIns="63500" rtlCol="0" anchor="ctr"/>
          <a:lstStyle/>
          <a:p>
            <a:pPr algn="ctr">
              <a:defRPr/>
            </a:pPr>
          </a:p>
        </p:txBody>
      </p:sp>
      <p:pic>
        <p:nvPicPr>
          <p:cNvPr id="21" name="Picture 21"/>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4318000" y="5130800"/>
            <a:ext cx="406400" cy="406400"/>
          </a:xfrm>
          <a:prstGeom prst="rect">
            <a:avLst/>
          </a:prstGeom>
        </p:spPr>
      </p:pic>
      <p:sp>
        <p:nvSpPr>
          <p:cNvPr id="22" name="AutoShape 22"/>
          <p:cNvSpPr/>
          <p:nvPr/>
        </p:nvSpPr>
        <p:spPr>
          <a:xfrm>
            <a:off x="4826000" y="4953000"/>
            <a:ext cx="5842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005A9C"/>
                </a:solidFill>
                <a:latin typeface="Noto Sans SC" panose="020B0200000000000000" charset="-122"/>
                <a:ea typeface="Noto Sans SC" panose="020B0200000000000000" charset="-122"/>
                <a:cs typeface="Noto Sans SC" panose="020B0200000000000000" charset="-122"/>
                <a:sym typeface="Noto Sans SC" panose="020B0200000000000000" charset="-122"/>
              </a:rPr>
              <a:t>决策追踪机制</a:t>
            </a:r>
            <a:endParaRPr lang="en-US" sz="1100"/>
          </a:p>
        </p:txBody>
      </p:sp>
      <p:sp>
        <p:nvSpPr>
          <p:cNvPr id="23" name="AutoShape 23"/>
          <p:cNvSpPr/>
          <p:nvPr/>
        </p:nvSpPr>
        <p:spPr>
          <a:xfrm>
            <a:off x="4826000" y="5308600"/>
            <a:ext cx="5842000" cy="508000"/>
          </a:xfrm>
          <a:prstGeom prst="rect">
            <a:avLst/>
          </a:prstGeom>
          <a:noFill/>
          <a:ln w="12700" cap="flat" cmpd="sng">
            <a:noFill/>
            <a:prstDash val="solid"/>
            <a:round/>
          </a:ln>
        </p:spPr>
        <p:txBody>
          <a:bodyPr vert="horz" wrap="square" lIns="0" tIns="0" rIns="0" bIns="0" rtlCol="0" anchor="ctr" anchorCtr="0"/>
          <a:lstStyle/>
          <a:p>
            <a:pPr indent="0" algn="l">
              <a:lnSpc>
                <a:spcPct val="100000"/>
              </a:lnSpc>
              <a:defRPr/>
            </a:pPr>
            <a:r>
              <a:rPr lang="en-US" sz="14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建立 TODO 清单、决策记录与变更日志，确保开发过程透明、可追溯。</a:t>
            </a:r>
            <a:endParaRPr lang="en-US" sz="1100"/>
          </a:p>
        </p:txBody>
      </p:sp>
      <p:sp>
        <p:nvSpPr>
          <p:cNvPr id="24" name="AutoShape 24"/>
          <p:cNvSpPr/>
          <p:nvPr/>
        </p:nvSpPr>
        <p:spPr>
          <a:xfrm>
            <a:off x="762000" y="6096000"/>
            <a:ext cx="10668000" cy="25400"/>
          </a:xfrm>
          <a:prstGeom prst="roundRect">
            <a:avLst>
              <a:gd name="adj" fmla="val 0"/>
            </a:avLst>
          </a:prstGeom>
          <a:solidFill>
            <a:srgbClr val="005A9C">
              <a:alpha val="100000"/>
            </a:srgbClr>
          </a:solidFill>
          <a:ln w="25400" cap="flat" cmpd="sng">
            <a:noFill/>
            <a:prstDash val="solid"/>
            <a:round/>
          </a:ln>
        </p:spPr>
        <p:txBody>
          <a:bodyPr vert="horz" wrap="square" lIns="63500" tIns="63500" rIns="63500" bIns="63500" rtlCol="0" anchor="ctr"/>
          <a:lstStyle/>
          <a:p>
            <a:pPr algn="ctr">
              <a:defRPr/>
            </a:p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5F7FA">
            <a:alpha val="100000"/>
          </a:srgbClr>
        </a:solidFill>
        <a:effectLst/>
      </p:bgPr>
    </p:bg>
    <p:spTree>
      <p:nvGrpSpPr>
        <p:cNvPr id="1" name=""/>
        <p:cNvGrpSpPr/>
        <p:nvPr/>
      </p:nvGrpSpPr>
      <p:grpSpPr>
        <a:xfrm>
          <a:off x="0" y="0"/>
          <a:ext cx="0" cy="0"/>
          <a:chOff x="0" y="0"/>
          <a:chExt cx="0" cy="0"/>
        </a:xfrm>
      </p:grpSpPr>
      <p:pic>
        <p:nvPicPr>
          <p:cNvPr id="2" name="Picture 2"/>
          <p:cNvPicPr>
            <a:picLocks noChangeAspect="1"/>
          </p:cNvPicPr>
          <p:nvPr/>
        </p:nvPicPr>
        <p:blipFill>
          <a:blip r:embed="rId1"/>
          <a:srcRect/>
          <a:stretch>
            <a:fillRect/>
          </a:stretch>
        </p:blipFill>
        <p:spPr>
          <a:xfrm>
            <a:off x="0" y="0"/>
            <a:ext cx="12192000" cy="6858000"/>
          </a:xfrm>
          <a:prstGeom prst="rect">
            <a:avLst/>
          </a:prstGeom>
          <a:noFill/>
          <a:ln w="25400" cap="flat" cmpd="sng">
            <a:noFill/>
            <a:prstDash val="solid"/>
            <a:round/>
          </a:ln>
        </p:spPr>
      </p:pic>
      <p:sp>
        <p:nvSpPr>
          <p:cNvPr id="3" name="AutoShape 3"/>
          <p:cNvSpPr/>
          <p:nvPr/>
        </p:nvSpPr>
        <p:spPr>
          <a:xfrm>
            <a:off x="762000" y="508000"/>
            <a:ext cx="5359400" cy="508000"/>
          </a:xfrm>
          <a:prstGeom prst="rect">
            <a:avLst/>
          </a:prstGeom>
          <a:noFill/>
          <a:ln w="12700" cap="flat" cmpd="sng">
            <a:noFill/>
            <a:prstDash val="solid"/>
            <a:round/>
          </a:ln>
        </p:spPr>
        <p:txBody>
          <a:bodyPr vert="horz" wrap="none" lIns="0" tIns="0" rIns="0" bIns="0" rtlCol="0" anchor="ctr" anchorCtr="0"/>
          <a:lstStyle/>
          <a:p>
            <a:pPr indent="0" algn="l">
              <a:lnSpc>
                <a:spcPct val="125000"/>
              </a:lnSpc>
              <a:defRPr/>
            </a:pPr>
            <a:r>
              <a:rPr lang="en-US" sz="32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M2 开发目标与完成定义</a:t>
            </a:r>
            <a:endParaRPr lang="en-US" sz="1100"/>
          </a:p>
        </p:txBody>
      </p:sp>
      <p:sp>
        <p:nvSpPr>
          <p:cNvPr id="4" name="AutoShape 4"/>
          <p:cNvSpPr/>
          <p:nvPr/>
        </p:nvSpPr>
        <p:spPr>
          <a:xfrm>
            <a:off x="762000" y="1397000"/>
            <a:ext cx="5080000" cy="1270000"/>
          </a:xfrm>
          <a:prstGeom prst="roundRect">
            <a:avLst>
              <a:gd name="adj" fmla="val 10000"/>
            </a:avLst>
          </a:prstGeom>
          <a:solidFill>
            <a:srgbClr val="FFFFFF">
              <a:alpha val="100000"/>
            </a:srgbClr>
          </a:solidFill>
          <a:ln w="25400" cap="flat" cmpd="sng">
            <a:noFill/>
            <a:prstDash val="solid"/>
            <a:round/>
          </a:ln>
          <a:effectLst>
            <a:outerShdw blurRad="127000" dist="50800" dir="5400000" algn="tl" rotWithShape="0">
              <a:srgbClr val="000000">
                <a:alpha val="8000"/>
              </a:srgbClr>
            </a:outerShdw>
          </a:effectLst>
        </p:spPr>
        <p:txBody>
          <a:bodyPr vert="horz" wrap="square" lIns="63500" tIns="63500" rIns="63500" bIns="63500" rtlCol="0" anchor="ctr"/>
          <a:lstStyle/>
          <a:p>
            <a:pPr algn="ctr">
              <a:defRPr/>
            </a:pPr>
          </a:p>
        </p:txBody>
      </p:sp>
      <p:sp>
        <p:nvSpPr>
          <p:cNvPr id="5" name="AutoShape 5"/>
          <p:cNvSpPr/>
          <p:nvPr/>
        </p:nvSpPr>
        <p:spPr>
          <a:xfrm>
            <a:off x="762000" y="1397000"/>
            <a:ext cx="76200" cy="1270000"/>
          </a:xfrm>
          <a:prstGeom prst="roundRect">
            <a:avLst>
              <a:gd name="adj" fmla="val 0"/>
            </a:avLst>
          </a:prstGeom>
          <a:solidFill>
            <a:srgbClr val="005A9C">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6" name="Picture 6"/>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092200" y="1714500"/>
            <a:ext cx="508000" cy="508000"/>
          </a:xfrm>
          <a:prstGeom prst="rect">
            <a:avLst/>
          </a:prstGeom>
        </p:spPr>
      </p:pic>
      <p:sp>
        <p:nvSpPr>
          <p:cNvPr id="7" name="AutoShape 7"/>
          <p:cNvSpPr/>
          <p:nvPr/>
        </p:nvSpPr>
        <p:spPr>
          <a:xfrm>
            <a:off x="1778000" y="1524000"/>
            <a:ext cx="3810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005A9C"/>
                </a:solidFill>
                <a:latin typeface="Noto Sans SC" panose="020B0200000000000000" charset="-122"/>
                <a:ea typeface="Noto Sans SC" panose="020B0200000000000000" charset="-122"/>
                <a:cs typeface="Noto Sans SC" panose="020B0200000000000000" charset="-122"/>
                <a:sym typeface="Noto Sans SC" panose="020B0200000000000000" charset="-122"/>
              </a:rPr>
              <a:t>词法识别正确</a:t>
            </a:r>
            <a:endParaRPr lang="en-US" sz="1100"/>
          </a:p>
        </p:txBody>
      </p:sp>
      <p:sp>
        <p:nvSpPr>
          <p:cNvPr id="8" name="AutoShape 8"/>
          <p:cNvSpPr/>
          <p:nvPr/>
        </p:nvSpPr>
        <p:spPr>
          <a:xfrm>
            <a:off x="1778000" y="1905000"/>
            <a:ext cx="3810000" cy="635000"/>
          </a:xfrm>
          <a:prstGeom prst="rect">
            <a:avLst/>
          </a:prstGeom>
          <a:noFill/>
          <a:ln w="12700" cap="flat" cmpd="sng">
            <a:noFill/>
            <a:prstDash val="solid"/>
            <a:round/>
          </a:ln>
        </p:spPr>
        <p:txBody>
          <a:bodyPr vert="horz" wrap="square" lIns="0" tIns="0" rIns="0" bIns="0" rtlCol="0" anchor="ctr" anchorCtr="0"/>
          <a:lstStyle/>
          <a:p>
            <a:pPr indent="0" algn="l">
              <a:lnSpc>
                <a:spcPct val="100000"/>
              </a:lnSpc>
              <a:defRPr/>
            </a:pPr>
            <a:r>
              <a:rPr lang="en-US" sz="13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准确识别Pascal-S语言中的关键字、标识符、常量、运算符和界符。</a:t>
            </a:r>
            <a:endParaRPr lang="en-US" sz="1100"/>
          </a:p>
        </p:txBody>
      </p:sp>
      <p:sp>
        <p:nvSpPr>
          <p:cNvPr id="9" name="AutoShape 9"/>
          <p:cNvSpPr/>
          <p:nvPr/>
        </p:nvSpPr>
        <p:spPr>
          <a:xfrm>
            <a:off x="6350000" y="1397000"/>
            <a:ext cx="5080000" cy="1270000"/>
          </a:xfrm>
          <a:prstGeom prst="roundRect">
            <a:avLst>
              <a:gd name="adj" fmla="val 10000"/>
            </a:avLst>
          </a:prstGeom>
          <a:solidFill>
            <a:srgbClr val="FFFFFF">
              <a:alpha val="100000"/>
            </a:srgbClr>
          </a:solidFill>
          <a:ln w="25400" cap="flat" cmpd="sng">
            <a:noFill/>
            <a:prstDash val="solid"/>
            <a:round/>
          </a:ln>
          <a:effectLst>
            <a:outerShdw blurRad="127000" dist="50800" dir="5400000" algn="tl" rotWithShape="0">
              <a:srgbClr val="000000">
                <a:alpha val="8000"/>
              </a:srgbClr>
            </a:outerShdw>
          </a:effectLst>
        </p:spPr>
        <p:txBody>
          <a:bodyPr vert="horz" wrap="square" lIns="63500" tIns="63500" rIns="63500" bIns="63500" rtlCol="0" anchor="ctr"/>
          <a:lstStyle/>
          <a:p>
            <a:pPr algn="ctr">
              <a:defRPr/>
            </a:pPr>
          </a:p>
        </p:txBody>
      </p:sp>
      <p:sp>
        <p:nvSpPr>
          <p:cNvPr id="10" name="AutoShape 10"/>
          <p:cNvSpPr/>
          <p:nvPr/>
        </p:nvSpPr>
        <p:spPr>
          <a:xfrm>
            <a:off x="6350000" y="1397000"/>
            <a:ext cx="76200" cy="1270000"/>
          </a:xfrm>
          <a:prstGeom prst="roundRect">
            <a:avLst>
              <a:gd name="adj" fmla="val 0"/>
            </a:avLst>
          </a:prstGeom>
          <a:solidFill>
            <a:srgbClr val="005A9C">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1" name="Picture 11"/>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6680200" y="1714500"/>
            <a:ext cx="508000" cy="508000"/>
          </a:xfrm>
          <a:prstGeom prst="rect">
            <a:avLst/>
          </a:prstGeom>
        </p:spPr>
      </p:pic>
      <p:sp>
        <p:nvSpPr>
          <p:cNvPr id="12" name="AutoShape 12"/>
          <p:cNvSpPr/>
          <p:nvPr/>
        </p:nvSpPr>
        <p:spPr>
          <a:xfrm>
            <a:off x="7366000" y="1524000"/>
            <a:ext cx="3810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005A9C"/>
                </a:solidFill>
                <a:latin typeface="Noto Sans SC" panose="020B0200000000000000" charset="-122"/>
                <a:ea typeface="Noto Sans SC" panose="020B0200000000000000" charset="-122"/>
                <a:cs typeface="Noto Sans SC" panose="020B0200000000000000" charset="-122"/>
                <a:sym typeface="Noto Sans SC" panose="020B0200000000000000" charset="-122"/>
              </a:rPr>
              <a:t>错误报告可读</a:t>
            </a:r>
            <a:endParaRPr lang="en-US" sz="1100"/>
          </a:p>
        </p:txBody>
      </p:sp>
      <p:sp>
        <p:nvSpPr>
          <p:cNvPr id="13" name="AutoShape 13"/>
          <p:cNvSpPr/>
          <p:nvPr/>
        </p:nvSpPr>
        <p:spPr>
          <a:xfrm>
            <a:off x="7366000" y="1905000"/>
            <a:ext cx="3810000" cy="635000"/>
          </a:xfrm>
          <a:prstGeom prst="rect">
            <a:avLst/>
          </a:prstGeom>
          <a:noFill/>
          <a:ln w="12700" cap="flat" cmpd="sng">
            <a:noFill/>
            <a:prstDash val="solid"/>
            <a:round/>
          </a:ln>
        </p:spPr>
        <p:txBody>
          <a:bodyPr vert="horz" wrap="square" lIns="0" tIns="0" rIns="0" bIns="0" rtlCol="0" anchor="ctr" anchorCtr="0"/>
          <a:lstStyle/>
          <a:p>
            <a:pPr indent="0" algn="l">
              <a:lnSpc>
                <a:spcPct val="100000"/>
              </a:lnSpc>
              <a:defRPr/>
            </a:pPr>
            <a:r>
              <a:rPr lang="en-US" sz="13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输出清晰的错误码、行号、列号及原因说明，便于定位问题。</a:t>
            </a:r>
            <a:endParaRPr lang="en-US" sz="1100"/>
          </a:p>
        </p:txBody>
      </p:sp>
      <p:sp>
        <p:nvSpPr>
          <p:cNvPr id="14" name="AutoShape 14"/>
          <p:cNvSpPr/>
          <p:nvPr/>
        </p:nvSpPr>
        <p:spPr>
          <a:xfrm>
            <a:off x="762000" y="2921000"/>
            <a:ext cx="5080000" cy="1270000"/>
          </a:xfrm>
          <a:prstGeom prst="roundRect">
            <a:avLst>
              <a:gd name="adj" fmla="val 10000"/>
            </a:avLst>
          </a:prstGeom>
          <a:solidFill>
            <a:srgbClr val="FFFFFF">
              <a:alpha val="100000"/>
            </a:srgbClr>
          </a:solidFill>
          <a:ln w="25400" cap="flat" cmpd="sng">
            <a:noFill/>
            <a:prstDash val="solid"/>
            <a:round/>
          </a:ln>
          <a:effectLst>
            <a:outerShdw blurRad="127000" dist="50800" dir="5400000" algn="tl" rotWithShape="0">
              <a:srgbClr val="000000">
                <a:alpha val="8000"/>
              </a:srgbClr>
            </a:outerShdw>
          </a:effectLst>
        </p:spPr>
        <p:txBody>
          <a:bodyPr vert="horz" wrap="square" lIns="63500" tIns="63500" rIns="63500" bIns="63500" rtlCol="0" anchor="ctr"/>
          <a:lstStyle/>
          <a:p>
            <a:pPr algn="ctr">
              <a:defRPr/>
            </a:pPr>
          </a:p>
        </p:txBody>
      </p:sp>
      <p:sp>
        <p:nvSpPr>
          <p:cNvPr id="15" name="AutoShape 15"/>
          <p:cNvSpPr/>
          <p:nvPr/>
        </p:nvSpPr>
        <p:spPr>
          <a:xfrm>
            <a:off x="762000" y="2921000"/>
            <a:ext cx="76200" cy="1270000"/>
          </a:xfrm>
          <a:prstGeom prst="roundRect">
            <a:avLst>
              <a:gd name="adj" fmla="val 0"/>
            </a:avLst>
          </a:prstGeom>
          <a:solidFill>
            <a:srgbClr val="005A9C">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6" name="Picture 16"/>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1092200" y="3238500"/>
            <a:ext cx="508000" cy="508000"/>
          </a:xfrm>
          <a:prstGeom prst="rect">
            <a:avLst/>
          </a:prstGeom>
        </p:spPr>
      </p:pic>
      <p:sp>
        <p:nvSpPr>
          <p:cNvPr id="17" name="AutoShape 17"/>
          <p:cNvSpPr/>
          <p:nvPr/>
        </p:nvSpPr>
        <p:spPr>
          <a:xfrm>
            <a:off x="1778000" y="3048000"/>
            <a:ext cx="3810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005A9C"/>
                </a:solidFill>
                <a:latin typeface="Noto Sans SC" panose="020B0200000000000000" charset="-122"/>
                <a:ea typeface="Noto Sans SC" panose="020B0200000000000000" charset="-122"/>
                <a:cs typeface="Noto Sans SC" panose="020B0200000000000000" charset="-122"/>
                <a:sym typeface="Noto Sans SC" panose="020B0200000000000000" charset="-122"/>
              </a:rPr>
              <a:t>命令行行为正确</a:t>
            </a:r>
            <a:endParaRPr lang="en-US" sz="1100"/>
          </a:p>
        </p:txBody>
      </p:sp>
      <p:sp>
        <p:nvSpPr>
          <p:cNvPr id="18" name="AutoShape 18"/>
          <p:cNvSpPr/>
          <p:nvPr/>
        </p:nvSpPr>
        <p:spPr>
          <a:xfrm>
            <a:off x="1778000" y="3429000"/>
            <a:ext cx="3810000" cy="635000"/>
          </a:xfrm>
          <a:prstGeom prst="rect">
            <a:avLst/>
          </a:prstGeom>
          <a:noFill/>
          <a:ln w="12700" cap="flat" cmpd="sng">
            <a:noFill/>
            <a:prstDash val="solid"/>
            <a:round/>
          </a:ln>
        </p:spPr>
        <p:txBody>
          <a:bodyPr vert="horz" wrap="square" lIns="0" tIns="0" rIns="0" bIns="0" rtlCol="0" anchor="ctr" anchorCtr="0"/>
          <a:lstStyle/>
          <a:p>
            <a:pPr indent="0" algn="l">
              <a:lnSpc>
                <a:spcPct val="100000"/>
              </a:lnSpc>
              <a:defRPr/>
            </a:pPr>
            <a:r>
              <a:rPr lang="en-US" sz="13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合法输入返回退出码0，非法输入返回退出码7，符合规范。</a:t>
            </a:r>
            <a:endParaRPr lang="en-US" sz="1100"/>
          </a:p>
        </p:txBody>
      </p:sp>
      <p:sp>
        <p:nvSpPr>
          <p:cNvPr id="19" name="AutoShape 19"/>
          <p:cNvSpPr/>
          <p:nvPr/>
        </p:nvSpPr>
        <p:spPr>
          <a:xfrm>
            <a:off x="6350000" y="2921000"/>
            <a:ext cx="5080000" cy="1270000"/>
          </a:xfrm>
          <a:prstGeom prst="roundRect">
            <a:avLst>
              <a:gd name="adj" fmla="val 10000"/>
            </a:avLst>
          </a:prstGeom>
          <a:solidFill>
            <a:srgbClr val="FFFFFF">
              <a:alpha val="100000"/>
            </a:srgbClr>
          </a:solidFill>
          <a:ln w="25400" cap="flat" cmpd="sng">
            <a:noFill/>
            <a:prstDash val="solid"/>
            <a:round/>
          </a:ln>
          <a:effectLst>
            <a:outerShdw blurRad="127000" dist="50800" dir="5400000" algn="tl" rotWithShape="0">
              <a:srgbClr val="000000">
                <a:alpha val="8000"/>
              </a:srgbClr>
            </a:outerShdw>
          </a:effectLst>
        </p:spPr>
        <p:txBody>
          <a:bodyPr vert="horz" wrap="square" lIns="63500" tIns="63500" rIns="63500" bIns="63500" rtlCol="0" anchor="ctr"/>
          <a:lstStyle/>
          <a:p>
            <a:pPr algn="ctr">
              <a:defRPr/>
            </a:pPr>
          </a:p>
        </p:txBody>
      </p:sp>
      <p:sp>
        <p:nvSpPr>
          <p:cNvPr id="20" name="AutoShape 20"/>
          <p:cNvSpPr/>
          <p:nvPr/>
        </p:nvSpPr>
        <p:spPr>
          <a:xfrm>
            <a:off x="6350000" y="2921000"/>
            <a:ext cx="76200" cy="1270000"/>
          </a:xfrm>
          <a:prstGeom prst="roundRect">
            <a:avLst>
              <a:gd name="adj" fmla="val 0"/>
            </a:avLst>
          </a:prstGeom>
          <a:solidFill>
            <a:srgbClr val="005A9C">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21" name="Picture 21"/>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6680200" y="3238500"/>
            <a:ext cx="508000" cy="508000"/>
          </a:xfrm>
          <a:prstGeom prst="rect">
            <a:avLst/>
          </a:prstGeom>
        </p:spPr>
      </p:pic>
      <p:sp>
        <p:nvSpPr>
          <p:cNvPr id="22" name="AutoShape 22"/>
          <p:cNvSpPr/>
          <p:nvPr/>
        </p:nvSpPr>
        <p:spPr>
          <a:xfrm>
            <a:off x="7366000" y="3048000"/>
            <a:ext cx="3810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005A9C"/>
                </a:solidFill>
                <a:latin typeface="Noto Sans SC" panose="020B0200000000000000" charset="-122"/>
                <a:ea typeface="Noto Sans SC" panose="020B0200000000000000" charset="-122"/>
                <a:cs typeface="Noto Sans SC" panose="020B0200000000000000" charset="-122"/>
                <a:sym typeface="Noto Sans SC" panose="020B0200000000000000" charset="-122"/>
              </a:rPr>
              <a:t>自动化测试通过</a:t>
            </a:r>
            <a:endParaRPr lang="en-US" sz="1100"/>
          </a:p>
        </p:txBody>
      </p:sp>
      <p:sp>
        <p:nvSpPr>
          <p:cNvPr id="23" name="AutoShape 23"/>
          <p:cNvSpPr/>
          <p:nvPr/>
        </p:nvSpPr>
        <p:spPr>
          <a:xfrm>
            <a:off x="7366000" y="3429000"/>
            <a:ext cx="3810000" cy="635000"/>
          </a:xfrm>
          <a:prstGeom prst="rect">
            <a:avLst/>
          </a:prstGeom>
          <a:noFill/>
          <a:ln w="12700" cap="flat" cmpd="sng">
            <a:noFill/>
            <a:prstDash val="solid"/>
            <a:round/>
          </a:ln>
        </p:spPr>
        <p:txBody>
          <a:bodyPr vert="horz" wrap="square" lIns="0" tIns="0" rIns="0" bIns="0" rtlCol="0" anchor="ctr" anchorCtr="0"/>
          <a:lstStyle/>
          <a:p>
            <a:pPr indent="0" algn="l">
              <a:lnSpc>
                <a:spcPct val="100000"/>
              </a:lnSpc>
              <a:defRPr/>
            </a:pPr>
            <a:r>
              <a:rPr lang="en-US" sz="13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所有词法相关的ctest自动化用例必须全部通过，覆盖率达标。</a:t>
            </a:r>
            <a:endParaRPr lang="en-US" sz="1100"/>
          </a:p>
        </p:txBody>
      </p:sp>
      <p:sp>
        <p:nvSpPr>
          <p:cNvPr id="24" name="AutoShape 24"/>
          <p:cNvSpPr/>
          <p:nvPr/>
        </p:nvSpPr>
        <p:spPr>
          <a:xfrm>
            <a:off x="762000" y="4572000"/>
            <a:ext cx="10668000" cy="1016000"/>
          </a:xfrm>
          <a:prstGeom prst="roundRect">
            <a:avLst>
              <a:gd name="adj" fmla="val 12500"/>
            </a:avLst>
          </a:prstGeom>
          <a:solidFill>
            <a:srgbClr val="005A9C">
              <a:alpha val="5000"/>
            </a:srgbClr>
          </a:solidFill>
          <a:ln w="12700" cap="flat" cmpd="sng">
            <a:solidFill>
              <a:srgbClr val="005A9C">
                <a:alpha val="20000"/>
              </a:srgbClr>
            </a:solidFill>
            <a:prstDash val="dash"/>
            <a:round/>
          </a:ln>
        </p:spPr>
        <p:txBody>
          <a:bodyPr vert="horz" wrap="square" lIns="63500" tIns="63500" rIns="63500" bIns="63500" rtlCol="0" anchor="ctr"/>
          <a:lstStyle/>
          <a:p>
            <a:pPr algn="ctr">
              <a:defRPr/>
            </a:pPr>
          </a:p>
        </p:txBody>
      </p:sp>
      <p:sp>
        <p:nvSpPr>
          <p:cNvPr id="25" name="AutoShape 25"/>
          <p:cNvSpPr/>
          <p:nvPr/>
        </p:nvSpPr>
        <p:spPr>
          <a:xfrm>
            <a:off x="1016000" y="4762500"/>
            <a:ext cx="10160000" cy="635000"/>
          </a:xfrm>
          <a:prstGeom prst="rect">
            <a:avLst/>
          </a:prstGeom>
          <a:noFill/>
          <a:ln w="12700" cap="flat" cmpd="sng">
            <a:noFill/>
            <a:prstDash val="solid"/>
            <a:round/>
          </a:ln>
        </p:spPr>
        <p:txBody>
          <a:bodyPr vert="horz" wrap="square" lIns="0" tIns="0" rIns="0" bIns="0" rtlCol="0" anchor="ctr" anchorCtr="0"/>
          <a:lstStyle/>
          <a:p>
            <a:pPr indent="0" algn="l">
              <a:lnSpc>
                <a:spcPct val="117000"/>
              </a:lnSpc>
              <a:defRPr/>
            </a:pPr>
            <a:r>
              <a:rPr lang="en-US" sz="14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核心目标总结：</a:t>
            </a:r>
            <a:r>
              <a:rPr lang="en-US" sz="14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实现一个功能完整、健壮且可测试的词法分析器，确保交付成果在功能正确性、错误处理机制、接口规范及测试验证四个维度达到既定标准。</a:t>
            </a:r>
            <a:endParaRPr lang="en-US" sz="110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pic>
        <p:nvPicPr>
          <p:cNvPr id="2" name="Picture 2"/>
          <p:cNvPicPr>
            <a:picLocks noChangeAspect="1"/>
          </p:cNvPicPr>
          <p:nvPr/>
        </p:nvPicPr>
        <p:blipFill>
          <a:blip r:embed="rId1"/>
          <a:srcRect/>
          <a:stretch>
            <a:fillRect/>
          </a:stretch>
        </p:blipFill>
        <p:spPr>
          <a:xfrm>
            <a:off x="0" y="0"/>
            <a:ext cx="12192000" cy="6858000"/>
          </a:xfrm>
          <a:prstGeom prst="rect">
            <a:avLst/>
          </a:prstGeom>
          <a:noFill/>
          <a:ln w="25400" cap="flat" cmpd="sng">
            <a:noFill/>
            <a:prstDash val="solid"/>
            <a:round/>
          </a:ln>
        </p:spPr>
      </p:pic>
      <p:sp>
        <p:nvSpPr>
          <p:cNvPr id="3" name="AutoShape 3"/>
          <p:cNvSpPr/>
          <p:nvPr/>
        </p:nvSpPr>
        <p:spPr>
          <a:xfrm>
            <a:off x="762000" y="508000"/>
            <a:ext cx="4025900" cy="508000"/>
          </a:xfrm>
          <a:prstGeom prst="rect">
            <a:avLst/>
          </a:prstGeom>
          <a:noFill/>
          <a:ln w="12700" cap="flat" cmpd="sng">
            <a:noFill/>
            <a:prstDash val="solid"/>
            <a:round/>
          </a:ln>
        </p:spPr>
        <p:txBody>
          <a:bodyPr vert="horz" wrap="none" lIns="0" tIns="0" rIns="0" bIns="0" rtlCol="0" anchor="ctr" anchorCtr="0"/>
          <a:lstStyle/>
          <a:p>
            <a:pPr indent="0" algn="l">
              <a:lnSpc>
                <a:spcPct val="125000"/>
              </a:lnSpc>
              <a:defRPr/>
            </a:pPr>
            <a:r>
              <a:rPr lang="en-US" sz="32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M2 词法模块设计</a:t>
            </a:r>
            <a:endParaRPr lang="en-US" sz="1100"/>
          </a:p>
        </p:txBody>
      </p:sp>
      <p:pic>
        <p:nvPicPr>
          <p:cNvPr id="4" name="Picture 4"/>
          <p:cNvPicPr>
            <a:picLocks noChangeAspect="1"/>
          </p:cNvPicPr>
          <p:nvPr/>
        </p:nvPicPr>
        <p:blipFill>
          <a:blip r:embed="rId2"/>
          <a:srcRect/>
          <a:stretch>
            <a:fillRect/>
          </a:stretch>
        </p:blipFill>
        <p:spPr>
          <a:xfrm>
            <a:off x="762000" y="1397000"/>
            <a:ext cx="2794000" cy="2794000"/>
          </a:xfrm>
          <a:prstGeom prst="roundRect">
            <a:avLst>
              <a:gd name="adj" fmla="val 4545"/>
            </a:avLst>
          </a:prstGeom>
          <a:noFill/>
          <a:ln w="12700" cap="flat" cmpd="sng">
            <a:solidFill>
              <a:srgbClr val="CCCCCC">
                <a:alpha val="100000"/>
              </a:srgbClr>
            </a:solidFill>
            <a:prstDash val="solid"/>
            <a:round/>
          </a:ln>
          <a:effectLst>
            <a:outerShdw blurRad="101600" dist="50800" dir="5400000" algn="tl" rotWithShape="0">
              <a:srgbClr val="000000">
                <a:alpha val="10000"/>
              </a:srgbClr>
            </a:outerShdw>
          </a:effectLst>
        </p:spPr>
      </p:pic>
      <p:sp>
        <p:nvSpPr>
          <p:cNvPr id="5" name="AutoShape 5"/>
          <p:cNvSpPr/>
          <p:nvPr/>
        </p:nvSpPr>
        <p:spPr>
          <a:xfrm>
            <a:off x="762000" y="4318000"/>
            <a:ext cx="2794000" cy="381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14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词法分析核心流程架构</a:t>
            </a:r>
            <a:endParaRPr lang="en-US" sz="1100"/>
          </a:p>
        </p:txBody>
      </p:sp>
      <p:sp>
        <p:nvSpPr>
          <p:cNvPr id="6" name="AutoShape 6"/>
          <p:cNvSpPr/>
          <p:nvPr/>
        </p:nvSpPr>
        <p:spPr>
          <a:xfrm>
            <a:off x="4064000" y="1397000"/>
            <a:ext cx="6604000" cy="1079500"/>
          </a:xfrm>
          <a:prstGeom prst="roundRect">
            <a:avLst>
              <a:gd name="adj" fmla="val 11764"/>
            </a:avLst>
          </a:prstGeom>
          <a:solidFill>
            <a:srgbClr val="FFFFFF">
              <a:alpha val="90000"/>
            </a:srgbClr>
          </a:solidFill>
          <a:ln w="12700" cap="flat" cmpd="sng">
            <a:solidFill>
              <a:srgbClr val="005A9C">
                <a:alpha val="20000"/>
              </a:srgbClr>
            </a:solidFill>
            <a:prstDash val="solid"/>
            <a:round/>
          </a:ln>
          <a:effectLst>
            <a:outerShdw blurRad="76200" dist="25400" dir="5400000" algn="tl" rotWithShape="0">
              <a:srgbClr val="005A9C">
                <a:alpha val="8000"/>
              </a:srgbClr>
            </a:outerShdw>
          </a:effectLst>
        </p:spPr>
        <p:txBody>
          <a:bodyPr vert="horz" wrap="square" lIns="63500" tIns="63500" rIns="63500" bIns="63500" rtlCol="0" anchor="ctr"/>
          <a:lstStyle/>
          <a:p>
            <a:pPr algn="ctr">
              <a:defRPr/>
            </a:pPr>
          </a:p>
        </p:txBody>
      </p:sp>
      <p:pic>
        <p:nvPicPr>
          <p:cNvPr id="7" name="Picture 7"/>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4254500" y="1727200"/>
            <a:ext cx="406400" cy="406400"/>
          </a:xfrm>
          <a:prstGeom prst="rect">
            <a:avLst/>
          </a:prstGeom>
        </p:spPr>
      </p:pic>
      <p:sp>
        <p:nvSpPr>
          <p:cNvPr id="8" name="AutoShape 8"/>
          <p:cNvSpPr/>
          <p:nvPr/>
        </p:nvSpPr>
        <p:spPr>
          <a:xfrm>
            <a:off x="4762500" y="1524000"/>
            <a:ext cx="5715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005A9C"/>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核心数据结构定义</a:t>
            </a:r>
            <a:endParaRPr lang="en-US" sz="1100"/>
          </a:p>
        </p:txBody>
      </p:sp>
      <p:sp>
        <p:nvSpPr>
          <p:cNvPr id="9" name="AutoShape 9"/>
          <p:cNvSpPr/>
          <p:nvPr/>
        </p:nvSpPr>
        <p:spPr>
          <a:xfrm>
            <a:off x="4762500" y="1879600"/>
            <a:ext cx="5715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3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定义 Token、SourcePosition、LexError 及 LexerResult 等结构，完整承载分析过程与结果数据。</a:t>
            </a:r>
            <a:endParaRPr lang="en-US" sz="1100"/>
          </a:p>
        </p:txBody>
      </p:sp>
      <p:sp>
        <p:nvSpPr>
          <p:cNvPr id="10" name="AutoShape 10"/>
          <p:cNvSpPr/>
          <p:nvPr/>
        </p:nvSpPr>
        <p:spPr>
          <a:xfrm>
            <a:off x="4064000" y="2603500"/>
            <a:ext cx="6604000" cy="1079500"/>
          </a:xfrm>
          <a:prstGeom prst="roundRect">
            <a:avLst>
              <a:gd name="adj" fmla="val 11764"/>
            </a:avLst>
          </a:prstGeom>
          <a:solidFill>
            <a:srgbClr val="FFFFFF">
              <a:alpha val="90000"/>
            </a:srgbClr>
          </a:solidFill>
          <a:ln w="12700" cap="flat" cmpd="sng">
            <a:solidFill>
              <a:srgbClr val="005A9C">
                <a:alpha val="20000"/>
              </a:srgbClr>
            </a:solidFill>
            <a:prstDash val="solid"/>
            <a:round/>
          </a:ln>
          <a:effectLst>
            <a:outerShdw blurRad="76200" dist="25400" dir="5400000" algn="tl" rotWithShape="0">
              <a:srgbClr val="005A9C">
                <a:alpha val="8000"/>
              </a:srgbClr>
            </a:outerShdw>
          </a:effectLst>
        </p:spPr>
        <p:txBody>
          <a:bodyPr vert="horz" wrap="square" lIns="63500" tIns="63500" rIns="63500" bIns="63500" rtlCol="0" anchor="ctr"/>
          <a:lstStyle/>
          <a:p>
            <a:pPr algn="ctr">
              <a:defRPr/>
            </a:pPr>
          </a:p>
        </p:txBody>
      </p:sp>
      <p:pic>
        <p:nvPicPr>
          <p:cNvPr id="11" name="Picture 11"/>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4254500" y="2933700"/>
            <a:ext cx="406400" cy="406400"/>
          </a:xfrm>
          <a:prstGeom prst="rect">
            <a:avLst/>
          </a:prstGeom>
        </p:spPr>
      </p:pic>
      <p:sp>
        <p:nvSpPr>
          <p:cNvPr id="12" name="AutoShape 12"/>
          <p:cNvSpPr/>
          <p:nvPr/>
        </p:nvSpPr>
        <p:spPr>
          <a:xfrm>
            <a:off x="4762500" y="2730500"/>
            <a:ext cx="5715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005A9C"/>
                </a:solidFill>
                <a:latin typeface="Noto Sans SC" panose="020B0200000000000000" charset="-122"/>
                <a:ea typeface="Noto Sans SC" panose="020B0200000000000000" charset="-122"/>
                <a:cs typeface="Noto Sans SC" panose="020B0200000000000000" charset="-122"/>
                <a:sym typeface="Noto Sans SC" panose="020B0200000000000000" charset="-122"/>
              </a:rPr>
              <a:t>关键接口设计</a:t>
            </a:r>
            <a:endParaRPr lang="en-US" sz="1100"/>
          </a:p>
        </p:txBody>
      </p:sp>
      <p:sp>
        <p:nvSpPr>
          <p:cNvPr id="13" name="AutoShape 13"/>
          <p:cNvSpPr/>
          <p:nvPr/>
        </p:nvSpPr>
        <p:spPr>
          <a:xfrm>
            <a:off x="4762500" y="3086100"/>
            <a:ext cx="5715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3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提供 tokenizeDetailed(source) 接口，支持同时返回 Token 流和错误流，便于上层统一处理。</a:t>
            </a:r>
            <a:endParaRPr lang="en-US" sz="1100"/>
          </a:p>
        </p:txBody>
      </p:sp>
      <p:sp>
        <p:nvSpPr>
          <p:cNvPr id="14" name="AutoShape 14"/>
          <p:cNvSpPr/>
          <p:nvPr/>
        </p:nvSpPr>
        <p:spPr>
          <a:xfrm>
            <a:off x="4064000" y="3810000"/>
            <a:ext cx="6604000" cy="1079500"/>
          </a:xfrm>
          <a:prstGeom prst="roundRect">
            <a:avLst>
              <a:gd name="adj" fmla="val 11764"/>
            </a:avLst>
          </a:prstGeom>
          <a:solidFill>
            <a:srgbClr val="FFFFFF">
              <a:alpha val="90000"/>
            </a:srgbClr>
          </a:solidFill>
          <a:ln w="12700" cap="flat" cmpd="sng">
            <a:solidFill>
              <a:srgbClr val="005A9C">
                <a:alpha val="20000"/>
              </a:srgbClr>
            </a:solidFill>
            <a:prstDash val="solid"/>
            <a:round/>
          </a:ln>
          <a:effectLst>
            <a:outerShdw blurRad="76200" dist="25400" dir="5400000" algn="tl" rotWithShape="0">
              <a:srgbClr val="005A9C">
                <a:alpha val="8000"/>
              </a:srgbClr>
            </a:outerShdw>
          </a:effectLst>
        </p:spPr>
        <p:txBody>
          <a:bodyPr vert="horz" wrap="square" lIns="63500" tIns="63500" rIns="63500" bIns="63500" rtlCol="0" anchor="ctr"/>
          <a:lstStyle/>
          <a:p>
            <a:pPr algn="ctr">
              <a:defRPr/>
            </a:pPr>
          </a:p>
        </p:txBody>
      </p:sp>
      <p:pic>
        <p:nvPicPr>
          <p:cNvPr id="15" name="Picture 15"/>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4254500" y="4140200"/>
            <a:ext cx="406400" cy="406400"/>
          </a:xfrm>
          <a:prstGeom prst="rect">
            <a:avLst/>
          </a:prstGeom>
        </p:spPr>
      </p:pic>
      <p:sp>
        <p:nvSpPr>
          <p:cNvPr id="16" name="AutoShape 16"/>
          <p:cNvSpPr/>
          <p:nvPr/>
        </p:nvSpPr>
        <p:spPr>
          <a:xfrm>
            <a:off x="4762500" y="3937000"/>
            <a:ext cx="5715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005A9C"/>
                </a:solidFill>
                <a:latin typeface="Noto Sans SC" panose="020B0200000000000000" charset="-122"/>
                <a:ea typeface="Noto Sans SC" panose="020B0200000000000000" charset="-122"/>
                <a:cs typeface="Noto Sans SC" panose="020B0200000000000000" charset="-122"/>
                <a:sym typeface="Noto Sans SC" panose="020B0200000000000000" charset="-122"/>
              </a:rPr>
              <a:t>编译驱动对接机制</a:t>
            </a:r>
            <a:endParaRPr lang="en-US" sz="1100"/>
          </a:p>
        </p:txBody>
      </p:sp>
      <p:sp>
        <p:nvSpPr>
          <p:cNvPr id="17" name="AutoShape 17"/>
          <p:cNvSpPr/>
          <p:nvPr/>
        </p:nvSpPr>
        <p:spPr>
          <a:xfrm>
            <a:off x="4762500" y="4292600"/>
            <a:ext cx="5715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3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作为编译首步，若词法分析失败，程序立即返回退出码 7 并终止后续所有编译阶段。</a:t>
            </a:r>
            <a:endParaRPr lang="en-US" sz="1100"/>
          </a:p>
        </p:txBody>
      </p:sp>
      <p:sp>
        <p:nvSpPr>
          <p:cNvPr id="18" name="AutoShape 18"/>
          <p:cNvSpPr/>
          <p:nvPr/>
        </p:nvSpPr>
        <p:spPr>
          <a:xfrm>
            <a:off x="4064000" y="5016500"/>
            <a:ext cx="6604000" cy="1079500"/>
          </a:xfrm>
          <a:prstGeom prst="roundRect">
            <a:avLst>
              <a:gd name="adj" fmla="val 11764"/>
            </a:avLst>
          </a:prstGeom>
          <a:solidFill>
            <a:srgbClr val="FFFFFF">
              <a:alpha val="90000"/>
            </a:srgbClr>
          </a:solidFill>
          <a:ln w="12700" cap="flat" cmpd="sng">
            <a:solidFill>
              <a:srgbClr val="005A9C">
                <a:alpha val="20000"/>
              </a:srgbClr>
            </a:solidFill>
            <a:prstDash val="solid"/>
            <a:round/>
          </a:ln>
          <a:effectLst>
            <a:outerShdw blurRad="76200" dist="25400" dir="5400000" algn="tl" rotWithShape="0">
              <a:srgbClr val="005A9C">
                <a:alpha val="8000"/>
              </a:srgbClr>
            </a:outerShdw>
          </a:effectLst>
        </p:spPr>
        <p:txBody>
          <a:bodyPr vert="horz" wrap="square" lIns="63500" tIns="63500" rIns="63500" bIns="63500" rtlCol="0" anchor="ctr"/>
          <a:lstStyle/>
          <a:p>
            <a:pPr algn="ctr">
              <a:defRPr/>
            </a:pPr>
          </a:p>
        </p:txBody>
      </p:sp>
      <p:pic>
        <p:nvPicPr>
          <p:cNvPr id="19" name="Picture 19"/>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4254500" y="5346700"/>
            <a:ext cx="406400" cy="406400"/>
          </a:xfrm>
          <a:prstGeom prst="rect">
            <a:avLst/>
          </a:prstGeom>
        </p:spPr>
      </p:pic>
      <p:sp>
        <p:nvSpPr>
          <p:cNvPr id="20" name="AutoShape 20"/>
          <p:cNvSpPr/>
          <p:nvPr/>
        </p:nvSpPr>
        <p:spPr>
          <a:xfrm>
            <a:off x="4762500" y="5143500"/>
            <a:ext cx="5715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005A9C"/>
                </a:solidFill>
                <a:latin typeface="Noto Sans SC" panose="020B0200000000000000" charset="-122"/>
                <a:ea typeface="Noto Sans SC" panose="020B0200000000000000" charset="-122"/>
                <a:cs typeface="Noto Sans SC" panose="020B0200000000000000" charset="-122"/>
                <a:sym typeface="Noto Sans SC" panose="020B0200000000000000" charset="-122"/>
              </a:rPr>
              <a:t>词法识别特性支持</a:t>
            </a:r>
            <a:endParaRPr lang="en-US" sz="1100"/>
          </a:p>
        </p:txBody>
      </p:sp>
      <p:sp>
        <p:nvSpPr>
          <p:cNvPr id="21" name="AutoShape 21"/>
          <p:cNvSpPr/>
          <p:nvPr/>
        </p:nvSpPr>
        <p:spPr>
          <a:xfrm>
            <a:off x="4762500" y="5499100"/>
            <a:ext cx="5715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3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关键字/标识符大小写不敏感；支持整数、实数、字符常量；精准识别 :=、..、&lt;&gt; 等复合符号。</a:t>
            </a:r>
            <a:endParaRPr lang="en-US" sz="110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pic>
        <p:nvPicPr>
          <p:cNvPr id="2" name="Picture 2"/>
          <p:cNvPicPr>
            <a:picLocks noChangeAspect="1"/>
          </p:cNvPicPr>
          <p:nvPr/>
        </p:nvPicPr>
        <p:blipFill>
          <a:blip r:embed="rId1"/>
          <a:srcRect/>
          <a:stretch>
            <a:fillRect/>
          </a:stretch>
        </p:blipFill>
        <p:spPr>
          <a:xfrm>
            <a:off x="0" y="0"/>
            <a:ext cx="12192000" cy="6858000"/>
          </a:xfrm>
          <a:prstGeom prst="rect">
            <a:avLst/>
          </a:prstGeom>
          <a:noFill/>
          <a:ln w="25400" cap="flat" cmpd="sng">
            <a:noFill/>
            <a:prstDash val="solid"/>
            <a:round/>
          </a:ln>
        </p:spPr>
      </p:pic>
      <p:sp>
        <p:nvSpPr>
          <p:cNvPr id="3" name="AutoShape 3"/>
          <p:cNvSpPr/>
          <p:nvPr/>
        </p:nvSpPr>
        <p:spPr>
          <a:xfrm>
            <a:off x="762000" y="508000"/>
            <a:ext cx="10668000" cy="508000"/>
          </a:xfrm>
          <a:prstGeom prst="rect">
            <a:avLst/>
          </a:prstGeom>
          <a:noFill/>
          <a:ln w="12700" cap="flat" cmpd="sng">
            <a:noFill/>
            <a:prstDash val="solid"/>
            <a:round/>
          </a:ln>
        </p:spPr>
        <p:txBody>
          <a:bodyPr vert="horz" wrap="none" lIns="0" tIns="0" rIns="0" bIns="0" rtlCol="0" anchor="ctr" anchorCtr="0"/>
          <a:lstStyle/>
          <a:p>
            <a:pPr indent="0" algn="l">
              <a:lnSpc>
                <a:spcPct val="125000"/>
              </a:lnSpc>
              <a:defRPr/>
            </a:pPr>
            <a:r>
              <a:rPr lang="en-US" sz="32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M2 冻结规则与错误码映射</a:t>
            </a:r>
            <a:endParaRPr lang="en-US" sz="1100"/>
          </a:p>
        </p:txBody>
      </p:sp>
      <p:sp>
        <p:nvSpPr>
          <p:cNvPr id="4" name="AutoShape 4"/>
          <p:cNvSpPr/>
          <p:nvPr/>
        </p:nvSpPr>
        <p:spPr>
          <a:xfrm>
            <a:off x="762000" y="1117600"/>
            <a:ext cx="10668000" cy="25400"/>
          </a:xfrm>
          <a:prstGeom prst="roundRect">
            <a:avLst>
              <a:gd name="adj" fmla="val 0"/>
            </a:avLst>
          </a:prstGeom>
          <a:solidFill>
            <a:srgbClr val="005A9C">
              <a:alpha val="100000"/>
            </a:srgbClr>
          </a:solidFill>
          <a:ln w="25400" cap="flat" cmpd="sng">
            <a:noFill/>
            <a:prstDash val="solid"/>
            <a:round/>
          </a:ln>
        </p:spPr>
        <p:txBody>
          <a:bodyPr vert="horz" wrap="square" lIns="63500" tIns="63500" rIns="63500" bIns="63500" rtlCol="0" anchor="ctr"/>
          <a:lstStyle/>
          <a:p>
            <a:pPr algn="ctr">
              <a:defRPr/>
            </a:pPr>
          </a:p>
        </p:txBody>
      </p:sp>
      <p:graphicFrame>
        <p:nvGraphicFramePr>
          <p:cNvPr id="5" name="Table 5"/>
          <p:cNvGraphicFramePr>
            <a:graphicFrameLocks noGrp="1"/>
          </p:cNvGraphicFramePr>
          <p:nvPr/>
        </p:nvGraphicFramePr>
        <p:xfrm>
          <a:off x="762000" y="1397000"/>
          <a:ext cx="10668000" cy="2794000"/>
        </p:xfrm>
        <a:graphic>
          <a:graphicData uri="http://schemas.openxmlformats.org/drawingml/2006/table">
            <a:tbl>
              <a:tblPr>
                <a:effectLst/>
              </a:tblPr>
              <a:tblGrid>
                <a:gridCol w="3302000"/>
                <a:gridCol w="5334000"/>
                <a:gridCol w="2032000"/>
              </a:tblGrid>
              <a:tr h="508000">
                <a:tc>
                  <a:txBody>
                    <a:bodyPr rtlCol="0"/>
                    <a:lstStyle/>
                    <a:p>
                      <a:pPr indent="0" algn="ctr">
                        <a:lnSpc>
                          <a:spcPct val="100000"/>
                        </a:lnSpc>
                        <a:defRPr/>
                      </a:pPr>
                      <a:r>
                        <a:rPr lang="en-US" sz="16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规则描述</a:t>
                      </a:r>
                      <a:endParaRPr lang="en-US" sz="1100"/>
                    </a:p>
                  </a:txBody>
                  <a:tcPr marL="101600" marR="101600" marT="101600" marB="101600" anchor="t" anchorCtr="0">
                    <a:lnL>
                      <a:noFill/>
                    </a:lnL>
                    <a:lnR>
                      <a:noFill/>
                    </a:lnR>
                    <a:lnT>
                      <a:noFill/>
                    </a:lnT>
                    <a:lnB>
                      <a:noFill/>
                    </a:lnB>
                    <a:solidFill>
                      <a:srgbClr val="005A9C">
                        <a:alpha val="100000"/>
                      </a:srgbClr>
                    </a:solidFill>
                  </a:tcPr>
                </a:tc>
                <a:tc>
                  <a:txBody>
                    <a:bodyPr rtlCol="0"/>
                    <a:lstStyle/>
                    <a:p>
                      <a:pPr indent="0" algn="ctr">
                        <a:lnSpc>
                          <a:spcPct val="100000"/>
                        </a:lnSpc>
                        <a:defRPr/>
                      </a:pPr>
                      <a:r>
                        <a:rPr lang="en-US" sz="16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触发条件</a:t>
                      </a:r>
                      <a:endParaRPr lang="en-US" sz="1100"/>
                    </a:p>
                  </a:txBody>
                  <a:tcPr marL="101600" marR="101600" marT="101600" marB="101600" anchor="t" anchorCtr="0">
                    <a:lnL>
                      <a:noFill/>
                    </a:lnL>
                    <a:lnR>
                      <a:noFill/>
                    </a:lnR>
                    <a:lnT>
                      <a:noFill/>
                    </a:lnT>
                    <a:lnB>
                      <a:noFill/>
                    </a:lnB>
                    <a:solidFill>
                      <a:srgbClr val="005A9C">
                        <a:alpha val="100000"/>
                      </a:srgbClr>
                    </a:solidFill>
                  </a:tcPr>
                </a:tc>
                <a:tc>
                  <a:txBody>
                    <a:bodyPr rtlCol="0"/>
                    <a:lstStyle/>
                    <a:p>
                      <a:pPr indent="0" algn="ctr">
                        <a:lnSpc>
                          <a:spcPct val="100000"/>
                        </a:lnSpc>
                        <a:defRPr/>
                      </a:pPr>
                      <a:r>
                        <a:rPr lang="en-US" sz="16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错误码</a:t>
                      </a:r>
                      <a:endParaRPr lang="en-US" sz="1100"/>
                    </a:p>
                  </a:txBody>
                  <a:tcPr marL="101600" marR="101600" marT="101600" marB="101600" anchor="t" anchorCtr="0">
                    <a:lnL>
                      <a:noFill/>
                    </a:lnL>
                    <a:lnR>
                      <a:noFill/>
                    </a:lnR>
                    <a:lnT>
                      <a:noFill/>
                    </a:lnT>
                    <a:lnB>
                      <a:noFill/>
                    </a:lnB>
                    <a:solidFill>
                      <a:srgbClr val="005A9C">
                        <a:alpha val="100000"/>
                      </a:srgbClr>
                    </a:solidFill>
                  </a:tcPr>
                </a:tc>
              </a:tr>
              <a:tr h="457200">
                <a:tc>
                  <a:txBody>
                    <a:bodyPr rtlCol="0"/>
                    <a:lstStyle/>
                    <a:p>
                      <a:pPr marL="127000" indent="0" algn="l">
                        <a:lnSpc>
                          <a:spcPct val="100000"/>
                        </a:lnSpc>
                        <a:defRPr/>
                      </a:pPr>
                      <a:r>
                        <a:rPr lang="en-US" sz="14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标识符长度限制</a:t>
                      </a:r>
                      <a:endParaRPr lang="en-US" sz="1100"/>
                    </a:p>
                  </a:txBody>
                  <a:tcPr marL="101600" marR="101600" marT="101600" marB="101600" anchor="t" anchorCtr="0">
                    <a:lnL>
                      <a:noFill/>
                    </a:lnL>
                    <a:lnR>
                      <a:noFill/>
                    </a:lnR>
                    <a:lnT>
                      <a:noFill/>
                    </a:lnT>
                    <a:lnB>
                      <a:noFill/>
                    </a:lnB>
                    <a:solidFill>
                      <a:srgbClr val="F0F5FA">
                        <a:alpha val="100000"/>
                      </a:srgbClr>
                    </a:solidFill>
                  </a:tcPr>
                </a:tc>
                <a:tc>
                  <a:txBody>
                    <a:bodyPr rtlCol="0"/>
                    <a:lstStyle/>
                    <a:p>
                      <a:pPr marL="127000" indent="0" algn="l">
                        <a:lnSpc>
                          <a:spcPct val="100000"/>
                        </a:lnSpc>
                        <a:defRPr/>
                      </a:pPr>
                      <a:r>
                        <a:rPr lang="en-US" sz="14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标识符长度超过10个字符</a:t>
                      </a:r>
                      <a:endParaRPr lang="en-US" sz="1100"/>
                    </a:p>
                  </a:txBody>
                  <a:tcPr marL="101600" marR="101600" marT="101600" marB="101600" anchor="t" anchorCtr="0">
                    <a:lnL>
                      <a:noFill/>
                    </a:lnL>
                    <a:lnR>
                      <a:noFill/>
                    </a:lnR>
                    <a:lnT>
                      <a:noFill/>
                    </a:lnT>
                    <a:lnB>
                      <a:noFill/>
                    </a:lnB>
                    <a:solidFill>
                      <a:srgbClr val="F0F5FA">
                        <a:alpha val="100000"/>
                      </a:srgbClr>
                    </a:solidFill>
                  </a:tcPr>
                </a:tc>
                <a:tc>
                  <a:txBody>
                    <a:bodyPr rtlCol="0"/>
                    <a:lstStyle/>
                    <a:p>
                      <a:pPr indent="0" algn="ctr">
                        <a:lnSpc>
                          <a:spcPct val="100000"/>
                        </a:lnSpc>
                        <a:defRPr/>
                      </a:pPr>
                      <a:r>
                        <a:rPr lang="en-US" sz="1400" b="1" i="0" u="none" strike="noStrike">
                          <a:solidFill>
                            <a:srgbClr val="005A9C"/>
                          </a:solidFill>
                          <a:latin typeface="Noto Sans SC" panose="020B0200000000000000" charset="-122"/>
                          <a:ea typeface="Noto Sans SC" panose="020B0200000000000000" charset="-122"/>
                          <a:cs typeface="Noto Sans SC" panose="020B0200000000000000" charset="-122"/>
                          <a:sym typeface="Noto Sans SC" panose="020B0200000000000000" charset="-122"/>
                        </a:rPr>
                        <a:t>E105</a:t>
                      </a:r>
                      <a:endParaRPr lang="en-US" sz="1100"/>
                    </a:p>
                  </a:txBody>
                  <a:tcPr marL="101600" marR="101600" marT="101600" marB="101600" anchor="t" anchorCtr="0">
                    <a:lnL>
                      <a:noFill/>
                    </a:lnL>
                    <a:lnR>
                      <a:noFill/>
                    </a:lnR>
                    <a:lnT>
                      <a:noFill/>
                    </a:lnT>
                    <a:lnB>
                      <a:noFill/>
                    </a:lnB>
                    <a:solidFill>
                      <a:srgbClr val="F0F5FA">
                        <a:alpha val="100000"/>
                      </a:srgbClr>
                    </a:solidFill>
                  </a:tcPr>
                </a:tc>
              </a:tr>
              <a:tr h="457200">
                <a:tc>
                  <a:txBody>
                    <a:bodyPr rtlCol="0"/>
                    <a:lstStyle/>
                    <a:p>
                      <a:pPr marL="127000" indent="0" algn="l">
                        <a:lnSpc>
                          <a:spcPct val="100000"/>
                        </a:lnSpc>
                        <a:defRPr/>
                      </a:pPr>
                      <a:r>
                        <a:rPr lang="en-US" sz="14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注释规则</a:t>
                      </a:r>
                      <a:endParaRPr lang="en-US" sz="1100"/>
                    </a:p>
                  </a:txBody>
                  <a:tcPr marL="101600" marR="101600" marT="101600" marB="101600" anchor="t" anchorCtr="0">
                    <a:lnL>
                      <a:noFill/>
                    </a:lnL>
                    <a:lnR>
                      <a:noFill/>
                    </a:lnR>
                    <a:lnT>
                      <a:noFill/>
                    </a:lnT>
                    <a:lnB>
                      <a:noFill/>
                    </a:lnB>
                    <a:solidFill>
                      <a:srgbClr val="FFFFFF">
                        <a:alpha val="100000"/>
                      </a:srgbClr>
                    </a:solidFill>
                  </a:tcPr>
                </a:tc>
                <a:tc>
                  <a:txBody>
                    <a:bodyPr rtlCol="0"/>
                    <a:lstStyle/>
                    <a:p>
                      <a:pPr marL="127000" indent="0" algn="l">
                        <a:lnSpc>
                          <a:spcPct val="100000"/>
                        </a:lnSpc>
                        <a:defRPr/>
                      </a:pPr>
                      <a:r>
                        <a:rPr lang="en-US" sz="14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注释嵌套使用</a:t>
                      </a:r>
                      <a:endParaRPr lang="en-US" sz="1100"/>
                    </a:p>
                  </a:txBody>
                  <a:tcPr marL="101600" marR="101600" marT="101600" marB="101600" anchor="t" anchorCtr="0">
                    <a:lnL>
                      <a:noFill/>
                    </a:lnL>
                    <a:lnR>
                      <a:noFill/>
                    </a:lnR>
                    <a:lnT>
                      <a:noFill/>
                    </a:lnT>
                    <a:lnB>
                      <a:noFill/>
                    </a:lnB>
                    <a:solidFill>
                      <a:srgbClr val="FFFFFF">
                        <a:alpha val="100000"/>
                      </a:srgbClr>
                    </a:solidFill>
                  </a:tcPr>
                </a:tc>
                <a:tc>
                  <a:txBody>
                    <a:bodyPr rtlCol="0"/>
                    <a:lstStyle/>
                    <a:p>
                      <a:pPr indent="0" algn="ctr">
                        <a:lnSpc>
                          <a:spcPct val="100000"/>
                        </a:lnSpc>
                        <a:defRPr/>
                      </a:pPr>
                      <a:r>
                        <a:rPr lang="en-US" sz="1400" b="1" i="0" u="none" strike="noStrike">
                          <a:solidFill>
                            <a:srgbClr val="005A9C"/>
                          </a:solidFill>
                          <a:latin typeface="Noto Sans SC" panose="020B0200000000000000" charset="-122"/>
                          <a:ea typeface="Noto Sans SC" panose="020B0200000000000000" charset="-122"/>
                          <a:cs typeface="Noto Sans SC" panose="020B0200000000000000" charset="-122"/>
                          <a:sym typeface="Noto Sans SC" panose="020B0200000000000000" charset="-122"/>
                        </a:rPr>
                        <a:t>E106</a:t>
                      </a:r>
                      <a:endParaRPr lang="en-US" sz="1100"/>
                    </a:p>
                  </a:txBody>
                  <a:tcPr marL="101600" marR="101600" marT="101600" marB="101600" anchor="t" anchorCtr="0">
                    <a:lnL>
                      <a:noFill/>
                    </a:lnL>
                    <a:lnR>
                      <a:noFill/>
                    </a:lnR>
                    <a:lnT>
                      <a:noFill/>
                    </a:lnT>
                    <a:lnB>
                      <a:noFill/>
                    </a:lnB>
                    <a:solidFill>
                      <a:srgbClr val="FFFFFF">
                        <a:alpha val="100000"/>
                      </a:srgbClr>
                    </a:solidFill>
                  </a:tcPr>
                </a:tc>
              </a:tr>
              <a:tr h="457200">
                <a:tc>
                  <a:txBody>
                    <a:bodyPr rtlCol="0"/>
                    <a:lstStyle/>
                    <a:p>
                      <a:pPr marL="127000" indent="0" algn="l">
                        <a:lnSpc>
                          <a:spcPct val="100000"/>
                        </a:lnSpc>
                        <a:defRPr/>
                      </a:pPr>
                      <a:r>
                        <a:rPr lang="en-US" sz="14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字符常量规则</a:t>
                      </a:r>
                      <a:endParaRPr lang="en-US" sz="1100"/>
                    </a:p>
                  </a:txBody>
                  <a:tcPr marL="101600" marR="101600" marT="101600" marB="101600" anchor="t" anchorCtr="0">
                    <a:lnL>
                      <a:noFill/>
                    </a:lnL>
                    <a:lnR>
                      <a:noFill/>
                    </a:lnR>
                    <a:lnT>
                      <a:noFill/>
                    </a:lnT>
                    <a:lnB>
                      <a:noFill/>
                    </a:lnB>
                    <a:solidFill>
                      <a:srgbClr val="F0F5FA">
                        <a:alpha val="100000"/>
                      </a:srgbClr>
                    </a:solidFill>
                  </a:tcPr>
                </a:tc>
                <a:tc>
                  <a:txBody>
                    <a:bodyPr rtlCol="0"/>
                    <a:lstStyle/>
                    <a:p>
                      <a:pPr marL="127000" indent="0" algn="l">
                        <a:lnSpc>
                          <a:spcPct val="100000"/>
                        </a:lnSpc>
                        <a:defRPr/>
                      </a:pPr>
                      <a:r>
                        <a:rPr lang="en-US" sz="14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字符常量包含多个字符或非法转义</a:t>
                      </a:r>
                      <a:endParaRPr lang="en-US" sz="1100"/>
                    </a:p>
                  </a:txBody>
                  <a:tcPr marL="101600" marR="101600" marT="101600" marB="101600" anchor="t" anchorCtr="0">
                    <a:lnL>
                      <a:noFill/>
                    </a:lnL>
                    <a:lnR>
                      <a:noFill/>
                    </a:lnR>
                    <a:lnT>
                      <a:noFill/>
                    </a:lnT>
                    <a:lnB>
                      <a:noFill/>
                    </a:lnB>
                    <a:solidFill>
                      <a:srgbClr val="F0F5FA">
                        <a:alpha val="100000"/>
                      </a:srgbClr>
                    </a:solidFill>
                  </a:tcPr>
                </a:tc>
                <a:tc>
                  <a:txBody>
                    <a:bodyPr rtlCol="0"/>
                    <a:lstStyle/>
                    <a:p>
                      <a:pPr indent="0" algn="ctr">
                        <a:lnSpc>
                          <a:spcPct val="100000"/>
                        </a:lnSpc>
                        <a:defRPr/>
                      </a:pPr>
                      <a:r>
                        <a:rPr lang="en-US" sz="1400" b="1" i="0" u="none" strike="noStrike">
                          <a:solidFill>
                            <a:srgbClr val="005A9C"/>
                          </a:solidFill>
                          <a:latin typeface="Noto Sans SC" panose="020B0200000000000000" charset="-122"/>
                          <a:ea typeface="Noto Sans SC" panose="020B0200000000000000" charset="-122"/>
                          <a:cs typeface="Noto Sans SC" panose="020B0200000000000000" charset="-122"/>
                          <a:sym typeface="Noto Sans SC" panose="020B0200000000000000" charset="-122"/>
                        </a:rPr>
                        <a:t>E109</a:t>
                      </a:r>
                      <a:endParaRPr lang="en-US" sz="1100"/>
                    </a:p>
                  </a:txBody>
                  <a:tcPr marL="101600" marR="101600" marT="101600" marB="101600" anchor="t" anchorCtr="0">
                    <a:lnL>
                      <a:noFill/>
                    </a:lnL>
                    <a:lnR>
                      <a:noFill/>
                    </a:lnR>
                    <a:lnT>
                      <a:noFill/>
                    </a:lnT>
                    <a:lnB>
                      <a:noFill/>
                    </a:lnB>
                    <a:solidFill>
                      <a:srgbClr val="F0F5FA">
                        <a:alpha val="100000"/>
                      </a:srgbClr>
                    </a:solidFill>
                  </a:tcPr>
                </a:tc>
              </a:tr>
              <a:tr h="457200">
                <a:tc>
                  <a:txBody>
                    <a:bodyPr rtlCol="0"/>
                    <a:lstStyle/>
                    <a:p>
                      <a:pPr marL="127000" indent="0" algn="l">
                        <a:lnSpc>
                          <a:spcPct val="100000"/>
                        </a:lnSpc>
                        <a:defRPr/>
                      </a:pPr>
                      <a:r>
                        <a:rPr lang="en-US" sz="14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关键字边界规则</a:t>
                      </a:r>
                      <a:endParaRPr lang="en-US" sz="1100"/>
                    </a:p>
                  </a:txBody>
                  <a:tcPr marL="101600" marR="101600" marT="101600" marB="101600" anchor="t" anchorCtr="0">
                    <a:lnL>
                      <a:noFill/>
                    </a:lnL>
                    <a:lnR>
                      <a:noFill/>
                    </a:lnR>
                    <a:lnT>
                      <a:noFill/>
                    </a:lnT>
                    <a:lnB>
                      <a:noFill/>
                    </a:lnB>
                    <a:solidFill>
                      <a:srgbClr val="FFFFFF">
                        <a:alpha val="100000"/>
                      </a:srgbClr>
                    </a:solidFill>
                  </a:tcPr>
                </a:tc>
                <a:tc>
                  <a:txBody>
                    <a:bodyPr rtlCol="0"/>
                    <a:lstStyle/>
                    <a:p>
                      <a:pPr marL="127000" indent="0" algn="l">
                        <a:lnSpc>
                          <a:spcPct val="100000"/>
                        </a:lnSpc>
                        <a:defRPr/>
                      </a:pPr>
                      <a:r>
                        <a:rPr lang="en-US" sz="14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关键字与标识符混淆（如`VAR1`）</a:t>
                      </a:r>
                      <a:endParaRPr lang="en-US" sz="1100"/>
                    </a:p>
                  </a:txBody>
                  <a:tcPr marL="101600" marR="101600" marT="101600" marB="101600" anchor="t" anchorCtr="0">
                    <a:lnL>
                      <a:noFill/>
                    </a:lnL>
                    <a:lnR>
                      <a:noFill/>
                    </a:lnR>
                    <a:lnT>
                      <a:noFill/>
                    </a:lnT>
                    <a:lnB>
                      <a:noFill/>
                    </a:lnB>
                    <a:solidFill>
                      <a:srgbClr val="FFFFFF">
                        <a:alpha val="100000"/>
                      </a:srgbClr>
                    </a:solidFill>
                  </a:tcPr>
                </a:tc>
                <a:tc>
                  <a:txBody>
                    <a:bodyPr rtlCol="0"/>
                    <a:lstStyle/>
                    <a:p>
                      <a:pPr indent="0" algn="ctr">
                        <a:lnSpc>
                          <a:spcPct val="100000"/>
                        </a:lnSpc>
                        <a:defRPr/>
                      </a:pPr>
                      <a:r>
                        <a:rPr lang="en-US" sz="1400" b="1" i="0" u="none" strike="noStrike">
                          <a:solidFill>
                            <a:srgbClr val="005A9C"/>
                          </a:solidFill>
                          <a:latin typeface="Noto Sans SC" panose="020B0200000000000000" charset="-122"/>
                          <a:ea typeface="Noto Sans SC" panose="020B0200000000000000" charset="-122"/>
                          <a:cs typeface="Noto Sans SC" panose="020B0200000000000000" charset="-122"/>
                          <a:sym typeface="Noto Sans SC" panose="020B0200000000000000" charset="-122"/>
                        </a:rPr>
                        <a:t>E108</a:t>
                      </a:r>
                      <a:endParaRPr lang="en-US" sz="1100"/>
                    </a:p>
                  </a:txBody>
                  <a:tcPr marL="101600" marR="101600" marT="101600" marB="101600" anchor="t" anchorCtr="0">
                    <a:lnL>
                      <a:noFill/>
                    </a:lnL>
                    <a:lnR>
                      <a:noFill/>
                    </a:lnR>
                    <a:lnT>
                      <a:noFill/>
                    </a:lnT>
                    <a:lnB>
                      <a:noFill/>
                    </a:lnB>
                    <a:solidFill>
                      <a:srgbClr val="FFFFFF">
                        <a:alpha val="100000"/>
                      </a:srgbClr>
                    </a:solidFill>
                  </a:tcPr>
                </a:tc>
              </a:tr>
              <a:tr h="457200">
                <a:tc>
                  <a:txBody>
                    <a:bodyPr rtlCol="0"/>
                    <a:lstStyle/>
                    <a:p>
                      <a:pPr marL="127000" indent="0" algn="l">
                        <a:lnSpc>
                          <a:spcPct val="100000"/>
                        </a:lnSpc>
                        <a:defRPr/>
                      </a:pPr>
                      <a:r>
                        <a:rPr lang="en-US" sz="14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汇总失败</a:t>
                      </a:r>
                      <a:endParaRPr lang="en-US" sz="1100"/>
                    </a:p>
                  </a:txBody>
                  <a:tcPr marL="101600" marR="101600" marT="101600" marB="101600" anchor="t" anchorCtr="0">
                    <a:lnL>
                      <a:noFill/>
                    </a:lnL>
                    <a:lnR>
                      <a:noFill/>
                    </a:lnR>
                    <a:lnT>
                      <a:noFill/>
                    </a:lnT>
                    <a:lnB>
                      <a:noFill/>
                    </a:lnB>
                    <a:solidFill>
                      <a:srgbClr val="F0F5FA">
                        <a:alpha val="100000"/>
                      </a:srgbClr>
                    </a:solidFill>
                  </a:tcPr>
                </a:tc>
                <a:tc>
                  <a:txBody>
                    <a:bodyPr rtlCol="0"/>
                    <a:lstStyle/>
                    <a:p>
                      <a:pPr marL="127000" indent="0" algn="l">
                        <a:lnSpc>
                          <a:spcPct val="100000"/>
                        </a:lnSpc>
                        <a:defRPr/>
                      </a:pPr>
                      <a:r>
                        <a:rPr lang="en-US" sz="14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词法分析过程中发生任何错误</a:t>
                      </a:r>
                      <a:endParaRPr lang="en-US" sz="1100"/>
                    </a:p>
                  </a:txBody>
                  <a:tcPr marL="101600" marR="101600" marT="101600" marB="101600" anchor="t" anchorCtr="0">
                    <a:lnL>
                      <a:noFill/>
                    </a:lnL>
                    <a:lnR>
                      <a:noFill/>
                    </a:lnR>
                    <a:lnT>
                      <a:noFill/>
                    </a:lnT>
                    <a:lnB>
                      <a:noFill/>
                    </a:lnB>
                    <a:solidFill>
                      <a:srgbClr val="F0F5FA">
                        <a:alpha val="100000"/>
                      </a:srgbClr>
                    </a:solidFill>
                  </a:tcPr>
                </a:tc>
                <a:tc>
                  <a:txBody>
                    <a:bodyPr rtlCol="0"/>
                    <a:lstStyle/>
                    <a:p>
                      <a:pPr indent="0" algn="ctr">
                        <a:lnSpc>
                          <a:spcPct val="100000"/>
                        </a:lnSpc>
                        <a:defRPr/>
                      </a:pPr>
                      <a:r>
                        <a:rPr lang="en-US" sz="1400" b="1" i="0" u="none" strike="noStrike">
                          <a:solidFill>
                            <a:srgbClr val="005A9C"/>
                          </a:solidFill>
                          <a:latin typeface="Noto Sans SC" panose="020B0200000000000000" charset="-122"/>
                          <a:ea typeface="Noto Sans SC" panose="020B0200000000000000" charset="-122"/>
                          <a:cs typeface="Noto Sans SC" panose="020B0200000000000000" charset="-122"/>
                          <a:sym typeface="Noto Sans SC" panose="020B0200000000000000" charset="-122"/>
                        </a:rPr>
                        <a:t>E199</a:t>
                      </a:r>
                      <a:endParaRPr lang="en-US" sz="1100"/>
                    </a:p>
                  </a:txBody>
                  <a:tcPr marL="101600" marR="101600" marT="101600" marB="101600" anchor="t" anchorCtr="0">
                    <a:lnL>
                      <a:noFill/>
                    </a:lnL>
                    <a:lnR>
                      <a:noFill/>
                    </a:lnR>
                    <a:lnT>
                      <a:noFill/>
                    </a:lnT>
                    <a:lnB>
                      <a:noFill/>
                    </a:lnB>
                    <a:solidFill>
                      <a:srgbClr val="F0F5FA">
                        <a:alpha val="100000"/>
                      </a:srgbClr>
                    </a:solidFill>
                  </a:tcPr>
                </a:tc>
              </a:tr>
            </a:tbl>
          </a:graphicData>
        </a:graphic>
      </p:graphicFrame>
      <p:sp>
        <p:nvSpPr>
          <p:cNvPr id="6" name="AutoShape 6"/>
          <p:cNvSpPr/>
          <p:nvPr/>
        </p:nvSpPr>
        <p:spPr>
          <a:xfrm>
            <a:off x="762000" y="4572000"/>
            <a:ext cx="10668000" cy="1016000"/>
          </a:xfrm>
          <a:prstGeom prst="roundRect">
            <a:avLst>
              <a:gd name="adj" fmla="val 12500"/>
            </a:avLst>
          </a:prstGeom>
          <a:solidFill>
            <a:srgbClr val="EBF2FA">
              <a:alpha val="100000"/>
            </a:srgbClr>
          </a:solidFill>
          <a:ln w="12700" cap="flat" cmpd="sng">
            <a:solidFill>
              <a:srgbClr val="005A9C">
                <a:alpha val="30000"/>
              </a:srgbClr>
            </a:solidFill>
            <a:prstDash val="solid"/>
            <a:round/>
          </a:ln>
        </p:spPr>
        <p:txBody>
          <a:bodyPr vert="horz" wrap="square" lIns="63500" tIns="63500" rIns="63500" bIns="63500" rtlCol="0" anchor="ctr"/>
          <a:lstStyle/>
          <a:p>
            <a:pPr algn="ctr">
              <a:defRPr/>
            </a:pPr>
          </a:p>
        </p:txBody>
      </p:sp>
      <p:pic>
        <p:nvPicPr>
          <p:cNvPr id="7" name="Picture 7"/>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016000" y="4876800"/>
            <a:ext cx="406400" cy="406400"/>
          </a:xfrm>
          <a:prstGeom prst="rect">
            <a:avLst/>
          </a:prstGeom>
        </p:spPr>
      </p:pic>
      <p:sp>
        <p:nvSpPr>
          <p:cNvPr id="8" name="AutoShape 8"/>
          <p:cNvSpPr/>
          <p:nvPr/>
        </p:nvSpPr>
        <p:spPr>
          <a:xfrm>
            <a:off x="1524000" y="4699000"/>
            <a:ext cx="9652000" cy="762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5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错误处理一致性保障：</a:t>
            </a:r>
            <a:endParaRPr lang="en-US" sz="1100"/>
          </a:p>
          <a:p>
            <a:pPr indent="0" algn="l">
              <a:lnSpc>
                <a:spcPct val="125000"/>
              </a:lnSpc>
            </a:pPr>
            <a:r>
              <a:rPr lang="en-US" sz="1400" b="0" i="0" u="none" strike="noStrike">
                <a:solidFill>
                  <a:srgbClr val="505050"/>
                </a:solidFill>
                <a:latin typeface="Noto Sans SC" panose="020B0200000000000000" charset="-122"/>
                <a:ea typeface="Noto Sans SC" panose="020B0200000000000000" charset="-122"/>
                <a:cs typeface="Noto Sans SC" panose="020B0200000000000000" charset="-122"/>
                <a:sym typeface="Noto Sans SC" panose="020B0200000000000000" charset="-122"/>
              </a:rPr>
              <a:t>所有词法错误最终都会汇总为</a:t>
            </a:r>
            <a:r>
              <a:rPr lang="en-US" sz="1400" b="1" i="0" u="none" strike="noStrike">
                <a:solidFill>
                  <a:srgbClr val="005A9C"/>
                </a:solidFill>
                <a:latin typeface="Noto Sans SC" panose="020B0200000000000000" charset="-122"/>
                <a:ea typeface="Noto Sans SC" panose="020B0200000000000000" charset="-122"/>
                <a:cs typeface="Noto Sans SC" panose="020B0200000000000000" charset="-122"/>
                <a:sym typeface="Noto Sans SC" panose="020B0200000000000000" charset="-122"/>
              </a:rPr>
              <a:t>E199</a:t>
            </a:r>
            <a:r>
              <a:rPr lang="en-US" sz="1400" b="0" i="0" u="none" strike="noStrike">
                <a:solidFill>
                  <a:srgbClr val="505050"/>
                </a:solidFill>
                <a:latin typeface="Noto Sans SC" panose="020B0200000000000000" charset="-122"/>
                <a:ea typeface="Noto Sans SC" panose="020B0200000000000000" charset="-122"/>
                <a:cs typeface="Noto Sans SC" panose="020B0200000000000000" charset="-122"/>
                <a:sym typeface="Noto Sans SC" panose="020B0200000000000000" charset="-122"/>
              </a:rPr>
              <a:t>，并统一返回退出码</a:t>
            </a:r>
            <a:r>
              <a:rPr lang="en-US" sz="1400" b="1" i="0" u="none" strike="noStrike">
                <a:solidFill>
                  <a:srgbClr val="005A9C"/>
                </a:solidFill>
                <a:latin typeface="Noto Sans SC" panose="020B0200000000000000" charset="-122"/>
                <a:ea typeface="Noto Sans SC" panose="020B0200000000000000" charset="-122"/>
                <a:cs typeface="Noto Sans SC" panose="020B0200000000000000" charset="-122"/>
                <a:sym typeface="Noto Sans SC" panose="020B0200000000000000" charset="-122"/>
              </a:rPr>
              <a:t>7</a:t>
            </a:r>
            <a:r>
              <a:rPr lang="en-US" sz="1400" b="0" i="0" u="none" strike="noStrike">
                <a:solidFill>
                  <a:srgbClr val="505050"/>
                </a:solidFill>
                <a:latin typeface="Noto Sans SC" panose="020B0200000000000000" charset="-122"/>
                <a:ea typeface="Noto Sans SC" panose="020B0200000000000000" charset="-122"/>
                <a:cs typeface="Noto Sans SC" panose="020B0200000000000000" charset="-122"/>
                <a:sym typeface="Noto Sans SC" panose="020B0200000000000000" charset="-122"/>
              </a:rPr>
              <a:t>，确保系统在异常情况下行为可预测。</a:t>
            </a:r>
            <a:endParaRPr lang="en-US" sz="1400" b="0" i="0" u="none" strike="noStrike">
              <a:solidFill>
                <a:srgbClr val="505050"/>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5F7FA">
            <a:alpha val="100000"/>
          </a:srgbClr>
        </a:solidFill>
        <a:effectLst/>
      </p:bgPr>
    </p:bg>
    <p:spTree>
      <p:nvGrpSpPr>
        <p:cNvPr id="1" name=""/>
        <p:cNvGrpSpPr/>
        <p:nvPr/>
      </p:nvGrpSpPr>
      <p:grpSpPr>
        <a:xfrm>
          <a:off x="0" y="0"/>
          <a:ext cx="0" cy="0"/>
          <a:chOff x="0" y="0"/>
          <a:chExt cx="0" cy="0"/>
        </a:xfrm>
      </p:grpSpPr>
      <p:pic>
        <p:nvPicPr>
          <p:cNvPr id="2" name="Picture 2"/>
          <p:cNvPicPr>
            <a:picLocks noChangeAspect="1"/>
          </p:cNvPicPr>
          <p:nvPr/>
        </p:nvPicPr>
        <p:blipFill>
          <a:blip r:embed="rId1"/>
          <a:srcRect/>
          <a:stretch>
            <a:fillRect/>
          </a:stretch>
        </p:blipFill>
        <p:spPr>
          <a:xfrm>
            <a:off x="0" y="0"/>
            <a:ext cx="12192000" cy="6858000"/>
          </a:xfrm>
          <a:prstGeom prst="rect">
            <a:avLst/>
          </a:prstGeom>
          <a:noFill/>
          <a:ln w="25400" cap="flat" cmpd="sng">
            <a:noFill/>
            <a:prstDash val="solid"/>
            <a:round/>
          </a:ln>
        </p:spPr>
      </p:pic>
      <p:sp>
        <p:nvSpPr>
          <p:cNvPr id="3" name="AutoShape 3"/>
          <p:cNvSpPr/>
          <p:nvPr/>
        </p:nvSpPr>
        <p:spPr>
          <a:xfrm>
            <a:off x="0" y="0"/>
            <a:ext cx="12192000" cy="6858000"/>
          </a:xfrm>
          <a:prstGeom prst="roundRect">
            <a:avLst>
              <a:gd name="adj" fmla="val 0"/>
            </a:avLst>
          </a:prstGeom>
          <a:solidFill>
            <a:srgbClr val="FFFFFF">
              <a:alpha val="85000"/>
            </a:srgbClr>
          </a:solidFill>
          <a:ln w="25400" cap="flat" cmpd="sng">
            <a:noFill/>
            <a:prstDash val="solid"/>
            <a:round/>
          </a:ln>
        </p:spPr>
        <p:txBody>
          <a:bodyPr vert="horz" wrap="square" lIns="63500" tIns="63500" rIns="63500" bIns="63500" rtlCol="0" anchor="ctr"/>
          <a:lstStyle/>
          <a:p>
            <a:pPr algn="ctr">
              <a:defRPr/>
            </a:pPr>
          </a:p>
        </p:txBody>
      </p:sp>
      <p:sp>
        <p:nvSpPr>
          <p:cNvPr id="4" name="AutoShape 4"/>
          <p:cNvSpPr/>
          <p:nvPr/>
        </p:nvSpPr>
        <p:spPr>
          <a:xfrm>
            <a:off x="762000" y="508000"/>
            <a:ext cx="6261100" cy="508000"/>
          </a:xfrm>
          <a:prstGeom prst="rect">
            <a:avLst/>
          </a:prstGeom>
          <a:noFill/>
          <a:ln w="12700" cap="flat" cmpd="sng">
            <a:noFill/>
            <a:prstDash val="solid"/>
            <a:round/>
          </a:ln>
        </p:spPr>
        <p:txBody>
          <a:bodyPr vert="horz" wrap="none" lIns="0" tIns="0" rIns="0" bIns="0" rtlCol="0" anchor="ctr" anchorCtr="0"/>
          <a:lstStyle/>
          <a:p>
            <a:pPr indent="0" algn="l">
              <a:lnSpc>
                <a:spcPct val="125000"/>
              </a:lnSpc>
              <a:defRPr/>
            </a:pPr>
            <a:r>
              <a:rPr lang="en-US" sz="32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M2 测试设计（自动化+样例）</a:t>
            </a:r>
            <a:endParaRPr lang="en-US" sz="1100"/>
          </a:p>
        </p:txBody>
      </p:sp>
      <p:pic>
        <p:nvPicPr>
          <p:cNvPr id="5" name="Picture 5"/>
          <p:cNvPicPr>
            <a:picLocks noChangeAspect="1"/>
          </p:cNvPicPr>
          <p:nvPr/>
        </p:nvPicPr>
        <p:blipFill>
          <a:blip r:embed="rId2"/>
          <a:srcRect/>
          <a:stretch>
            <a:fillRect/>
          </a:stretch>
        </p:blipFill>
        <p:spPr>
          <a:xfrm>
            <a:off x="762000" y="1397000"/>
            <a:ext cx="2794000" cy="2794000"/>
          </a:xfrm>
          <a:prstGeom prst="roundRect">
            <a:avLst>
              <a:gd name="adj" fmla="val 4545"/>
            </a:avLst>
          </a:prstGeom>
          <a:noFill/>
          <a:ln w="12700" cap="flat" cmpd="sng">
            <a:solidFill>
              <a:srgbClr val="CCCCCC">
                <a:alpha val="100000"/>
              </a:srgbClr>
            </a:solidFill>
            <a:prstDash val="solid"/>
            <a:round/>
          </a:ln>
          <a:effectLst>
            <a:outerShdw blurRad="101600" dist="50800" dir="5400000" algn="tl" rotWithShape="0">
              <a:srgbClr val="000000">
                <a:alpha val="10000"/>
              </a:srgbClr>
            </a:outerShdw>
          </a:effectLst>
        </p:spPr>
      </p:pic>
      <p:sp>
        <p:nvSpPr>
          <p:cNvPr id="6" name="AutoShape 6"/>
          <p:cNvSpPr/>
          <p:nvPr/>
        </p:nvSpPr>
        <p:spPr>
          <a:xfrm>
            <a:off x="762000" y="4318000"/>
            <a:ext cx="2794000" cy="381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14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图1：测试覆盖矩阵示意</a:t>
            </a:r>
            <a:endParaRPr lang="en-US" sz="1100"/>
          </a:p>
        </p:txBody>
      </p:sp>
      <p:sp>
        <p:nvSpPr>
          <p:cNvPr id="7" name="AutoShape 7"/>
          <p:cNvSpPr/>
          <p:nvPr/>
        </p:nvSpPr>
        <p:spPr>
          <a:xfrm>
            <a:off x="3937000" y="1397000"/>
            <a:ext cx="7112000" cy="1143000"/>
          </a:xfrm>
          <a:prstGeom prst="roundRect">
            <a:avLst>
              <a:gd name="adj" fmla="val 11111"/>
            </a:avLst>
          </a:prstGeom>
          <a:solidFill>
            <a:srgbClr val="FFFFFF">
              <a:alpha val="100000"/>
            </a:srgbClr>
          </a:solidFill>
          <a:ln w="12700" cap="flat" cmpd="sng">
            <a:solidFill>
              <a:srgbClr val="E6E6E6">
                <a:alpha val="100000"/>
              </a:srgbClr>
            </a:solidFill>
            <a:prstDash val="solid"/>
            <a:round/>
          </a:ln>
          <a:effectLst>
            <a:outerShdw blurRad="50800" dist="25400" dir="2700000" algn="tl" rotWithShape="0">
              <a:srgbClr val="000000">
                <a:alpha val="5000"/>
              </a:srgbClr>
            </a:outerShdw>
          </a:effectLst>
        </p:spPr>
        <p:txBody>
          <a:bodyPr vert="horz" wrap="square" lIns="63500" tIns="63500" rIns="63500" bIns="63500" rtlCol="0" anchor="ctr"/>
          <a:lstStyle/>
          <a:p>
            <a:pPr algn="ctr">
              <a:defRPr/>
            </a:pPr>
          </a:p>
        </p:txBody>
      </p:sp>
      <p:pic>
        <p:nvPicPr>
          <p:cNvPr id="8" name="Picture 8"/>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4191000" y="1587500"/>
            <a:ext cx="406400" cy="406400"/>
          </a:xfrm>
          <a:prstGeom prst="rect">
            <a:avLst/>
          </a:prstGeom>
        </p:spPr>
      </p:pic>
      <p:sp>
        <p:nvSpPr>
          <p:cNvPr id="9" name="AutoShape 9"/>
          <p:cNvSpPr/>
          <p:nvPr/>
        </p:nvSpPr>
        <p:spPr>
          <a:xfrm>
            <a:off x="4699000" y="1549400"/>
            <a:ext cx="6096000" cy="3302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005A9C"/>
                </a:solidFill>
                <a:latin typeface="Noto Sans SC" panose="020B0200000000000000" charset="-122"/>
                <a:ea typeface="Noto Sans SC" panose="020B0200000000000000" charset="-122"/>
                <a:cs typeface="Noto Sans SC" panose="020B0200000000000000" charset="-122"/>
                <a:sym typeface="Noto Sans SC" panose="020B0200000000000000" charset="-122"/>
              </a:rPr>
              <a:t>自动化测试框架与程序</a:t>
            </a:r>
            <a:endParaRPr lang="en-US" sz="1100"/>
          </a:p>
        </p:txBody>
      </p:sp>
      <p:sp>
        <p:nvSpPr>
          <p:cNvPr id="10" name="AutoShape 10"/>
          <p:cNvSpPr/>
          <p:nvPr/>
        </p:nvSpPr>
        <p:spPr>
          <a:xfrm>
            <a:off x="4699000" y="1930400"/>
            <a:ext cx="6096000" cy="508000"/>
          </a:xfrm>
          <a:prstGeom prst="rect">
            <a:avLst/>
          </a:prstGeom>
          <a:noFill/>
          <a:ln w="12700" cap="flat" cmpd="sng">
            <a:noFill/>
            <a:prstDash val="solid"/>
            <a:round/>
          </a:ln>
        </p:spPr>
        <p:txBody>
          <a:bodyPr vert="horz" wrap="square" lIns="0" tIns="0" rIns="0" bIns="0" rtlCol="0" anchor="ctr" anchorCtr="0"/>
          <a:lstStyle/>
          <a:p>
            <a:pPr indent="0" algn="l">
              <a:lnSpc>
                <a:spcPct val="100000"/>
              </a:lnSpc>
              <a:defRPr/>
            </a:pPr>
            <a:r>
              <a:rPr lang="en-US" sz="14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采用</a:t>
            </a:r>
            <a:r>
              <a:rPr lang="en-US" sz="14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CMake + CTest</a:t>
            </a:r>
            <a:r>
              <a:rPr lang="en-US" sz="14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驱动，支持一键构建运行；核心单元测试在</a:t>
            </a:r>
            <a:r>
              <a:rPr lang="en-US" sz="1400" b="0" i="0" u="none" strike="noStrike">
                <a:solidFill>
                  <a:srgbClr val="005A9C"/>
                </a:solidFill>
                <a:latin typeface="Noto Sans SC" panose="020B0200000000000000" charset="-122"/>
                <a:ea typeface="Noto Sans SC" panose="020B0200000000000000" charset="-122"/>
                <a:cs typeface="Noto Sans SC" panose="020B0200000000000000" charset="-122"/>
                <a:sym typeface="Noto Sans SC" panose="020B0200000000000000" charset="-122"/>
              </a:rPr>
              <a:t>tests/lexer_tests.cpp</a:t>
            </a:r>
            <a:r>
              <a:rPr lang="en-US" sz="14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中实现，确保执行效率。</a:t>
            </a:r>
            <a:endParaRPr lang="en-US" sz="1100"/>
          </a:p>
        </p:txBody>
      </p:sp>
      <p:sp>
        <p:nvSpPr>
          <p:cNvPr id="11" name="AutoShape 11"/>
          <p:cNvSpPr/>
          <p:nvPr/>
        </p:nvSpPr>
        <p:spPr>
          <a:xfrm>
            <a:off x="3937000" y="2730500"/>
            <a:ext cx="7112000" cy="1397000"/>
          </a:xfrm>
          <a:prstGeom prst="roundRect">
            <a:avLst>
              <a:gd name="adj" fmla="val 9090"/>
            </a:avLst>
          </a:prstGeom>
          <a:solidFill>
            <a:srgbClr val="FFFFFF">
              <a:alpha val="100000"/>
            </a:srgbClr>
          </a:solidFill>
          <a:ln w="12700" cap="flat" cmpd="sng">
            <a:solidFill>
              <a:srgbClr val="E6E6E6">
                <a:alpha val="100000"/>
              </a:srgbClr>
            </a:solidFill>
            <a:prstDash val="solid"/>
            <a:round/>
          </a:ln>
          <a:effectLst>
            <a:outerShdw blurRad="50800" dist="25400" dir="2700000" algn="tl" rotWithShape="0">
              <a:srgbClr val="000000">
                <a:alpha val="5000"/>
              </a:srgbClr>
            </a:outerShdw>
          </a:effectLst>
        </p:spPr>
        <p:txBody>
          <a:bodyPr vert="horz" wrap="square" lIns="63500" tIns="63500" rIns="63500" bIns="63500" rtlCol="0" anchor="ctr"/>
          <a:lstStyle/>
          <a:p>
            <a:pPr algn="ctr">
              <a:defRPr/>
            </a:pPr>
          </a:p>
        </p:txBody>
      </p:sp>
      <p:pic>
        <p:nvPicPr>
          <p:cNvPr id="12" name="Picture 12"/>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4191000" y="2921000"/>
            <a:ext cx="406400" cy="406400"/>
          </a:xfrm>
          <a:prstGeom prst="rect">
            <a:avLst/>
          </a:prstGeom>
        </p:spPr>
      </p:pic>
      <p:sp>
        <p:nvSpPr>
          <p:cNvPr id="13" name="AutoShape 13"/>
          <p:cNvSpPr/>
          <p:nvPr/>
        </p:nvSpPr>
        <p:spPr>
          <a:xfrm>
            <a:off x="4699000" y="2882900"/>
            <a:ext cx="6096000" cy="3302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005A9C"/>
                </a:solidFill>
                <a:latin typeface="Noto Sans SC" panose="020B0200000000000000" charset="-122"/>
                <a:ea typeface="Noto Sans SC" panose="020B0200000000000000" charset="-122"/>
                <a:cs typeface="Noto Sans SC" panose="020B0200000000000000" charset="-122"/>
                <a:sym typeface="Noto Sans SC" panose="020B0200000000000000" charset="-122"/>
              </a:rPr>
              <a:t>测试样例设计 (Samples)</a:t>
            </a:r>
            <a:endParaRPr lang="en-US" sz="1100"/>
          </a:p>
        </p:txBody>
      </p:sp>
      <p:sp>
        <p:nvSpPr>
          <p:cNvPr id="14" name="AutoShape 14"/>
          <p:cNvSpPr/>
          <p:nvPr/>
        </p:nvSpPr>
        <p:spPr>
          <a:xfrm>
            <a:off x="4699000" y="3263900"/>
            <a:ext cx="6096000" cy="762000"/>
          </a:xfrm>
          <a:prstGeom prst="rect">
            <a:avLst/>
          </a:prstGeom>
          <a:noFill/>
          <a:ln w="12700" cap="flat" cmpd="sng">
            <a:noFill/>
            <a:prstDash val="solid"/>
            <a:round/>
          </a:ln>
        </p:spPr>
        <p:txBody>
          <a:bodyPr vert="horz" wrap="square" lIns="0" tIns="0" rIns="0" bIns="0" rtlCol="0" anchor="ctr" anchorCtr="0"/>
          <a:lstStyle/>
          <a:p>
            <a:pPr indent="0" algn="l">
              <a:lnSpc>
                <a:spcPct val="100000"/>
              </a:lnSpc>
              <a:defRPr/>
            </a:pPr>
            <a:r>
              <a:rPr lang="en-US" sz="14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正常样例：</a:t>
            </a:r>
            <a:r>
              <a:rPr lang="en-US" sz="14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01_features.pas - 覆盖所有合法词法特性，验证识别正确性。</a:t>
            </a:r>
            <a:endParaRPr lang="en-US" sz="1100"/>
          </a:p>
          <a:p>
            <a:pPr indent="0" algn="l">
              <a:lnSpc>
                <a:spcPct val="100000"/>
              </a:lnSpc>
            </a:pPr>
            <a:r>
              <a:rPr lang="en-US" sz="14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异常样例：</a:t>
            </a:r>
            <a:r>
              <a:rPr lang="en-US" sz="14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02_lex_error.pas - 包含各类词法错误，验证错误检测与报告机制。</a:t>
            </a:r>
            <a:endParaRPr lang="en-US" sz="14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5" name="AutoShape 15"/>
          <p:cNvSpPr/>
          <p:nvPr/>
        </p:nvSpPr>
        <p:spPr>
          <a:xfrm>
            <a:off x="3937000" y="4318000"/>
            <a:ext cx="7112000" cy="1143000"/>
          </a:xfrm>
          <a:prstGeom prst="roundRect">
            <a:avLst>
              <a:gd name="adj" fmla="val 11111"/>
            </a:avLst>
          </a:prstGeom>
          <a:solidFill>
            <a:srgbClr val="FFFFFF">
              <a:alpha val="100000"/>
            </a:srgbClr>
          </a:solidFill>
          <a:ln w="12700" cap="flat" cmpd="sng">
            <a:solidFill>
              <a:srgbClr val="E6E6E6">
                <a:alpha val="100000"/>
              </a:srgbClr>
            </a:solidFill>
            <a:prstDash val="solid"/>
            <a:round/>
          </a:ln>
          <a:effectLst>
            <a:outerShdw blurRad="50800" dist="25400" dir="2700000" algn="tl" rotWithShape="0">
              <a:srgbClr val="000000">
                <a:alpha val="5000"/>
              </a:srgbClr>
            </a:outerShdw>
          </a:effectLst>
        </p:spPr>
        <p:txBody>
          <a:bodyPr vert="horz" wrap="square" lIns="63500" tIns="63500" rIns="63500" bIns="63500" rtlCol="0" anchor="ctr"/>
          <a:lstStyle/>
          <a:p>
            <a:pPr algn="ctr">
              <a:defRPr/>
            </a:pPr>
          </a:p>
        </p:txBody>
      </p:sp>
      <p:pic>
        <p:nvPicPr>
          <p:cNvPr id="16" name="Picture 16"/>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4191000" y="4508500"/>
            <a:ext cx="406400" cy="406400"/>
          </a:xfrm>
          <a:prstGeom prst="rect">
            <a:avLst/>
          </a:prstGeom>
        </p:spPr>
      </p:pic>
      <p:sp>
        <p:nvSpPr>
          <p:cNvPr id="17" name="AutoShape 17"/>
          <p:cNvSpPr/>
          <p:nvPr/>
        </p:nvSpPr>
        <p:spPr>
          <a:xfrm>
            <a:off x="4699000" y="4470400"/>
            <a:ext cx="6096000" cy="3302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005A9C"/>
                </a:solidFill>
                <a:latin typeface="Noto Sans SC" panose="020B0200000000000000" charset="-122"/>
                <a:ea typeface="Noto Sans SC" panose="020B0200000000000000" charset="-122"/>
                <a:cs typeface="Noto Sans SC" panose="020B0200000000000000" charset="-122"/>
                <a:sym typeface="Noto Sans SC" panose="020B0200000000000000" charset="-122"/>
              </a:rPr>
              <a:t>多维覆盖验证</a:t>
            </a:r>
            <a:endParaRPr lang="en-US" sz="1100"/>
          </a:p>
        </p:txBody>
      </p:sp>
      <p:sp>
        <p:nvSpPr>
          <p:cNvPr id="18" name="AutoShape 18"/>
          <p:cNvSpPr/>
          <p:nvPr/>
        </p:nvSpPr>
        <p:spPr>
          <a:xfrm>
            <a:off x="4699000" y="4851400"/>
            <a:ext cx="6096000" cy="508000"/>
          </a:xfrm>
          <a:prstGeom prst="rect">
            <a:avLst/>
          </a:prstGeom>
          <a:noFill/>
          <a:ln w="12700" cap="flat" cmpd="sng">
            <a:noFill/>
            <a:prstDash val="solid"/>
            <a:round/>
          </a:ln>
        </p:spPr>
        <p:txBody>
          <a:bodyPr vert="horz" wrap="square" lIns="0" tIns="0" rIns="0" bIns="0" rtlCol="0" anchor="ctr" anchorCtr="0"/>
          <a:lstStyle/>
          <a:p>
            <a:pPr indent="0" algn="l">
              <a:lnSpc>
                <a:spcPct val="100000"/>
              </a:lnSpc>
              <a:defRPr/>
            </a:pPr>
            <a:r>
              <a:rPr lang="en-US" sz="14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全方位覆盖词法识别的准确性、错误定位的精度，以及命令行退出码的合规性，确保系统鲁棒性。</a:t>
            </a:r>
            <a:endParaRPr lang="en-US" sz="1100"/>
          </a:p>
        </p:txBody>
      </p:sp>
      <p:sp>
        <p:nvSpPr>
          <p:cNvPr id="19" name="AutoShape 19"/>
          <p:cNvSpPr/>
          <p:nvPr/>
        </p:nvSpPr>
        <p:spPr>
          <a:xfrm>
            <a:off x="0" y="6781800"/>
            <a:ext cx="12192000" cy="76200"/>
          </a:xfrm>
          <a:prstGeom prst="roundRect">
            <a:avLst>
              <a:gd name="adj" fmla="val 0"/>
            </a:avLst>
          </a:prstGeom>
          <a:solidFill>
            <a:srgbClr val="005A9C">
              <a:alpha val="100000"/>
            </a:srgbClr>
          </a:solidFill>
          <a:ln w="25400" cap="flat" cmpd="sng">
            <a:noFill/>
            <a:prstDash val="solid"/>
            <a:round/>
          </a:ln>
        </p:spPr>
        <p:txBody>
          <a:bodyPr vert="horz" wrap="square" lIns="63500" tIns="63500" rIns="63500" bIns="63500" rtlCol="0" anchor="ctr"/>
          <a:lstStyle/>
          <a:p>
            <a:pPr algn="ctr">
              <a:defRPr/>
            </a:p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5F7FA">
            <a:alpha val="100000"/>
          </a:srgbClr>
        </a:solidFill>
        <a:effectLst/>
      </p:bgPr>
    </p:bg>
    <p:spTree>
      <p:nvGrpSpPr>
        <p:cNvPr id="1" name=""/>
        <p:cNvGrpSpPr/>
        <p:nvPr/>
      </p:nvGrpSpPr>
      <p:grpSpPr>
        <a:xfrm>
          <a:off x="0" y="0"/>
          <a:ext cx="0" cy="0"/>
          <a:chOff x="0" y="0"/>
          <a:chExt cx="0" cy="0"/>
        </a:xfrm>
      </p:grpSpPr>
      <p:pic>
        <p:nvPicPr>
          <p:cNvPr id="2" name="Picture 2"/>
          <p:cNvPicPr>
            <a:picLocks noChangeAspect="1"/>
          </p:cNvPicPr>
          <p:nvPr/>
        </p:nvPicPr>
        <p:blipFill>
          <a:blip r:embed="rId1"/>
          <a:srcRect/>
          <a:stretch>
            <a:fillRect/>
          </a:stretch>
        </p:blipFill>
        <p:spPr>
          <a:xfrm>
            <a:off x="0" y="0"/>
            <a:ext cx="12192000" cy="6858000"/>
          </a:xfrm>
          <a:prstGeom prst="rect">
            <a:avLst/>
          </a:prstGeom>
          <a:noFill/>
          <a:ln w="25400" cap="flat" cmpd="sng">
            <a:noFill/>
            <a:prstDash val="solid"/>
            <a:round/>
          </a:ln>
        </p:spPr>
      </p:pic>
      <p:sp>
        <p:nvSpPr>
          <p:cNvPr id="3" name="AutoShape 3"/>
          <p:cNvSpPr/>
          <p:nvPr/>
        </p:nvSpPr>
        <p:spPr>
          <a:xfrm>
            <a:off x="0" y="0"/>
            <a:ext cx="12192000" cy="6858000"/>
          </a:xfrm>
          <a:prstGeom prst="roundRect">
            <a:avLst>
              <a:gd name="adj" fmla="val 0"/>
            </a:avLst>
          </a:prstGeom>
          <a:solidFill>
            <a:srgbClr val="FFFFFF">
              <a:alpha val="90000"/>
            </a:srgbClr>
          </a:solidFill>
          <a:ln w="25400" cap="flat" cmpd="sng">
            <a:noFill/>
            <a:prstDash val="solid"/>
            <a:round/>
          </a:ln>
        </p:spPr>
        <p:txBody>
          <a:bodyPr vert="horz" wrap="square" lIns="63500" tIns="63500" rIns="63500" bIns="63500" rtlCol="0" anchor="ctr"/>
          <a:lstStyle/>
          <a:p>
            <a:pPr algn="ctr">
              <a:defRPr/>
            </a:pPr>
          </a:p>
        </p:txBody>
      </p:sp>
      <p:sp>
        <p:nvSpPr>
          <p:cNvPr id="4" name="AutoShape 4"/>
          <p:cNvSpPr/>
          <p:nvPr/>
        </p:nvSpPr>
        <p:spPr>
          <a:xfrm>
            <a:off x="762000" y="508000"/>
            <a:ext cx="4927600" cy="508000"/>
          </a:xfrm>
          <a:prstGeom prst="rect">
            <a:avLst/>
          </a:prstGeom>
          <a:noFill/>
          <a:ln w="12700" cap="flat" cmpd="sng">
            <a:noFill/>
            <a:prstDash val="solid"/>
            <a:round/>
          </a:ln>
        </p:spPr>
        <p:txBody>
          <a:bodyPr vert="horz" wrap="none" lIns="0" tIns="0" rIns="0" bIns="0" rtlCol="0" anchor="ctr" anchorCtr="0"/>
          <a:lstStyle/>
          <a:p>
            <a:pPr indent="0" algn="l">
              <a:lnSpc>
                <a:spcPct val="125000"/>
              </a:lnSpc>
              <a:defRPr/>
            </a:pPr>
            <a:r>
              <a:rPr lang="en-US" sz="32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M2 实测结果与证据</a:t>
            </a:r>
            <a:endParaRPr lang="en-US" sz="1100"/>
          </a:p>
        </p:txBody>
      </p:sp>
      <p:sp>
        <p:nvSpPr>
          <p:cNvPr id="5" name="AutoShape 5"/>
          <p:cNvSpPr/>
          <p:nvPr>
            <p:custDataLst>
              <p:tags r:id="rId2"/>
            </p:custDataLst>
          </p:nvPr>
        </p:nvSpPr>
        <p:spPr>
          <a:xfrm>
            <a:off x="762000" y="1397000"/>
            <a:ext cx="5207000" cy="1905000"/>
          </a:xfrm>
          <a:prstGeom prst="roundRect">
            <a:avLst>
              <a:gd name="adj" fmla="val 6666"/>
            </a:avLst>
          </a:prstGeom>
          <a:solidFill>
            <a:srgbClr val="FFFFFF">
              <a:alpha val="100000"/>
            </a:srgbClr>
          </a:solidFill>
          <a:ln w="25400" cap="flat" cmpd="sng">
            <a:noFill/>
            <a:prstDash val="solid"/>
            <a:round/>
          </a:ln>
          <a:effectLst>
            <a:outerShdw blurRad="127000" dist="50800" dir="5400000" algn="tl" rotWithShape="0">
              <a:srgbClr val="000000">
                <a:alpha val="10000"/>
              </a:srgbClr>
            </a:outerShdw>
          </a:effectLst>
        </p:spPr>
        <p:txBody>
          <a:bodyPr vert="horz" wrap="square" lIns="63500" tIns="63500" rIns="63500" bIns="63500" rtlCol="0" anchor="ctr"/>
          <a:lstStyle/>
          <a:p>
            <a:pPr algn="ctr">
              <a:defRPr/>
            </a:pPr>
          </a:p>
        </p:txBody>
      </p:sp>
      <p:sp>
        <p:nvSpPr>
          <p:cNvPr id="7" name="AutoShape 7"/>
          <p:cNvSpPr/>
          <p:nvPr>
            <p:custDataLst>
              <p:tags r:id="rId3"/>
            </p:custDataLst>
          </p:nvPr>
        </p:nvSpPr>
        <p:spPr>
          <a:xfrm>
            <a:off x="2667000" y="1587500"/>
            <a:ext cx="2540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005A9C"/>
                </a:solidFill>
                <a:latin typeface="Noto Sans SC" panose="020B0200000000000000" charset="-122"/>
                <a:ea typeface="Noto Sans SC" panose="020B0200000000000000" charset="-122"/>
                <a:cs typeface="Noto Sans SC" panose="020B0200000000000000" charset="-122"/>
                <a:sym typeface="Noto Sans SC" panose="020B0200000000000000" charset="-122"/>
              </a:rPr>
              <a:t>构建成功验证</a:t>
            </a:r>
            <a:endParaRPr lang="en-US" sz="1100"/>
          </a:p>
        </p:txBody>
      </p:sp>
      <p:sp>
        <p:nvSpPr>
          <p:cNvPr id="8" name="AutoShape 8"/>
          <p:cNvSpPr/>
          <p:nvPr>
            <p:custDataLst>
              <p:tags r:id="rId4"/>
            </p:custDataLst>
          </p:nvPr>
        </p:nvSpPr>
        <p:spPr>
          <a:xfrm>
            <a:off x="2667000" y="1968500"/>
            <a:ext cx="3048000" cy="1016000"/>
          </a:xfrm>
          <a:prstGeom prst="rect">
            <a:avLst/>
          </a:prstGeom>
          <a:noFill/>
          <a:ln w="12700" cap="flat" cmpd="sng">
            <a:noFill/>
            <a:prstDash val="solid"/>
            <a:round/>
          </a:ln>
        </p:spPr>
        <p:txBody>
          <a:bodyPr vert="horz" wrap="square" lIns="0" tIns="0" rIns="0" bIns="0" rtlCol="0" anchor="ctr" anchorCtr="0"/>
          <a:lstStyle/>
          <a:p>
            <a:pPr indent="0" algn="l">
              <a:lnSpc>
                <a:spcPct val="100000"/>
              </a:lnSpc>
              <a:defRPr/>
            </a:pPr>
            <a:r>
              <a:rPr lang="en-US" sz="14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通过</a:t>
            </a:r>
            <a:r>
              <a:rPr lang="en-US" sz="1400" b="1" i="0" u="none" strike="noStrike">
                <a:solidFill>
                  <a:srgbClr val="005A9C"/>
                </a:solidFill>
                <a:latin typeface="Noto Sans SC" panose="020B0200000000000000" charset="-122"/>
                <a:ea typeface="Noto Sans SC" panose="020B0200000000000000" charset="-122"/>
                <a:cs typeface="Noto Sans SC" panose="020B0200000000000000" charset="-122"/>
                <a:sym typeface="Noto Sans SC" panose="020B0200000000000000" charset="-122"/>
              </a:rPr>
              <a:t>cmake</a:t>
            </a:r>
            <a:r>
              <a:rPr lang="en-US" sz="14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与</a:t>
            </a:r>
            <a:r>
              <a:rPr lang="en-US" sz="1400" b="1" i="0" u="none" strike="noStrike">
                <a:solidFill>
                  <a:srgbClr val="005A9C"/>
                </a:solidFill>
                <a:latin typeface="Noto Sans SC" panose="020B0200000000000000" charset="-122"/>
                <a:ea typeface="Noto Sans SC" panose="020B0200000000000000" charset="-122"/>
                <a:cs typeface="Noto Sans SC" panose="020B0200000000000000" charset="-122"/>
                <a:sym typeface="Noto Sans SC" panose="020B0200000000000000" charset="-122"/>
              </a:rPr>
              <a:t>build</a:t>
            </a:r>
            <a:r>
              <a:rPr lang="en-US" sz="14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成功生成</a:t>
            </a:r>
            <a:r>
              <a:rPr lang="en-US" sz="14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pascc.exe</a:t>
            </a:r>
            <a:r>
              <a:rPr lang="en-US" sz="14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及测试程序，环境配置无误。</a:t>
            </a:r>
            <a:endParaRPr lang="en-US" sz="1100"/>
          </a:p>
        </p:txBody>
      </p:sp>
      <p:sp>
        <p:nvSpPr>
          <p:cNvPr id="9" name="AutoShape 9"/>
          <p:cNvSpPr/>
          <p:nvPr>
            <p:custDataLst>
              <p:tags r:id="rId5"/>
            </p:custDataLst>
          </p:nvPr>
        </p:nvSpPr>
        <p:spPr>
          <a:xfrm>
            <a:off x="6223000" y="1397000"/>
            <a:ext cx="5207000" cy="1905000"/>
          </a:xfrm>
          <a:prstGeom prst="roundRect">
            <a:avLst>
              <a:gd name="adj" fmla="val 6666"/>
            </a:avLst>
          </a:prstGeom>
          <a:solidFill>
            <a:srgbClr val="FFFFFF">
              <a:alpha val="100000"/>
            </a:srgbClr>
          </a:solidFill>
          <a:ln w="25400" cap="flat" cmpd="sng">
            <a:noFill/>
            <a:prstDash val="solid"/>
            <a:round/>
          </a:ln>
          <a:effectLst>
            <a:outerShdw blurRad="127000" dist="50800" dir="5400000" algn="tl" rotWithShape="0">
              <a:srgbClr val="000000">
                <a:alpha val="10000"/>
              </a:srgbClr>
            </a:outerShdw>
          </a:effectLst>
        </p:spPr>
        <p:txBody>
          <a:bodyPr vert="horz" wrap="square" lIns="63500" tIns="63500" rIns="63500" bIns="63500" rtlCol="0" anchor="ctr"/>
          <a:lstStyle/>
          <a:p>
            <a:pPr algn="ctr">
              <a:defRPr/>
            </a:pPr>
          </a:p>
        </p:txBody>
      </p:sp>
      <p:sp>
        <p:nvSpPr>
          <p:cNvPr id="11" name="AutoShape 11"/>
          <p:cNvSpPr/>
          <p:nvPr>
            <p:custDataLst>
              <p:tags r:id="rId6"/>
            </p:custDataLst>
          </p:nvPr>
        </p:nvSpPr>
        <p:spPr>
          <a:xfrm>
            <a:off x="8128000" y="1587500"/>
            <a:ext cx="2540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005A9C"/>
                </a:solidFill>
                <a:latin typeface="Noto Sans SC" panose="020B0200000000000000" charset="-122"/>
                <a:ea typeface="Noto Sans SC" panose="020B0200000000000000" charset="-122"/>
                <a:cs typeface="Noto Sans SC" panose="020B0200000000000000" charset="-122"/>
                <a:sym typeface="Noto Sans SC" panose="020B0200000000000000" charset="-122"/>
              </a:rPr>
              <a:t>自动化测试通过</a:t>
            </a:r>
            <a:endParaRPr lang="en-US" sz="1100"/>
          </a:p>
        </p:txBody>
      </p:sp>
      <p:sp>
        <p:nvSpPr>
          <p:cNvPr id="12" name="AutoShape 12"/>
          <p:cNvSpPr/>
          <p:nvPr>
            <p:custDataLst>
              <p:tags r:id="rId7"/>
            </p:custDataLst>
          </p:nvPr>
        </p:nvSpPr>
        <p:spPr>
          <a:xfrm>
            <a:off x="8128000" y="1968500"/>
            <a:ext cx="3048000" cy="1016000"/>
          </a:xfrm>
          <a:prstGeom prst="rect">
            <a:avLst/>
          </a:prstGeom>
          <a:noFill/>
          <a:ln w="12700" cap="flat" cmpd="sng">
            <a:noFill/>
            <a:prstDash val="solid"/>
            <a:round/>
          </a:ln>
        </p:spPr>
        <p:txBody>
          <a:bodyPr vert="horz" wrap="square" lIns="0" tIns="0" rIns="0" bIns="0" rtlCol="0" anchor="ctr" anchorCtr="0"/>
          <a:lstStyle/>
          <a:p>
            <a:pPr indent="0" algn="l">
              <a:lnSpc>
                <a:spcPct val="100000"/>
              </a:lnSpc>
              <a:defRPr/>
            </a:pPr>
            <a:r>
              <a:rPr lang="en-US" sz="14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执行</a:t>
            </a:r>
            <a:r>
              <a:rPr lang="en-US" sz="1400" b="1" i="0" u="none" strike="noStrike">
                <a:solidFill>
                  <a:srgbClr val="005A9C"/>
                </a:solidFill>
                <a:latin typeface="Noto Sans SC" panose="020B0200000000000000" charset="-122"/>
                <a:ea typeface="Noto Sans SC" panose="020B0200000000000000" charset="-122"/>
                <a:cs typeface="Noto Sans SC" panose="020B0200000000000000" charset="-122"/>
                <a:sym typeface="Noto Sans SC" panose="020B0200000000000000" charset="-122"/>
              </a:rPr>
              <a:t>ctest</a:t>
            </a:r>
            <a:r>
              <a:rPr lang="en-US" sz="14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验证，所有测试用例全部通过，测试通过率达到</a:t>
            </a:r>
            <a:r>
              <a:rPr lang="en-US" sz="1400" b="1" i="0" u="none" strike="noStrike">
                <a:solidFill>
                  <a:srgbClr val="16A34A"/>
                </a:solidFill>
                <a:latin typeface="Noto Sans SC" panose="020B0200000000000000" charset="-122"/>
                <a:ea typeface="Noto Sans SC" panose="020B0200000000000000" charset="-122"/>
                <a:cs typeface="Noto Sans SC" panose="020B0200000000000000" charset="-122"/>
                <a:sym typeface="Noto Sans SC" panose="020B0200000000000000" charset="-122"/>
              </a:rPr>
              <a:t>100%</a:t>
            </a:r>
            <a:r>
              <a:rPr lang="en-US" sz="14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a:p>
        </p:txBody>
      </p:sp>
      <p:sp>
        <p:nvSpPr>
          <p:cNvPr id="13" name="AutoShape 13"/>
          <p:cNvSpPr/>
          <p:nvPr>
            <p:custDataLst>
              <p:tags r:id="rId8"/>
            </p:custDataLst>
          </p:nvPr>
        </p:nvSpPr>
        <p:spPr>
          <a:xfrm>
            <a:off x="762000" y="3556000"/>
            <a:ext cx="5207000" cy="1905000"/>
          </a:xfrm>
          <a:prstGeom prst="roundRect">
            <a:avLst>
              <a:gd name="adj" fmla="val 6666"/>
            </a:avLst>
          </a:prstGeom>
          <a:solidFill>
            <a:srgbClr val="FFFFFF">
              <a:alpha val="100000"/>
            </a:srgbClr>
          </a:solidFill>
          <a:ln w="25400" cap="flat" cmpd="sng">
            <a:noFill/>
            <a:prstDash val="solid"/>
            <a:round/>
          </a:ln>
          <a:effectLst>
            <a:outerShdw blurRad="127000" dist="50800" dir="5400000" algn="tl" rotWithShape="0">
              <a:srgbClr val="000000">
                <a:alpha val="10000"/>
              </a:srgbClr>
            </a:outerShdw>
          </a:effectLst>
        </p:spPr>
        <p:txBody>
          <a:bodyPr vert="horz" wrap="square" lIns="63500" tIns="63500" rIns="63500" bIns="63500" rtlCol="0" anchor="ctr"/>
          <a:lstStyle/>
          <a:p>
            <a:pPr algn="ctr">
              <a:defRPr/>
            </a:pPr>
          </a:p>
        </p:txBody>
      </p:sp>
      <p:sp>
        <p:nvSpPr>
          <p:cNvPr id="15" name="AutoShape 15"/>
          <p:cNvSpPr/>
          <p:nvPr>
            <p:custDataLst>
              <p:tags r:id="rId9"/>
            </p:custDataLst>
          </p:nvPr>
        </p:nvSpPr>
        <p:spPr>
          <a:xfrm>
            <a:off x="2667000" y="3746500"/>
            <a:ext cx="2540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005A9C"/>
                </a:solidFill>
                <a:latin typeface="Noto Sans SC" panose="020B0200000000000000" charset="-122"/>
                <a:ea typeface="Noto Sans SC" panose="020B0200000000000000" charset="-122"/>
                <a:cs typeface="Noto Sans SC" panose="020B0200000000000000" charset="-122"/>
                <a:sym typeface="Noto Sans SC" panose="020B0200000000000000" charset="-122"/>
              </a:rPr>
              <a:t>合法样例运行</a:t>
            </a:r>
            <a:endParaRPr lang="en-US" sz="1100"/>
          </a:p>
        </p:txBody>
      </p:sp>
      <p:sp>
        <p:nvSpPr>
          <p:cNvPr id="16" name="AutoShape 16"/>
          <p:cNvSpPr/>
          <p:nvPr>
            <p:custDataLst>
              <p:tags r:id="rId10"/>
            </p:custDataLst>
          </p:nvPr>
        </p:nvSpPr>
        <p:spPr>
          <a:xfrm>
            <a:off x="2667000" y="4127500"/>
            <a:ext cx="3048000" cy="1016000"/>
          </a:xfrm>
          <a:prstGeom prst="rect">
            <a:avLst/>
          </a:prstGeom>
          <a:noFill/>
          <a:ln w="12700" cap="flat" cmpd="sng">
            <a:noFill/>
            <a:prstDash val="solid"/>
            <a:round/>
          </a:ln>
        </p:spPr>
        <p:txBody>
          <a:bodyPr vert="horz" wrap="square" lIns="0" tIns="0" rIns="0" bIns="0" rtlCol="0" anchor="ctr" anchorCtr="0"/>
          <a:lstStyle/>
          <a:p>
            <a:pPr indent="0" algn="l">
              <a:lnSpc>
                <a:spcPct val="100000"/>
              </a:lnSpc>
              <a:defRPr/>
            </a:pPr>
            <a:r>
              <a:rPr lang="en-US" sz="14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运行</a:t>
            </a:r>
            <a:r>
              <a:rPr lang="en-US" sz="1400" b="1" i="0" u="none" strike="noStrike">
                <a:solidFill>
                  <a:srgbClr val="005A9C"/>
                </a:solidFill>
                <a:latin typeface="Noto Sans SC" panose="020B0200000000000000" charset="-122"/>
                <a:ea typeface="Noto Sans SC" panose="020B0200000000000000" charset="-122"/>
                <a:cs typeface="Noto Sans SC" panose="020B0200000000000000" charset="-122"/>
                <a:sym typeface="Noto Sans SC" panose="020B0200000000000000" charset="-122"/>
              </a:rPr>
              <a:t>pascc -i 01_features.pas</a:t>
            </a:r>
            <a:r>
              <a:rPr lang="en-US" sz="14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，程序返回退出码</a:t>
            </a:r>
            <a:r>
              <a:rPr lang="en-US" sz="1400" b="1" i="0" u="none" strike="noStrike">
                <a:solidFill>
                  <a:srgbClr val="16A34A"/>
                </a:solidFill>
                <a:latin typeface="Noto Sans SC" panose="020B0200000000000000" charset="-122"/>
                <a:ea typeface="Noto Sans SC" panose="020B0200000000000000" charset="-122"/>
                <a:cs typeface="Noto Sans SC" panose="020B0200000000000000" charset="-122"/>
                <a:sym typeface="Noto Sans SC" panose="020B0200000000000000" charset="-122"/>
              </a:rPr>
              <a:t>0</a:t>
            </a:r>
            <a:r>
              <a:rPr lang="en-US" sz="14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，并成功生成目标 C 文件。</a:t>
            </a:r>
            <a:endParaRPr lang="en-US" sz="1100"/>
          </a:p>
        </p:txBody>
      </p:sp>
      <p:sp>
        <p:nvSpPr>
          <p:cNvPr id="17" name="AutoShape 17"/>
          <p:cNvSpPr/>
          <p:nvPr>
            <p:custDataLst>
              <p:tags r:id="rId11"/>
            </p:custDataLst>
          </p:nvPr>
        </p:nvSpPr>
        <p:spPr>
          <a:xfrm>
            <a:off x="6223000" y="3556000"/>
            <a:ext cx="5207000" cy="1905000"/>
          </a:xfrm>
          <a:prstGeom prst="roundRect">
            <a:avLst>
              <a:gd name="adj" fmla="val 6666"/>
            </a:avLst>
          </a:prstGeom>
          <a:solidFill>
            <a:srgbClr val="FFFFFF">
              <a:alpha val="100000"/>
            </a:srgbClr>
          </a:solidFill>
          <a:ln w="25400" cap="flat" cmpd="sng">
            <a:noFill/>
            <a:prstDash val="solid"/>
            <a:round/>
          </a:ln>
          <a:effectLst>
            <a:outerShdw blurRad="127000" dist="50800" dir="5400000" algn="tl" rotWithShape="0">
              <a:srgbClr val="000000">
                <a:alpha val="10000"/>
              </a:srgbClr>
            </a:outerShdw>
          </a:effectLst>
        </p:spPr>
        <p:txBody>
          <a:bodyPr vert="horz" wrap="square" lIns="63500" tIns="63500" rIns="63500" bIns="63500" rtlCol="0" anchor="ctr"/>
          <a:lstStyle/>
          <a:p>
            <a:pPr algn="ctr">
              <a:defRPr/>
            </a:pPr>
          </a:p>
        </p:txBody>
      </p:sp>
      <p:sp>
        <p:nvSpPr>
          <p:cNvPr id="19" name="AutoShape 19"/>
          <p:cNvSpPr/>
          <p:nvPr>
            <p:custDataLst>
              <p:tags r:id="rId12"/>
            </p:custDataLst>
          </p:nvPr>
        </p:nvSpPr>
        <p:spPr>
          <a:xfrm>
            <a:off x="8128000" y="3746500"/>
            <a:ext cx="2540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005A9C"/>
                </a:solidFill>
                <a:latin typeface="Noto Sans SC" panose="020B0200000000000000" charset="-122"/>
                <a:ea typeface="Noto Sans SC" panose="020B0200000000000000" charset="-122"/>
                <a:cs typeface="Noto Sans SC" panose="020B0200000000000000" charset="-122"/>
                <a:sym typeface="Noto Sans SC" panose="020B0200000000000000" charset="-122"/>
              </a:rPr>
              <a:t>非法样例鲁棒性</a:t>
            </a:r>
            <a:endParaRPr lang="en-US" sz="1100"/>
          </a:p>
        </p:txBody>
      </p:sp>
      <p:sp>
        <p:nvSpPr>
          <p:cNvPr id="20" name="AutoShape 20"/>
          <p:cNvSpPr/>
          <p:nvPr>
            <p:custDataLst>
              <p:tags r:id="rId13"/>
            </p:custDataLst>
          </p:nvPr>
        </p:nvSpPr>
        <p:spPr>
          <a:xfrm>
            <a:off x="8128000" y="4127500"/>
            <a:ext cx="3048000" cy="1016000"/>
          </a:xfrm>
          <a:prstGeom prst="rect">
            <a:avLst/>
          </a:prstGeom>
          <a:noFill/>
          <a:ln w="12700" cap="flat" cmpd="sng">
            <a:noFill/>
            <a:prstDash val="solid"/>
            <a:round/>
          </a:ln>
        </p:spPr>
        <p:txBody>
          <a:bodyPr vert="horz" wrap="square" lIns="0" tIns="0" rIns="0" bIns="0" rtlCol="0" anchor="ctr" anchorCtr="0"/>
          <a:lstStyle/>
          <a:p>
            <a:pPr indent="0" algn="l">
              <a:lnSpc>
                <a:spcPct val="100000"/>
              </a:lnSpc>
              <a:defRPr/>
            </a:pPr>
            <a:r>
              <a:rPr lang="en-US" sz="14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运行含错误代码的样例，程序准确输出</a:t>
            </a:r>
            <a:r>
              <a:rPr lang="en-US" sz="1400" b="1" i="0" u="none" strike="noStrike">
                <a:solidFill>
                  <a:srgbClr val="EF4444"/>
                </a:solidFill>
                <a:latin typeface="Noto Sans SC" panose="020B0200000000000000" charset="-122"/>
                <a:ea typeface="Noto Sans SC" panose="020B0200000000000000" charset="-122"/>
                <a:cs typeface="Noto Sans SC" panose="020B0200000000000000" charset="-122"/>
                <a:sym typeface="Noto Sans SC" panose="020B0200000000000000" charset="-122"/>
              </a:rPr>
              <a:t>E105/E108</a:t>
            </a:r>
            <a:r>
              <a:rPr lang="en-US" sz="14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错误码，返回退出码 7，异常处理机制生效。</a:t>
            </a:r>
            <a:endParaRPr lang="en-US" sz="1100"/>
          </a:p>
        </p:txBody>
      </p:sp>
      <p:sp>
        <p:nvSpPr>
          <p:cNvPr id="21" name="AutoShape 21"/>
          <p:cNvSpPr/>
          <p:nvPr/>
        </p:nvSpPr>
        <p:spPr>
          <a:xfrm>
            <a:off x="762000" y="5715000"/>
            <a:ext cx="10668000" cy="12700"/>
          </a:xfrm>
          <a:prstGeom prst="roundRect">
            <a:avLst>
              <a:gd name="adj" fmla="val 0"/>
            </a:avLst>
          </a:prstGeom>
          <a:solidFill>
            <a:srgbClr val="CCCCCC">
              <a:alpha val="100000"/>
            </a:srgbClr>
          </a:solidFill>
          <a:ln w="25400" cap="flat" cmpd="sng">
            <a:noFill/>
            <a:prstDash val="solid"/>
            <a:round/>
          </a:ln>
        </p:spPr>
        <p:txBody>
          <a:bodyPr vert="horz" wrap="square" lIns="63500" tIns="63500" rIns="63500" bIns="63500" rtlCol="0" anchor="ctr"/>
          <a:lstStyle/>
          <a:p>
            <a:pPr algn="ctr">
              <a:defRPr/>
            </a:pPr>
          </a:p>
        </p:txBody>
      </p:sp>
      <p:sp>
        <p:nvSpPr>
          <p:cNvPr id="22" name="AutoShape 22"/>
          <p:cNvSpPr/>
          <p:nvPr/>
        </p:nvSpPr>
        <p:spPr>
          <a:xfrm>
            <a:off x="762000" y="5842000"/>
            <a:ext cx="10668000" cy="381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14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结论：M2 阶段词法分析模块功能完整</a:t>
            </a:r>
            <a:r>
              <a:rPr lang="zh-CN" altLang="en-US" sz="14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en-US" sz="14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所有实测证据均可复现。</a:t>
            </a:r>
            <a:endParaRPr lang="en-US" sz="1100"/>
          </a:p>
        </p:txBody>
      </p:sp>
      <p:pic>
        <p:nvPicPr>
          <p:cNvPr id="24" name="图片 23"/>
          <p:cNvPicPr>
            <a:picLocks noChangeAspect="1"/>
          </p:cNvPicPr>
          <p:nvPr/>
        </p:nvPicPr>
        <p:blipFill>
          <a:blip r:embed="rId14"/>
          <a:stretch>
            <a:fillRect/>
          </a:stretch>
        </p:blipFill>
        <p:spPr>
          <a:xfrm>
            <a:off x="6223000" y="1619250"/>
            <a:ext cx="1856740" cy="1460500"/>
          </a:xfrm>
          <a:prstGeom prst="rect">
            <a:avLst/>
          </a:prstGeom>
        </p:spPr>
      </p:pic>
      <p:pic>
        <p:nvPicPr>
          <p:cNvPr id="25" name="图片 24"/>
          <p:cNvPicPr>
            <a:picLocks noChangeAspect="1"/>
          </p:cNvPicPr>
          <p:nvPr/>
        </p:nvPicPr>
        <p:blipFill>
          <a:blip r:embed="rId15"/>
          <a:stretch>
            <a:fillRect/>
          </a:stretch>
        </p:blipFill>
        <p:spPr>
          <a:xfrm>
            <a:off x="870585" y="1619250"/>
            <a:ext cx="1605915" cy="1236345"/>
          </a:xfrm>
          <a:prstGeom prst="rect">
            <a:avLst/>
          </a:prstGeom>
        </p:spPr>
      </p:pic>
      <p:pic>
        <p:nvPicPr>
          <p:cNvPr id="26" name="图片 25"/>
          <p:cNvPicPr>
            <a:picLocks noChangeAspect="1"/>
          </p:cNvPicPr>
          <p:nvPr/>
        </p:nvPicPr>
        <p:blipFill>
          <a:blip r:embed="rId16"/>
          <a:stretch>
            <a:fillRect/>
          </a:stretch>
        </p:blipFill>
        <p:spPr>
          <a:xfrm>
            <a:off x="755015" y="3911600"/>
            <a:ext cx="1911985" cy="1117600"/>
          </a:xfrm>
          <a:prstGeom prst="rect">
            <a:avLst/>
          </a:prstGeom>
        </p:spPr>
      </p:pic>
      <p:pic>
        <p:nvPicPr>
          <p:cNvPr id="27" name="图片 26"/>
          <p:cNvPicPr>
            <a:picLocks noChangeAspect="1"/>
          </p:cNvPicPr>
          <p:nvPr/>
        </p:nvPicPr>
        <p:blipFill>
          <a:blip r:embed="rId17"/>
          <a:stretch>
            <a:fillRect/>
          </a:stretch>
        </p:blipFill>
        <p:spPr>
          <a:xfrm>
            <a:off x="6223000" y="3691890"/>
            <a:ext cx="1936115" cy="144208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pic>
        <p:nvPicPr>
          <p:cNvPr id="2" name="Picture 2"/>
          <p:cNvPicPr>
            <a:picLocks noChangeAspect="1"/>
          </p:cNvPicPr>
          <p:nvPr/>
        </p:nvPicPr>
        <p:blipFill>
          <a:blip r:embed="rId1"/>
          <a:srcRect/>
          <a:stretch>
            <a:fillRect/>
          </a:stretch>
        </p:blipFill>
        <p:spPr>
          <a:xfrm>
            <a:off x="0" y="0"/>
            <a:ext cx="12192000" cy="6858000"/>
          </a:xfrm>
          <a:prstGeom prst="rect">
            <a:avLst/>
          </a:prstGeom>
          <a:noFill/>
          <a:ln w="25400" cap="flat" cmpd="sng">
            <a:noFill/>
            <a:prstDash val="solid"/>
            <a:round/>
          </a:ln>
        </p:spPr>
      </p:pic>
      <p:sp>
        <p:nvSpPr>
          <p:cNvPr id="3" name="AutoShape 3"/>
          <p:cNvSpPr/>
          <p:nvPr/>
        </p:nvSpPr>
        <p:spPr>
          <a:xfrm>
            <a:off x="0" y="0"/>
            <a:ext cx="12192000" cy="6858000"/>
          </a:xfrm>
          <a:prstGeom prst="roundRect">
            <a:avLst>
              <a:gd name="adj" fmla="val 0"/>
            </a:avLst>
          </a:prstGeom>
          <a:solidFill>
            <a:srgbClr val="FFFFFF">
              <a:alpha val="90000"/>
            </a:srgbClr>
          </a:solidFill>
          <a:ln w="25400" cap="flat" cmpd="sng">
            <a:noFill/>
            <a:prstDash val="solid"/>
            <a:round/>
          </a:ln>
        </p:spPr>
        <p:txBody>
          <a:bodyPr vert="horz" wrap="square" lIns="63500" tIns="63500" rIns="63500" bIns="63500" rtlCol="0" anchor="ctr"/>
          <a:lstStyle/>
          <a:p>
            <a:pPr algn="ctr">
              <a:defRPr/>
            </a:pPr>
          </a:p>
        </p:txBody>
      </p:sp>
      <p:sp>
        <p:nvSpPr>
          <p:cNvPr id="4" name="AutoShape 4"/>
          <p:cNvSpPr/>
          <p:nvPr/>
        </p:nvSpPr>
        <p:spPr>
          <a:xfrm>
            <a:off x="762000" y="508000"/>
            <a:ext cx="3581400" cy="571500"/>
          </a:xfrm>
          <a:prstGeom prst="rect">
            <a:avLst/>
          </a:prstGeom>
          <a:noFill/>
          <a:ln w="12700" cap="flat" cmpd="sng">
            <a:noFill/>
            <a:prstDash val="solid"/>
            <a:round/>
          </a:ln>
        </p:spPr>
        <p:txBody>
          <a:bodyPr vert="horz" wrap="none" lIns="0" tIns="0" rIns="0" bIns="0" rtlCol="0" anchor="ctr" anchorCtr="0"/>
          <a:lstStyle/>
          <a:p>
            <a:pPr indent="0" algn="l">
              <a:lnSpc>
                <a:spcPct val="125000"/>
              </a:lnSpc>
              <a:defRPr/>
            </a:pPr>
            <a:r>
              <a:rPr lang="en-US" sz="32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开发过程问题与修正</a:t>
            </a:r>
            <a:endParaRPr lang="en-US" sz="1100"/>
          </a:p>
        </p:txBody>
      </p:sp>
      <p:graphicFrame>
        <p:nvGraphicFramePr>
          <p:cNvPr id="5" name="Table 5"/>
          <p:cNvGraphicFramePr>
            <a:graphicFrameLocks noGrp="1"/>
          </p:cNvGraphicFramePr>
          <p:nvPr/>
        </p:nvGraphicFramePr>
        <p:xfrm>
          <a:off x="762000" y="1397000"/>
          <a:ext cx="10668000" cy="3175000"/>
        </p:xfrm>
        <a:graphic>
          <a:graphicData uri="http://schemas.openxmlformats.org/drawingml/2006/table">
            <a:tbl>
              <a:tblPr>
                <a:effectLst/>
              </a:tblPr>
              <a:tblGrid>
                <a:gridCol w="3048000"/>
                <a:gridCol w="2540000"/>
                <a:gridCol w="3556000"/>
                <a:gridCol w="1524000"/>
              </a:tblGrid>
              <a:tr h="508000">
                <a:tc>
                  <a:txBody>
                    <a:bodyPr rtlCol="0"/>
                    <a:lstStyle/>
                    <a:p>
                      <a:pPr indent="0" algn="ctr">
                        <a:lnSpc>
                          <a:spcPct val="100000"/>
                        </a:lnSpc>
                        <a:defRPr/>
                      </a:pPr>
                      <a:r>
                        <a:rPr lang="en-US" sz="16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问题描述</a:t>
                      </a:r>
                      <a:endParaRPr lang="en-US" sz="1100"/>
                    </a:p>
                  </a:txBody>
                  <a:tcPr marL="101600" marR="101600" marT="101600" marB="101600" anchor="t" anchorCtr="0">
                    <a:lnL>
                      <a:noFill/>
                    </a:lnL>
                    <a:lnR>
                      <a:noFill/>
                    </a:lnR>
                    <a:lnT>
                      <a:noFill/>
                    </a:lnT>
                    <a:lnB>
                      <a:noFill/>
                    </a:lnB>
                    <a:solidFill>
                      <a:srgbClr val="005A9C">
                        <a:alpha val="100000"/>
                      </a:srgbClr>
                    </a:solidFill>
                  </a:tcPr>
                </a:tc>
                <a:tc>
                  <a:txBody>
                    <a:bodyPr rtlCol="0"/>
                    <a:lstStyle/>
                    <a:p>
                      <a:pPr indent="0" algn="ctr">
                        <a:lnSpc>
                          <a:spcPct val="100000"/>
                        </a:lnSpc>
                        <a:defRPr/>
                      </a:pPr>
                      <a:r>
                        <a:rPr lang="en-US" sz="16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造成影响</a:t>
                      </a:r>
                      <a:endParaRPr lang="en-US" sz="1100"/>
                    </a:p>
                  </a:txBody>
                  <a:tcPr marL="101600" marR="101600" marT="101600" marB="101600" anchor="t" anchorCtr="0">
                    <a:lnL>
                      <a:noFill/>
                    </a:lnL>
                    <a:lnR>
                      <a:noFill/>
                    </a:lnR>
                    <a:lnT>
                      <a:noFill/>
                    </a:lnT>
                    <a:lnB>
                      <a:noFill/>
                    </a:lnB>
                    <a:solidFill>
                      <a:srgbClr val="005A9C">
                        <a:alpha val="100000"/>
                      </a:srgbClr>
                    </a:solidFill>
                  </a:tcPr>
                </a:tc>
                <a:tc>
                  <a:txBody>
                    <a:bodyPr rtlCol="0"/>
                    <a:lstStyle/>
                    <a:p>
                      <a:pPr indent="0" algn="ctr">
                        <a:lnSpc>
                          <a:spcPct val="100000"/>
                        </a:lnSpc>
                        <a:defRPr/>
                      </a:pPr>
                      <a:r>
                        <a:rPr lang="en-US" sz="16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修正措施</a:t>
                      </a:r>
                      <a:endParaRPr lang="en-US" sz="1100"/>
                    </a:p>
                  </a:txBody>
                  <a:tcPr marL="101600" marR="101600" marT="101600" marB="101600" anchor="t" anchorCtr="0">
                    <a:lnL>
                      <a:noFill/>
                    </a:lnL>
                    <a:lnR>
                      <a:noFill/>
                    </a:lnR>
                    <a:lnT>
                      <a:noFill/>
                    </a:lnT>
                    <a:lnB>
                      <a:noFill/>
                    </a:lnB>
                    <a:solidFill>
                      <a:srgbClr val="005A9C">
                        <a:alpha val="100000"/>
                      </a:srgbClr>
                    </a:solidFill>
                  </a:tcPr>
                </a:tc>
                <a:tc>
                  <a:txBody>
                    <a:bodyPr rtlCol="0"/>
                    <a:lstStyle/>
                    <a:p>
                      <a:pPr indent="0" algn="ctr">
                        <a:lnSpc>
                          <a:spcPct val="100000"/>
                        </a:lnSpc>
                        <a:defRPr/>
                      </a:pPr>
                      <a:r>
                        <a:rPr lang="en-US" sz="16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当前状态</a:t>
                      </a:r>
                      <a:endParaRPr lang="en-US" sz="1100"/>
                    </a:p>
                  </a:txBody>
                  <a:tcPr marL="101600" marR="101600" marT="101600" marB="101600" anchor="t" anchorCtr="0">
                    <a:lnL>
                      <a:noFill/>
                    </a:lnL>
                    <a:lnR>
                      <a:noFill/>
                    </a:lnR>
                    <a:lnT>
                      <a:noFill/>
                    </a:lnT>
                    <a:lnB>
                      <a:noFill/>
                    </a:lnB>
                    <a:solidFill>
                      <a:srgbClr val="005A9C">
                        <a:alpha val="100000"/>
                      </a:srgbClr>
                    </a:solidFill>
                  </a:tcPr>
                </a:tc>
              </a:tr>
              <a:tr h="889000">
                <a:tc>
                  <a:txBody>
                    <a:bodyPr rtlCol="0"/>
                    <a:lstStyle/>
                    <a:p>
                      <a:pPr indent="0" algn="ctr">
                        <a:lnSpc>
                          <a:spcPct val="100000"/>
                        </a:lnSpc>
                        <a:defRPr/>
                      </a:pPr>
                      <a:r>
                        <a:rPr lang="en-US" sz="14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文法PDF文本抽取乱码，导致规则边界不清</a:t>
                      </a:r>
                      <a:endParaRPr lang="en-US" sz="1100"/>
                    </a:p>
                  </a:txBody>
                  <a:tcPr marL="127000" marR="127000" marT="101600" marB="101600" anchor="t" anchorCtr="0">
                    <a:lnL>
                      <a:noFill/>
                    </a:lnL>
                    <a:lnR>
                      <a:noFill/>
                    </a:lnR>
                    <a:lnT>
                      <a:noFill/>
                    </a:lnT>
                    <a:lnB w="12700" cap="flat" cmpd="sng" algn="ctr">
                      <a:solidFill>
                        <a:srgbClr val="CCCCCC"/>
                      </a:solidFill>
                      <a:prstDash val="solid"/>
                      <a:round/>
                      <a:headEnd type="none" w="med" len="med"/>
                      <a:tailEnd type="none" w="med" len="med"/>
                    </a:lnB>
                    <a:solidFill>
                      <a:srgbClr val="F5F7FA">
                        <a:alpha val="100000"/>
                      </a:srgbClr>
                    </a:solidFill>
                  </a:tcPr>
                </a:tc>
                <a:tc>
                  <a:txBody>
                    <a:bodyPr rtlCol="0"/>
                    <a:lstStyle/>
                    <a:p>
                      <a:pPr indent="0" algn="ctr">
                        <a:lnSpc>
                          <a:spcPct val="100000"/>
                        </a:lnSpc>
                        <a:defRPr/>
                      </a:pPr>
                      <a:r>
                        <a:rPr lang="en-US" sz="14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影响词法规则的准确定义与解析精度</a:t>
                      </a:r>
                      <a:endParaRPr lang="en-US" sz="1100"/>
                    </a:p>
                  </a:txBody>
                  <a:tcPr marL="127000" marR="127000" marT="101600" marB="101600" anchor="t" anchorCtr="0">
                    <a:lnL>
                      <a:noFill/>
                    </a:lnL>
                    <a:lnR>
                      <a:noFill/>
                    </a:lnR>
                    <a:lnT>
                      <a:noFill/>
                    </a:lnT>
                    <a:lnB w="12700" cap="flat" cmpd="sng" algn="ctr">
                      <a:solidFill>
                        <a:srgbClr val="CCCCCC"/>
                      </a:solidFill>
                      <a:prstDash val="solid"/>
                      <a:round/>
                      <a:headEnd type="none" w="med" len="med"/>
                      <a:tailEnd type="none" w="med" len="med"/>
                    </a:lnB>
                    <a:solidFill>
                      <a:srgbClr val="F5F7FA">
                        <a:alpha val="100000"/>
                      </a:srgbClr>
                    </a:solidFill>
                  </a:tcPr>
                </a:tc>
                <a:tc>
                  <a:txBody>
                    <a:bodyPr rtlCol="0"/>
                    <a:lstStyle/>
                    <a:p>
                      <a:pPr indent="0" algn="ctr">
                        <a:lnSpc>
                          <a:spcPct val="100000"/>
                        </a:lnSpc>
                        <a:defRPr/>
                      </a:pPr>
                      <a:r>
                        <a:rPr lang="en-US" sz="14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手动校对文本并冻结统一的文法口径文档</a:t>
                      </a:r>
                      <a:endParaRPr lang="en-US" sz="1100"/>
                    </a:p>
                  </a:txBody>
                  <a:tcPr marL="127000" marR="127000" marT="101600" marB="101600" anchor="t" anchorCtr="0">
                    <a:lnL>
                      <a:noFill/>
                    </a:lnL>
                    <a:lnR>
                      <a:noFill/>
                    </a:lnR>
                    <a:lnT>
                      <a:noFill/>
                    </a:lnT>
                    <a:lnB w="12700" cap="flat" cmpd="sng" algn="ctr">
                      <a:solidFill>
                        <a:srgbClr val="CCCCCC"/>
                      </a:solidFill>
                      <a:prstDash val="solid"/>
                      <a:round/>
                      <a:headEnd type="none" w="med" len="med"/>
                      <a:tailEnd type="none" w="med" len="med"/>
                    </a:lnB>
                    <a:solidFill>
                      <a:srgbClr val="F5F7FA">
                        <a:alpha val="100000"/>
                      </a:srgbClr>
                    </a:solidFill>
                  </a:tcPr>
                </a:tc>
                <a:tc>
                  <a:txBody>
                    <a:bodyPr rtlCol="0"/>
                    <a:lstStyle/>
                    <a:p>
                      <a:pPr indent="0" algn="ctr">
                        <a:lnSpc>
                          <a:spcPct val="100000"/>
                        </a:lnSpc>
                        <a:defRPr/>
                      </a:pPr>
                      <a:r>
                        <a:rPr lang="en-US" sz="1400" b="1" i="0" u="none" strike="noStrike">
                          <a:solidFill>
                            <a:srgbClr val="005A9C"/>
                          </a:solidFill>
                          <a:latin typeface="Noto Sans SC" panose="020B0200000000000000" charset="-122"/>
                          <a:ea typeface="Noto Sans SC" panose="020B0200000000000000" charset="-122"/>
                          <a:cs typeface="Noto Sans SC" panose="020B0200000000000000" charset="-122"/>
                          <a:sym typeface="Noto Sans SC" panose="020B0200000000000000" charset="-122"/>
                        </a:rPr>
                        <a:t>已解决</a:t>
                      </a:r>
                      <a:endParaRPr lang="en-US" sz="1100"/>
                    </a:p>
                  </a:txBody>
                  <a:tcPr marL="101600" marR="101600" marT="101600" marB="101600" anchor="t" anchorCtr="0">
                    <a:lnL>
                      <a:noFill/>
                    </a:lnL>
                    <a:lnR>
                      <a:noFill/>
                    </a:lnR>
                    <a:lnT>
                      <a:noFill/>
                    </a:lnT>
                    <a:lnB w="12700" cap="flat" cmpd="sng" algn="ctr">
                      <a:solidFill>
                        <a:srgbClr val="CCCCCC"/>
                      </a:solidFill>
                      <a:prstDash val="solid"/>
                      <a:round/>
                      <a:headEnd type="none" w="med" len="med"/>
                      <a:tailEnd type="none" w="med" len="med"/>
                    </a:lnB>
                    <a:solidFill>
                      <a:srgbClr val="F5F7FA">
                        <a:alpha val="100000"/>
                      </a:srgbClr>
                    </a:solidFill>
                  </a:tcPr>
                </a:tc>
              </a:tr>
              <a:tr h="889000">
                <a:tc>
                  <a:txBody>
                    <a:bodyPr rtlCol="0"/>
                    <a:lstStyle/>
                    <a:p>
                      <a:pPr indent="0" algn="ctr">
                        <a:lnSpc>
                          <a:spcPct val="100000"/>
                        </a:lnSpc>
                        <a:defRPr/>
                      </a:pPr>
                      <a:r>
                        <a:rPr lang="en-US" sz="14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关键字边界规则在团队内部存在误解</a:t>
                      </a:r>
                      <a:endParaRPr lang="en-US" sz="1100"/>
                    </a:p>
                  </a:txBody>
                  <a:tcPr marL="127000" marR="127000" marT="101600" marB="101600" anchor="t" anchorCtr="0">
                    <a:lnL>
                      <a:noFill/>
                    </a:lnL>
                    <a:lnR>
                      <a:noFill/>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alpha val="100000"/>
                      </a:srgbClr>
                    </a:solidFill>
                  </a:tcPr>
                </a:tc>
                <a:tc>
                  <a:txBody>
                    <a:bodyPr rtlCol="0"/>
                    <a:lstStyle/>
                    <a:p>
                      <a:pPr indent="0" algn="ctr">
                        <a:lnSpc>
                          <a:spcPct val="100000"/>
                        </a:lnSpc>
                        <a:defRPr/>
                      </a:pPr>
                      <a:r>
                        <a:rPr lang="en-US" sz="14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可能导致词法识别错误，影响代码质量</a:t>
                      </a:r>
                      <a:endParaRPr lang="en-US" sz="1100"/>
                    </a:p>
                  </a:txBody>
                  <a:tcPr marL="127000" marR="127000" marT="101600" marB="101600" anchor="t" anchorCtr="0">
                    <a:lnL>
                      <a:noFill/>
                    </a:lnL>
                    <a:lnR>
                      <a:noFill/>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alpha val="100000"/>
                      </a:srgbClr>
                    </a:solidFill>
                  </a:tcPr>
                </a:tc>
                <a:tc>
                  <a:txBody>
                    <a:bodyPr rtlCol="0"/>
                    <a:lstStyle/>
                    <a:p>
                      <a:pPr indent="0" algn="ctr">
                        <a:lnSpc>
                          <a:spcPct val="100000"/>
                        </a:lnSpc>
                        <a:defRPr/>
                      </a:pPr>
                      <a:r>
                        <a:rPr lang="en-US" sz="14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将规则明确化，并纳入错误码策略（E108）</a:t>
                      </a:r>
                      <a:endParaRPr lang="en-US" sz="1100"/>
                    </a:p>
                  </a:txBody>
                  <a:tcPr marL="127000" marR="127000" marT="101600" marB="101600" anchor="t" anchorCtr="0">
                    <a:lnL>
                      <a:noFill/>
                    </a:lnL>
                    <a:lnR>
                      <a:noFill/>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alpha val="100000"/>
                      </a:srgbClr>
                    </a:solidFill>
                  </a:tcPr>
                </a:tc>
                <a:tc>
                  <a:txBody>
                    <a:bodyPr rtlCol="0"/>
                    <a:lstStyle/>
                    <a:p>
                      <a:pPr indent="0" algn="ctr">
                        <a:lnSpc>
                          <a:spcPct val="100000"/>
                        </a:lnSpc>
                        <a:defRPr/>
                      </a:pPr>
                      <a:r>
                        <a:rPr lang="en-US" sz="1400" b="1" i="0" u="none" strike="noStrike">
                          <a:solidFill>
                            <a:srgbClr val="005A9C"/>
                          </a:solidFill>
                          <a:latin typeface="Noto Sans SC" panose="020B0200000000000000" charset="-122"/>
                          <a:ea typeface="Noto Sans SC" panose="020B0200000000000000" charset="-122"/>
                          <a:cs typeface="Noto Sans SC" panose="020B0200000000000000" charset="-122"/>
                          <a:sym typeface="Noto Sans SC" panose="020B0200000000000000" charset="-122"/>
                        </a:rPr>
                        <a:t>已解决</a:t>
                      </a:r>
                      <a:endParaRPr lang="en-US" sz="1100"/>
                    </a:p>
                  </a:txBody>
                  <a:tcPr marL="101600" marR="101600" marT="101600" marB="101600" anchor="t" anchorCtr="0">
                    <a:lnL>
                      <a:noFill/>
                    </a:lnL>
                    <a:lnR>
                      <a:noFill/>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alpha val="100000"/>
                      </a:srgbClr>
                    </a:solidFill>
                  </a:tcPr>
                </a:tc>
              </a:tr>
              <a:tr h="889000">
                <a:tc>
                  <a:txBody>
                    <a:bodyPr rtlCol="0"/>
                    <a:lstStyle/>
                    <a:p>
                      <a:pPr indent="0" algn="ctr">
                        <a:lnSpc>
                          <a:spcPct val="100000"/>
                        </a:lnSpc>
                        <a:defRPr/>
                      </a:pPr>
                      <a:r>
                        <a:rPr lang="en-US" sz="14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Git推送配置混乱，导致代码合并冲突</a:t>
                      </a:r>
                      <a:endParaRPr lang="en-US" sz="1100"/>
                    </a:p>
                  </a:txBody>
                  <a:tcPr marL="127000" marR="127000" marT="101600" marB="101600" anchor="t" anchorCtr="0">
                    <a:lnL>
                      <a:noFill/>
                    </a:lnL>
                    <a:lnR>
                      <a:noFill/>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5F7FA">
                        <a:alpha val="100000"/>
                      </a:srgbClr>
                    </a:solidFill>
                  </a:tcPr>
                </a:tc>
                <a:tc>
                  <a:txBody>
                    <a:bodyPr rtlCol="0"/>
                    <a:lstStyle/>
                    <a:p>
                      <a:pPr indent="0" algn="ctr">
                        <a:lnSpc>
                          <a:spcPct val="100000"/>
                        </a:lnSpc>
                        <a:defRPr/>
                      </a:pPr>
                      <a:r>
                        <a:rPr lang="en-US" sz="14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影响团队协作效率，增加代码回滚风险</a:t>
                      </a:r>
                      <a:endParaRPr lang="en-US" sz="1100"/>
                    </a:p>
                  </a:txBody>
                  <a:tcPr marL="127000" marR="127000" marT="101600" marB="101600" anchor="t" anchorCtr="0">
                    <a:lnL>
                      <a:noFill/>
                    </a:lnL>
                    <a:lnR>
                      <a:noFill/>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5F7FA">
                        <a:alpha val="100000"/>
                      </a:srgbClr>
                    </a:solidFill>
                  </a:tcPr>
                </a:tc>
                <a:tc>
                  <a:txBody>
                    <a:bodyPr rtlCol="0"/>
                    <a:lstStyle/>
                    <a:p>
                      <a:pPr indent="0" algn="ctr">
                        <a:lnSpc>
                          <a:spcPct val="100000"/>
                        </a:lnSpc>
                        <a:defRPr/>
                      </a:pPr>
                      <a:r>
                        <a:rPr lang="en-US" sz="14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定位根因并形成标准的Git配置指南</a:t>
                      </a:r>
                      <a:endParaRPr lang="en-US" sz="1100"/>
                    </a:p>
                  </a:txBody>
                  <a:tcPr marL="127000" marR="127000" marT="101600" marB="101600" anchor="t" anchorCtr="0">
                    <a:lnL>
                      <a:noFill/>
                    </a:lnL>
                    <a:lnR>
                      <a:noFill/>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5F7FA">
                        <a:alpha val="100000"/>
                      </a:srgbClr>
                    </a:solidFill>
                  </a:tcPr>
                </a:tc>
                <a:tc>
                  <a:txBody>
                    <a:bodyPr rtlCol="0"/>
                    <a:lstStyle/>
                    <a:p>
                      <a:pPr indent="0" algn="ctr">
                        <a:lnSpc>
                          <a:spcPct val="100000"/>
                        </a:lnSpc>
                        <a:defRPr/>
                      </a:pPr>
                      <a:r>
                        <a:rPr lang="en-US" sz="1400" b="1" i="0" u="none" strike="noStrike">
                          <a:solidFill>
                            <a:srgbClr val="005A9C"/>
                          </a:solidFill>
                          <a:latin typeface="Noto Sans SC" panose="020B0200000000000000" charset="-122"/>
                          <a:ea typeface="Noto Sans SC" panose="020B0200000000000000" charset="-122"/>
                          <a:cs typeface="Noto Sans SC" panose="020B0200000000000000" charset="-122"/>
                          <a:sym typeface="Noto Sans SC" panose="020B0200000000000000" charset="-122"/>
                        </a:rPr>
                        <a:t>已解决</a:t>
                      </a:r>
                      <a:endParaRPr lang="en-US" sz="1100"/>
                    </a:p>
                  </a:txBody>
                  <a:tcPr marL="101600" marR="101600" marT="101600" marB="101600" anchor="t" anchorCtr="0">
                    <a:lnL>
                      <a:noFill/>
                    </a:lnL>
                    <a:lnR>
                      <a:noFill/>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5F7FA">
                        <a:alpha val="100000"/>
                      </a:srgbClr>
                    </a:solidFill>
                  </a:tcPr>
                </a:tc>
              </a:tr>
            </a:tbl>
          </a:graphicData>
        </a:graphic>
      </p:graphicFrame>
      <p:sp>
        <p:nvSpPr>
          <p:cNvPr id="6" name="AutoShape 6"/>
          <p:cNvSpPr/>
          <p:nvPr/>
        </p:nvSpPr>
        <p:spPr>
          <a:xfrm>
            <a:off x="762000" y="5842000"/>
            <a:ext cx="10668000" cy="508000"/>
          </a:xfrm>
          <a:prstGeom prst="roundRect">
            <a:avLst>
              <a:gd name="adj" fmla="val 25000"/>
            </a:avLst>
          </a:prstGeom>
          <a:solidFill>
            <a:srgbClr val="005A9C">
              <a:alpha val="10000"/>
            </a:srgbClr>
          </a:solidFill>
          <a:ln w="12700" cap="flat" cmpd="sng">
            <a:solidFill>
              <a:srgbClr val="005A9C">
                <a:alpha val="100000"/>
              </a:srgbClr>
            </a:solidFill>
            <a:prstDash val="solid"/>
            <a:round/>
          </a:ln>
        </p:spPr>
        <p:txBody>
          <a:bodyPr vert="horz" wrap="square" lIns="0" tIns="0" rIns="0" bIns="0" rtlCol="0" anchor="ctr" anchorCtr="0"/>
          <a:lstStyle/>
          <a:p>
            <a:pPr indent="0" algn="ctr">
              <a:lnSpc>
                <a:spcPct val="125000"/>
              </a:lnSpc>
              <a:defRPr/>
            </a:pPr>
            <a:r>
              <a:rPr lang="en-US" sz="1600" b="1" i="0" u="none" strike="noStrike">
                <a:solidFill>
                  <a:srgbClr val="005A9C"/>
                </a:solidFill>
                <a:latin typeface="Noto Sans SC" panose="020B0200000000000000" charset="-122"/>
                <a:ea typeface="Noto Sans SC" panose="020B0200000000000000" charset="-122"/>
                <a:cs typeface="Noto Sans SC" panose="020B0200000000000000" charset="-122"/>
                <a:sym typeface="Noto Sans SC" panose="020B0200000000000000" charset="-122"/>
              </a:rPr>
              <a:t>总结：所有问题均已得到有效解决，不会对后续M3阶段的开发造成影响。</a:t>
            </a:r>
            <a:endParaRPr lang="en-US" sz="110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5F7FA">
            <a:alpha val="100000"/>
          </a:srgbClr>
        </a:solidFill>
        <a:effectLst/>
      </p:bgPr>
    </p:bg>
    <p:spTree>
      <p:nvGrpSpPr>
        <p:cNvPr id="1" name=""/>
        <p:cNvGrpSpPr/>
        <p:nvPr/>
      </p:nvGrpSpPr>
      <p:grpSpPr>
        <a:xfrm>
          <a:off x="0" y="0"/>
          <a:ext cx="0" cy="0"/>
          <a:chOff x="0" y="0"/>
          <a:chExt cx="0" cy="0"/>
        </a:xfrm>
      </p:grpSpPr>
      <p:pic>
        <p:nvPicPr>
          <p:cNvPr id="2" name="Picture 2"/>
          <p:cNvPicPr>
            <a:picLocks noChangeAspect="1"/>
          </p:cNvPicPr>
          <p:nvPr/>
        </p:nvPicPr>
        <p:blipFill>
          <a:blip r:embed="rId1"/>
          <a:srcRect/>
          <a:stretch>
            <a:fillRect/>
          </a:stretch>
        </p:blipFill>
        <p:spPr>
          <a:xfrm>
            <a:off x="0" y="0"/>
            <a:ext cx="12192000" cy="6858000"/>
          </a:xfrm>
          <a:prstGeom prst="rect">
            <a:avLst/>
          </a:prstGeom>
          <a:noFill/>
          <a:ln w="25400" cap="flat" cmpd="sng">
            <a:noFill/>
            <a:prstDash val="solid"/>
            <a:round/>
          </a:ln>
        </p:spPr>
      </p:pic>
      <p:sp>
        <p:nvSpPr>
          <p:cNvPr id="3" name="AutoShape 3"/>
          <p:cNvSpPr/>
          <p:nvPr/>
        </p:nvSpPr>
        <p:spPr>
          <a:xfrm>
            <a:off x="0" y="0"/>
            <a:ext cx="12192000" cy="6858000"/>
          </a:xfrm>
          <a:prstGeom prst="roundRect">
            <a:avLst>
              <a:gd name="adj" fmla="val 0"/>
            </a:avLst>
          </a:prstGeom>
          <a:solidFill>
            <a:srgbClr val="FFFFFF">
              <a:alpha val="90000"/>
            </a:srgbClr>
          </a:solidFill>
          <a:ln w="25400" cap="flat" cmpd="sng">
            <a:noFill/>
            <a:prstDash val="solid"/>
            <a:round/>
          </a:ln>
        </p:spPr>
        <p:txBody>
          <a:bodyPr vert="horz" wrap="square" lIns="63500" tIns="63500" rIns="63500" bIns="63500" rtlCol="0" anchor="ctr"/>
          <a:lstStyle/>
          <a:p>
            <a:pPr algn="ctr">
              <a:defRPr/>
            </a:pPr>
          </a:p>
        </p:txBody>
      </p:sp>
      <p:sp>
        <p:nvSpPr>
          <p:cNvPr id="4" name="AutoShape 4"/>
          <p:cNvSpPr/>
          <p:nvPr/>
        </p:nvSpPr>
        <p:spPr>
          <a:xfrm>
            <a:off x="762000" y="508000"/>
            <a:ext cx="2679700" cy="508000"/>
          </a:xfrm>
          <a:prstGeom prst="rect">
            <a:avLst/>
          </a:prstGeom>
          <a:noFill/>
          <a:ln w="12700" cap="flat" cmpd="sng">
            <a:noFill/>
            <a:prstDash val="solid"/>
            <a:round/>
          </a:ln>
        </p:spPr>
        <p:txBody>
          <a:bodyPr vert="horz" wrap="none" lIns="0" tIns="0" rIns="0" bIns="0" rtlCol="0" anchor="ctr" anchorCtr="0"/>
          <a:lstStyle/>
          <a:p>
            <a:pPr indent="0" algn="l">
              <a:lnSpc>
                <a:spcPct val="125000"/>
              </a:lnSpc>
              <a:defRPr/>
            </a:pPr>
            <a:r>
              <a:rPr lang="en-US" sz="32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M3 具体计划</a:t>
            </a:r>
            <a:endParaRPr lang="en-US" sz="1100"/>
          </a:p>
        </p:txBody>
      </p:sp>
      <p:sp>
        <p:nvSpPr>
          <p:cNvPr id="5" name="AutoShape 5"/>
          <p:cNvSpPr/>
          <p:nvPr/>
        </p:nvSpPr>
        <p:spPr>
          <a:xfrm>
            <a:off x="762000" y="1079500"/>
            <a:ext cx="762000" cy="50800"/>
          </a:xfrm>
          <a:prstGeom prst="roundRect">
            <a:avLst>
              <a:gd name="adj" fmla="val 0"/>
            </a:avLst>
          </a:prstGeom>
          <a:solidFill>
            <a:srgbClr val="005A9C">
              <a:alpha val="100000"/>
            </a:srgbClr>
          </a:solidFill>
          <a:ln w="25400" cap="flat" cmpd="sng">
            <a:noFill/>
            <a:prstDash val="solid"/>
            <a:round/>
          </a:ln>
        </p:spPr>
        <p:txBody>
          <a:bodyPr vert="horz" wrap="square" lIns="63500" tIns="63500" rIns="63500" bIns="63500" rtlCol="0" anchor="ctr"/>
          <a:lstStyle/>
          <a:p>
            <a:pPr algn="ctr">
              <a:defRPr/>
            </a:pPr>
          </a:p>
        </p:txBody>
      </p:sp>
      <p:sp>
        <p:nvSpPr>
          <p:cNvPr id="6" name="AutoShape 6"/>
          <p:cNvSpPr/>
          <p:nvPr/>
        </p:nvSpPr>
        <p:spPr>
          <a:xfrm>
            <a:off x="762000" y="1397000"/>
            <a:ext cx="5207000" cy="1270000"/>
          </a:xfrm>
          <a:prstGeom prst="roundRect">
            <a:avLst>
              <a:gd name="adj" fmla="val 10000"/>
            </a:avLst>
          </a:prstGeom>
          <a:solidFill>
            <a:srgbClr val="FFFFFF">
              <a:alpha val="100000"/>
            </a:srgbClr>
          </a:solidFill>
          <a:ln w="25400" cap="flat" cmpd="sng">
            <a:noFill/>
            <a:prstDash val="solid"/>
            <a:round/>
          </a:ln>
          <a:effectLst>
            <a:outerShdw blurRad="127000" dist="50800" dir="5400000" algn="tl" rotWithShape="0">
              <a:srgbClr val="000000">
                <a:alpha val="8000"/>
              </a:srgbClr>
            </a:outerShdw>
          </a:effectLst>
        </p:spPr>
        <p:txBody>
          <a:bodyPr vert="horz" wrap="square" lIns="63500" tIns="63500" rIns="63500" bIns="63500" rtlCol="0" anchor="ctr"/>
          <a:lstStyle/>
          <a:p>
            <a:pPr algn="ctr">
              <a:defRPr/>
            </a:pPr>
          </a:p>
        </p:txBody>
      </p:sp>
      <p:pic>
        <p:nvPicPr>
          <p:cNvPr id="7" name="Picture 7"/>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016000" y="1587500"/>
            <a:ext cx="406400" cy="406400"/>
          </a:xfrm>
          <a:prstGeom prst="rect">
            <a:avLst/>
          </a:prstGeom>
        </p:spPr>
      </p:pic>
      <p:sp>
        <p:nvSpPr>
          <p:cNvPr id="8" name="AutoShape 8"/>
          <p:cNvSpPr/>
          <p:nvPr/>
        </p:nvSpPr>
        <p:spPr>
          <a:xfrm>
            <a:off x="1524000" y="1549400"/>
            <a:ext cx="4191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005A9C"/>
                </a:solidFill>
                <a:latin typeface="Noto Sans SC" panose="020B0200000000000000" charset="-122"/>
                <a:ea typeface="Noto Sans SC" panose="020B0200000000000000" charset="-122"/>
                <a:cs typeface="Noto Sans SC" panose="020B0200000000000000" charset="-122"/>
                <a:sym typeface="Noto Sans SC" panose="020B0200000000000000" charset="-122"/>
              </a:rPr>
              <a:t>T-013: 文法规则落地与冲突检查</a:t>
            </a:r>
            <a:endParaRPr lang="en-US" sz="1100"/>
          </a:p>
        </p:txBody>
      </p:sp>
      <p:sp>
        <p:nvSpPr>
          <p:cNvPr id="9" name="AutoShape 9"/>
          <p:cNvSpPr/>
          <p:nvPr/>
        </p:nvSpPr>
        <p:spPr>
          <a:xfrm>
            <a:off x="1524000" y="1905000"/>
            <a:ext cx="4191000" cy="609600"/>
          </a:xfrm>
          <a:prstGeom prst="rect">
            <a:avLst/>
          </a:prstGeom>
          <a:noFill/>
          <a:ln w="12700" cap="flat" cmpd="sng">
            <a:noFill/>
            <a:prstDash val="solid"/>
            <a:round/>
          </a:ln>
        </p:spPr>
        <p:txBody>
          <a:bodyPr vert="horz" wrap="square" lIns="0" tIns="0" rIns="0" bIns="0" rtlCol="0" anchor="ctr" anchorCtr="0"/>
          <a:lstStyle/>
          <a:p>
            <a:pPr indent="0" algn="l">
              <a:lnSpc>
                <a:spcPct val="100000"/>
              </a:lnSpc>
              <a:defRPr/>
            </a:pPr>
            <a:r>
              <a:rPr lang="en-US" sz="12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将Pascal-S文法规则转换为YACC/Bison的语法文件，并解决潜在的移进-归约冲突。</a:t>
            </a:r>
            <a:endParaRPr lang="en-US" sz="1100"/>
          </a:p>
        </p:txBody>
      </p:sp>
      <p:sp>
        <p:nvSpPr>
          <p:cNvPr id="10" name="AutoShape 10"/>
          <p:cNvSpPr/>
          <p:nvPr/>
        </p:nvSpPr>
        <p:spPr>
          <a:xfrm>
            <a:off x="6223000" y="1397000"/>
            <a:ext cx="5207000" cy="1270000"/>
          </a:xfrm>
          <a:prstGeom prst="roundRect">
            <a:avLst>
              <a:gd name="adj" fmla="val 10000"/>
            </a:avLst>
          </a:prstGeom>
          <a:solidFill>
            <a:srgbClr val="FFFFFF">
              <a:alpha val="100000"/>
            </a:srgbClr>
          </a:solidFill>
          <a:ln w="25400" cap="flat" cmpd="sng">
            <a:noFill/>
            <a:prstDash val="solid"/>
            <a:round/>
          </a:ln>
          <a:effectLst>
            <a:outerShdw blurRad="127000" dist="50800" dir="5400000" algn="tl" rotWithShape="0">
              <a:srgbClr val="000000">
                <a:alpha val="8000"/>
              </a:srgbClr>
            </a:outerShdw>
          </a:effectLst>
        </p:spPr>
        <p:txBody>
          <a:bodyPr vert="horz" wrap="square" lIns="63500" tIns="63500" rIns="63500" bIns="63500" rtlCol="0" anchor="ctr"/>
          <a:lstStyle/>
          <a:p>
            <a:pPr algn="ctr">
              <a:defRPr/>
            </a:pPr>
          </a:p>
        </p:txBody>
      </p:sp>
      <p:pic>
        <p:nvPicPr>
          <p:cNvPr id="11" name="Picture 11"/>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6477000" y="1587500"/>
            <a:ext cx="406400" cy="406400"/>
          </a:xfrm>
          <a:prstGeom prst="rect">
            <a:avLst/>
          </a:prstGeom>
        </p:spPr>
      </p:pic>
      <p:sp>
        <p:nvSpPr>
          <p:cNvPr id="12" name="AutoShape 12"/>
          <p:cNvSpPr/>
          <p:nvPr/>
        </p:nvSpPr>
        <p:spPr>
          <a:xfrm>
            <a:off x="6985000" y="1549400"/>
            <a:ext cx="4191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005A9C"/>
                </a:solidFill>
                <a:latin typeface="Noto Sans SC" panose="020B0200000000000000" charset="-122"/>
                <a:ea typeface="Noto Sans SC" panose="020B0200000000000000" charset="-122"/>
                <a:cs typeface="Noto Sans SC" panose="020B0200000000000000" charset="-122"/>
                <a:sym typeface="Noto Sans SC" panose="020B0200000000000000" charset="-122"/>
              </a:rPr>
              <a:t>T-014: 接入YACC/Bison，打通主流程</a:t>
            </a:r>
            <a:endParaRPr lang="en-US" sz="1100"/>
          </a:p>
        </p:txBody>
      </p:sp>
      <p:sp>
        <p:nvSpPr>
          <p:cNvPr id="13" name="AutoShape 13"/>
          <p:cNvSpPr/>
          <p:nvPr/>
        </p:nvSpPr>
        <p:spPr>
          <a:xfrm>
            <a:off x="6985000" y="1905000"/>
            <a:ext cx="4191000" cy="609600"/>
          </a:xfrm>
          <a:prstGeom prst="rect">
            <a:avLst/>
          </a:prstGeom>
          <a:noFill/>
          <a:ln w="12700" cap="flat" cmpd="sng">
            <a:noFill/>
            <a:prstDash val="solid"/>
            <a:round/>
          </a:ln>
        </p:spPr>
        <p:txBody>
          <a:bodyPr vert="horz" wrap="square" lIns="0" tIns="0" rIns="0" bIns="0" rtlCol="0" anchor="ctr" anchorCtr="0"/>
          <a:lstStyle/>
          <a:p>
            <a:pPr indent="0" algn="l">
              <a:lnSpc>
                <a:spcPct val="100000"/>
              </a:lnSpc>
              <a:defRPr/>
            </a:pPr>
            <a:r>
              <a:rPr lang="en-US" sz="12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将词法分析器与语法分析器对接，实现从Token流到语法树的构建。</a:t>
            </a:r>
            <a:endParaRPr lang="en-US" sz="1100"/>
          </a:p>
        </p:txBody>
      </p:sp>
      <p:sp>
        <p:nvSpPr>
          <p:cNvPr id="14" name="AutoShape 14"/>
          <p:cNvSpPr/>
          <p:nvPr/>
        </p:nvSpPr>
        <p:spPr>
          <a:xfrm>
            <a:off x="762000" y="2857500"/>
            <a:ext cx="5207000" cy="1270000"/>
          </a:xfrm>
          <a:prstGeom prst="roundRect">
            <a:avLst>
              <a:gd name="adj" fmla="val 10000"/>
            </a:avLst>
          </a:prstGeom>
          <a:solidFill>
            <a:srgbClr val="FFFFFF">
              <a:alpha val="100000"/>
            </a:srgbClr>
          </a:solidFill>
          <a:ln w="25400" cap="flat" cmpd="sng">
            <a:noFill/>
            <a:prstDash val="solid"/>
            <a:round/>
          </a:ln>
          <a:effectLst>
            <a:outerShdw blurRad="127000" dist="50800" dir="5400000" algn="tl" rotWithShape="0">
              <a:srgbClr val="000000">
                <a:alpha val="8000"/>
              </a:srgbClr>
            </a:outerShdw>
          </a:effectLst>
        </p:spPr>
        <p:txBody>
          <a:bodyPr vert="horz" wrap="square" lIns="63500" tIns="63500" rIns="63500" bIns="63500" rtlCol="0" anchor="ctr"/>
          <a:lstStyle/>
          <a:p>
            <a:pPr algn="ctr">
              <a:defRPr/>
            </a:pPr>
          </a:p>
        </p:txBody>
      </p:sp>
      <p:pic>
        <p:nvPicPr>
          <p:cNvPr id="15" name="Picture 15"/>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1016000" y="3048000"/>
            <a:ext cx="406400" cy="406400"/>
          </a:xfrm>
          <a:prstGeom prst="rect">
            <a:avLst/>
          </a:prstGeom>
        </p:spPr>
      </p:pic>
      <p:sp>
        <p:nvSpPr>
          <p:cNvPr id="16" name="AutoShape 16"/>
          <p:cNvSpPr/>
          <p:nvPr/>
        </p:nvSpPr>
        <p:spPr>
          <a:xfrm>
            <a:off x="1524000" y="3009900"/>
            <a:ext cx="4191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005A9C"/>
                </a:solidFill>
                <a:latin typeface="Noto Sans SC" panose="020B0200000000000000" charset="-122"/>
                <a:ea typeface="Noto Sans SC" panose="020B0200000000000000" charset="-122"/>
                <a:cs typeface="Noto Sans SC" panose="020B0200000000000000" charset="-122"/>
                <a:sym typeface="Noto Sans SC" panose="020B0200000000000000" charset="-122"/>
              </a:rPr>
              <a:t>T-016: 语法错误恢复 (Panic Mode)</a:t>
            </a:r>
            <a:endParaRPr lang="en-US" sz="1100"/>
          </a:p>
        </p:txBody>
      </p:sp>
      <p:sp>
        <p:nvSpPr>
          <p:cNvPr id="17" name="AutoShape 17"/>
          <p:cNvSpPr/>
          <p:nvPr/>
        </p:nvSpPr>
        <p:spPr>
          <a:xfrm>
            <a:off x="1524000" y="3365500"/>
            <a:ext cx="4191000" cy="609600"/>
          </a:xfrm>
          <a:prstGeom prst="rect">
            <a:avLst/>
          </a:prstGeom>
          <a:noFill/>
          <a:ln w="12700" cap="flat" cmpd="sng">
            <a:noFill/>
            <a:prstDash val="solid"/>
            <a:round/>
          </a:ln>
        </p:spPr>
        <p:txBody>
          <a:bodyPr vert="horz" wrap="square" lIns="0" tIns="0" rIns="0" bIns="0" rtlCol="0" anchor="ctr" anchorCtr="0"/>
          <a:lstStyle/>
          <a:p>
            <a:pPr indent="0" algn="l">
              <a:lnSpc>
                <a:spcPct val="100000"/>
              </a:lnSpc>
              <a:defRPr/>
            </a:pPr>
            <a:r>
              <a:rPr lang="en-US" sz="12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实现基础的语法错误恢复机制，使编译器在遇到错误时能够尝试继续分析。</a:t>
            </a:r>
            <a:endParaRPr lang="en-US" sz="1100"/>
          </a:p>
        </p:txBody>
      </p:sp>
      <p:sp>
        <p:nvSpPr>
          <p:cNvPr id="18" name="AutoShape 18"/>
          <p:cNvSpPr/>
          <p:nvPr/>
        </p:nvSpPr>
        <p:spPr>
          <a:xfrm>
            <a:off x="6223000" y="2857500"/>
            <a:ext cx="5207000" cy="1270000"/>
          </a:xfrm>
          <a:prstGeom prst="roundRect">
            <a:avLst>
              <a:gd name="adj" fmla="val 10000"/>
            </a:avLst>
          </a:prstGeom>
          <a:solidFill>
            <a:srgbClr val="FFFFFF">
              <a:alpha val="100000"/>
            </a:srgbClr>
          </a:solidFill>
          <a:ln w="25400" cap="flat" cmpd="sng">
            <a:noFill/>
            <a:prstDash val="solid"/>
            <a:round/>
          </a:ln>
          <a:effectLst>
            <a:outerShdw blurRad="127000" dist="50800" dir="5400000" algn="tl" rotWithShape="0">
              <a:srgbClr val="000000">
                <a:alpha val="8000"/>
              </a:srgbClr>
            </a:outerShdw>
          </a:effectLst>
        </p:spPr>
        <p:txBody>
          <a:bodyPr vert="horz" wrap="square" lIns="63500" tIns="63500" rIns="63500" bIns="63500" rtlCol="0" anchor="ctr"/>
          <a:lstStyle/>
          <a:p>
            <a:pPr algn="ctr">
              <a:defRPr/>
            </a:pPr>
          </a:p>
        </p:txBody>
      </p:sp>
      <p:pic>
        <p:nvPicPr>
          <p:cNvPr id="19" name="Picture 19"/>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6477000" y="3048000"/>
            <a:ext cx="406400" cy="406400"/>
          </a:xfrm>
          <a:prstGeom prst="rect">
            <a:avLst/>
          </a:prstGeom>
        </p:spPr>
      </p:pic>
      <p:sp>
        <p:nvSpPr>
          <p:cNvPr id="20" name="AutoShape 20"/>
          <p:cNvSpPr/>
          <p:nvPr/>
        </p:nvSpPr>
        <p:spPr>
          <a:xfrm>
            <a:off x="6985000" y="3009900"/>
            <a:ext cx="4191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005A9C"/>
                </a:solidFill>
                <a:latin typeface="Noto Sans SC" panose="020B0200000000000000" charset="-122"/>
                <a:ea typeface="Noto Sans SC" panose="020B0200000000000000" charset="-122"/>
                <a:cs typeface="Noto Sans SC" panose="020B0200000000000000" charset="-122"/>
                <a:sym typeface="Noto Sans SC" panose="020B0200000000000000" charset="-122"/>
              </a:rPr>
              <a:t>T-017: 语法层测试集和回归脚本</a:t>
            </a:r>
            <a:endParaRPr lang="en-US" sz="1100"/>
          </a:p>
        </p:txBody>
      </p:sp>
      <p:sp>
        <p:nvSpPr>
          <p:cNvPr id="21" name="AutoShape 21"/>
          <p:cNvSpPr/>
          <p:nvPr/>
        </p:nvSpPr>
        <p:spPr>
          <a:xfrm>
            <a:off x="6985000" y="3365500"/>
            <a:ext cx="4191000" cy="609600"/>
          </a:xfrm>
          <a:prstGeom prst="rect">
            <a:avLst/>
          </a:prstGeom>
          <a:noFill/>
          <a:ln w="12700" cap="flat" cmpd="sng">
            <a:noFill/>
            <a:prstDash val="solid"/>
            <a:round/>
          </a:ln>
        </p:spPr>
        <p:txBody>
          <a:bodyPr vert="horz" wrap="square" lIns="0" tIns="0" rIns="0" bIns="0" rtlCol="0" anchor="ctr" anchorCtr="0"/>
          <a:lstStyle/>
          <a:p>
            <a:pPr indent="0" algn="l">
              <a:lnSpc>
                <a:spcPct val="100000"/>
              </a:lnSpc>
              <a:defRPr/>
            </a:pPr>
            <a:r>
              <a:rPr lang="en-US" sz="12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编写针对语法分析的测试用例，并建立回归测试脚本，确保修改不会引入新问题。</a:t>
            </a:r>
            <a:endParaRPr lang="en-US" sz="1100"/>
          </a:p>
        </p:txBody>
      </p:sp>
      <p:sp>
        <p:nvSpPr>
          <p:cNvPr id="22" name="AutoShape 22"/>
          <p:cNvSpPr/>
          <p:nvPr/>
        </p:nvSpPr>
        <p:spPr>
          <a:xfrm>
            <a:off x="762000" y="4445000"/>
            <a:ext cx="10668000" cy="1016000"/>
          </a:xfrm>
          <a:prstGeom prst="roundRect">
            <a:avLst>
              <a:gd name="adj" fmla="val 12500"/>
            </a:avLst>
          </a:prstGeom>
          <a:solidFill>
            <a:srgbClr val="005A9C">
              <a:alpha val="8000"/>
            </a:srgbClr>
          </a:solidFill>
          <a:ln w="12700" cap="flat" cmpd="sng">
            <a:solidFill>
              <a:srgbClr val="005A9C">
                <a:alpha val="100000"/>
              </a:srgbClr>
            </a:solidFill>
            <a:prstDash val="solid"/>
            <a:round/>
          </a:ln>
        </p:spPr>
        <p:txBody>
          <a:bodyPr vert="horz" wrap="square" lIns="63500" tIns="63500" rIns="63500" bIns="63500" rtlCol="0" anchor="ctr"/>
          <a:lstStyle/>
          <a:p>
            <a:pPr algn="ctr">
              <a:defRPr/>
            </a:pPr>
          </a:p>
        </p:txBody>
      </p:sp>
      <p:pic>
        <p:nvPicPr>
          <p:cNvPr id="23" name="Picture 23"/>
          <p:cNvPicPr>
            <a:picLocks noChangeAspect="1"/>
          </p:cNvPicPr>
          <p:nvPr/>
        </p:nvPicPr>
        <p:blipFill>
          <a:blip r:embed="rId10">
            <a:extLst>
              <a:ext uri="{28A0092B-C50C-407E-A947-70E740481C1C}">
                <a14:useLocalDpi xmlns:a14="http://schemas.microsoft.com/office/drawing/2010/main" val="0"/>
              </a:ext>
              <a:ext uri="{96DAC541-7B7A-43D3-8B79-37D633B846F1}">
                <asvg:svgBlip xmlns:asvg="http://schemas.microsoft.com/office/drawing/2016/SVG/main" r:embed="rId11"/>
              </a:ext>
            </a:extLst>
          </a:blip>
          <a:stretch>
            <a:fillRect/>
          </a:stretch>
        </p:blipFill>
        <p:spPr>
          <a:xfrm>
            <a:off x="1016000" y="4724400"/>
            <a:ext cx="457200" cy="457200"/>
          </a:xfrm>
          <a:prstGeom prst="rect">
            <a:avLst/>
          </a:prstGeom>
        </p:spPr>
      </p:pic>
      <p:sp>
        <p:nvSpPr>
          <p:cNvPr id="24" name="AutoShape 24"/>
          <p:cNvSpPr/>
          <p:nvPr/>
        </p:nvSpPr>
        <p:spPr>
          <a:xfrm>
            <a:off x="1587500" y="4775200"/>
            <a:ext cx="1778000" cy="3556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005A9C"/>
                </a:solidFill>
                <a:latin typeface="Noto Sans SC" panose="020B0200000000000000" charset="-122"/>
                <a:ea typeface="Noto Sans SC" panose="020B0200000000000000" charset="-122"/>
                <a:cs typeface="Noto Sans SC" panose="020B0200000000000000" charset="-122"/>
                <a:sym typeface="Noto Sans SC" panose="020B0200000000000000" charset="-122"/>
              </a:rPr>
              <a:t>阶段交付目标</a:t>
            </a:r>
            <a:endParaRPr lang="en-US" sz="1100"/>
          </a:p>
        </p:txBody>
      </p:sp>
      <p:sp>
        <p:nvSpPr>
          <p:cNvPr id="25" name="AutoShape 25"/>
          <p:cNvSpPr/>
          <p:nvPr/>
        </p:nvSpPr>
        <p:spPr>
          <a:xfrm>
            <a:off x="3429000" y="4699000"/>
            <a:ext cx="12700" cy="508000"/>
          </a:xfrm>
          <a:prstGeom prst="roundRect">
            <a:avLst>
              <a:gd name="adj" fmla="val 0"/>
            </a:avLst>
          </a:prstGeom>
          <a:solidFill>
            <a:srgbClr val="CCCCCC">
              <a:alpha val="100000"/>
            </a:srgbClr>
          </a:solidFill>
          <a:ln w="25400" cap="flat" cmpd="sng">
            <a:noFill/>
            <a:prstDash val="solid"/>
            <a:round/>
          </a:ln>
        </p:spPr>
        <p:txBody>
          <a:bodyPr vert="horz" wrap="square" lIns="63500" tIns="63500" rIns="63500" bIns="63500" rtlCol="0" anchor="ctr"/>
          <a:lstStyle/>
          <a:p>
            <a:pPr algn="ctr">
              <a:defRPr/>
            </a:pPr>
          </a:p>
        </p:txBody>
      </p:sp>
      <p:sp>
        <p:nvSpPr>
          <p:cNvPr id="26" name="AutoShape 26"/>
          <p:cNvSpPr/>
          <p:nvPr/>
        </p:nvSpPr>
        <p:spPr>
          <a:xfrm>
            <a:off x="3683000" y="4762500"/>
            <a:ext cx="7366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实现词法分析到语法分析的完整可运行链路，确保核心编译流程通畅。</a:t>
            </a:r>
            <a:endParaRPr lang="en-US" sz="1100"/>
          </a:p>
        </p:txBody>
      </p:sp>
      <p:sp>
        <p:nvSpPr>
          <p:cNvPr id="27" name="AutoShape 27"/>
          <p:cNvSpPr/>
          <p:nvPr/>
        </p:nvSpPr>
        <p:spPr>
          <a:xfrm>
            <a:off x="0" y="6705600"/>
            <a:ext cx="12192000" cy="152400"/>
          </a:xfrm>
          <a:prstGeom prst="roundRect">
            <a:avLst>
              <a:gd name="adj" fmla="val 0"/>
            </a:avLst>
          </a:prstGeom>
          <a:solidFill>
            <a:srgbClr val="005A9C">
              <a:alpha val="100000"/>
            </a:srgbClr>
          </a:solidFill>
          <a:ln w="25400" cap="flat" cmpd="sng">
            <a:noFill/>
            <a:prstDash val="solid"/>
            <a:round/>
          </a:ln>
        </p:spPr>
        <p:txBody>
          <a:bodyPr vert="horz" wrap="square" lIns="63500" tIns="63500" rIns="63500" bIns="63500" rtlCol="0" anchor="ctr"/>
          <a:lstStyle/>
          <a:p>
            <a:pPr algn="ctr">
              <a:defRPr/>
            </a:p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pic>
        <p:nvPicPr>
          <p:cNvPr id="2" name="Picture 2"/>
          <p:cNvPicPr>
            <a:picLocks noChangeAspect="1"/>
          </p:cNvPicPr>
          <p:nvPr/>
        </p:nvPicPr>
        <p:blipFill>
          <a:blip r:embed="rId1"/>
          <a:srcRect/>
          <a:stretch>
            <a:fillRect/>
          </a:stretch>
        </p:blipFill>
        <p:spPr>
          <a:xfrm>
            <a:off x="0" y="0"/>
            <a:ext cx="12192000" cy="6858000"/>
          </a:xfrm>
          <a:prstGeom prst="rect">
            <a:avLst/>
          </a:prstGeom>
          <a:noFill/>
          <a:ln w="25400" cap="flat" cmpd="sng">
            <a:noFill/>
            <a:prstDash val="solid"/>
            <a:round/>
          </a:ln>
        </p:spPr>
      </p:pic>
      <p:sp>
        <p:nvSpPr>
          <p:cNvPr id="3" name="AutoShape 3"/>
          <p:cNvSpPr/>
          <p:nvPr/>
        </p:nvSpPr>
        <p:spPr>
          <a:xfrm>
            <a:off x="762000" y="508000"/>
            <a:ext cx="3581400" cy="571500"/>
          </a:xfrm>
          <a:prstGeom prst="rect">
            <a:avLst/>
          </a:prstGeom>
          <a:noFill/>
          <a:ln w="12700" cap="flat" cmpd="sng">
            <a:noFill/>
            <a:prstDash val="solid"/>
            <a:round/>
          </a:ln>
        </p:spPr>
        <p:txBody>
          <a:bodyPr vert="horz" wrap="none" lIns="0" tIns="0" rIns="0" bIns="0" rtlCol="0" anchor="ctr" anchorCtr="0"/>
          <a:lstStyle/>
          <a:p>
            <a:pPr indent="0" algn="l">
              <a:lnSpc>
                <a:spcPct val="125000"/>
              </a:lnSpc>
              <a:defRPr/>
            </a:pPr>
            <a:r>
              <a:rPr lang="en-US" sz="32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总结</a:t>
            </a:r>
            <a:endParaRPr lang="en-US" sz="1100"/>
          </a:p>
        </p:txBody>
      </p:sp>
      <p:sp>
        <p:nvSpPr>
          <p:cNvPr id="4" name="AutoShape 4"/>
          <p:cNvSpPr/>
          <p:nvPr/>
        </p:nvSpPr>
        <p:spPr>
          <a:xfrm>
            <a:off x="762000" y="1397000"/>
            <a:ext cx="5080000" cy="2159000"/>
          </a:xfrm>
          <a:prstGeom prst="roundRect">
            <a:avLst>
              <a:gd name="adj" fmla="val 5882"/>
            </a:avLst>
          </a:prstGeom>
          <a:solidFill>
            <a:srgbClr val="FFFFFF">
              <a:alpha val="100000"/>
            </a:srgbClr>
          </a:solidFill>
          <a:ln cap="flat" cmpd="sng">
            <a:solidFill>
              <a:srgbClr val="E6CFCF">
                <a:alpha val="100000"/>
              </a:srgbClr>
            </a:solidFill>
            <a:prstDash val="solid"/>
            <a:round/>
          </a:ln>
          <a:effectLst>
            <a:outerShdw blurRad="127000" dist="50800" dir="5400000" algn="tl" rotWithShape="0">
              <a:srgbClr val="000000">
                <a:alpha val="8000"/>
              </a:srgbClr>
            </a:outerShdw>
          </a:effectLst>
        </p:spPr>
        <p:txBody>
          <a:bodyPr vert="horz" wrap="square" lIns="63500" tIns="63500" rIns="63500" bIns="63500" rtlCol="0" anchor="ctr"/>
          <a:lstStyle/>
          <a:p>
            <a:pPr algn="ctr">
              <a:defRPr/>
            </a:pPr>
          </a:p>
        </p:txBody>
      </p:sp>
      <p:sp>
        <p:nvSpPr>
          <p:cNvPr id="5" name="AutoShape 5"/>
          <p:cNvSpPr/>
          <p:nvPr/>
        </p:nvSpPr>
        <p:spPr>
          <a:xfrm>
            <a:off x="762000" y="1397000"/>
            <a:ext cx="76200" cy="2159000"/>
          </a:xfrm>
          <a:prstGeom prst="roundRect">
            <a:avLst>
              <a:gd name="adj" fmla="val 0"/>
            </a:avLst>
          </a:prstGeom>
          <a:solidFill>
            <a:srgbClr val="005A9C">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6" name="Picture 6"/>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079500" y="1651000"/>
            <a:ext cx="406400" cy="406400"/>
          </a:xfrm>
          <a:prstGeom prst="rect">
            <a:avLst/>
          </a:prstGeom>
        </p:spPr>
      </p:pic>
      <p:sp>
        <p:nvSpPr>
          <p:cNvPr id="7" name="AutoShape 7"/>
          <p:cNvSpPr/>
          <p:nvPr/>
        </p:nvSpPr>
        <p:spPr>
          <a:xfrm>
            <a:off x="1587500" y="1625600"/>
            <a:ext cx="4064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000" b="1" i="0" u="none" strike="noStrike">
                <a:solidFill>
                  <a:srgbClr val="005A9C"/>
                </a:solidFill>
                <a:latin typeface="Noto Sans SC" panose="020B0200000000000000" charset="-122"/>
                <a:ea typeface="Noto Sans SC" panose="020B0200000000000000" charset="-122"/>
                <a:cs typeface="Noto Sans SC" panose="020B0200000000000000" charset="-122"/>
                <a:sym typeface="Noto Sans SC" panose="020B0200000000000000" charset="-122"/>
              </a:rPr>
              <a:t>已完成目标 (M1/M2)</a:t>
            </a:r>
            <a:endParaRPr lang="en-US" sz="1100"/>
          </a:p>
        </p:txBody>
      </p:sp>
      <p:sp>
        <p:nvSpPr>
          <p:cNvPr id="8" name="AutoShape 8"/>
          <p:cNvSpPr/>
          <p:nvPr/>
        </p:nvSpPr>
        <p:spPr>
          <a:xfrm>
            <a:off x="1079500" y="2095500"/>
            <a:ext cx="4445000" cy="1270000"/>
          </a:xfrm>
          <a:prstGeom prst="rect">
            <a:avLst/>
          </a:prstGeom>
          <a:noFill/>
          <a:ln w="12700" cap="flat" cmpd="sng">
            <a:noFill/>
            <a:prstDash val="solid"/>
            <a:round/>
          </a:ln>
        </p:spPr>
        <p:txBody>
          <a:bodyPr vert="horz" wrap="square" lIns="0" tIns="0" rIns="0" bIns="0" rtlCol="0" anchor="t" anchorCtr="0"/>
          <a:lstStyle/>
          <a:p>
            <a:pPr indent="0" algn="l">
              <a:lnSpc>
                <a:spcPct val="108000"/>
              </a:lnSpc>
              <a:defRPr/>
            </a:pPr>
            <a:r>
              <a:rPr lang="en-US" sz="14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成功完成工程搭建、词法分析模块开发与全面测试。所有成果均已产出可验证的代码与测试用例，确保交付质量。</a:t>
            </a:r>
            <a:endParaRPr lang="en-US" sz="1100"/>
          </a:p>
        </p:txBody>
      </p:sp>
      <p:sp>
        <p:nvSpPr>
          <p:cNvPr id="9" name="AutoShape 9"/>
          <p:cNvSpPr/>
          <p:nvPr/>
        </p:nvSpPr>
        <p:spPr>
          <a:xfrm>
            <a:off x="6350000" y="1397000"/>
            <a:ext cx="5080000" cy="2159000"/>
          </a:xfrm>
          <a:prstGeom prst="roundRect">
            <a:avLst>
              <a:gd name="adj" fmla="val 5882"/>
            </a:avLst>
          </a:prstGeom>
          <a:solidFill>
            <a:srgbClr val="FFFFFF">
              <a:alpha val="100000"/>
            </a:srgbClr>
          </a:solidFill>
          <a:ln cap="flat" cmpd="sng">
            <a:solidFill>
              <a:srgbClr val="E6CFCF">
                <a:alpha val="100000"/>
              </a:srgbClr>
            </a:solidFill>
            <a:prstDash val="solid"/>
            <a:round/>
          </a:ln>
          <a:effectLst>
            <a:outerShdw blurRad="127000" dist="50800" dir="5400000" algn="tl" rotWithShape="0">
              <a:srgbClr val="000000">
                <a:alpha val="8000"/>
              </a:srgbClr>
            </a:outerShdw>
          </a:effectLst>
        </p:spPr>
        <p:txBody>
          <a:bodyPr vert="horz" wrap="square" lIns="63500" tIns="63500" rIns="63500" bIns="63500" rtlCol="0" anchor="ctr"/>
          <a:lstStyle/>
          <a:p>
            <a:pPr algn="ctr">
              <a:defRPr/>
            </a:pPr>
          </a:p>
        </p:txBody>
      </p:sp>
      <p:sp>
        <p:nvSpPr>
          <p:cNvPr id="10" name="AutoShape 10"/>
          <p:cNvSpPr/>
          <p:nvPr/>
        </p:nvSpPr>
        <p:spPr>
          <a:xfrm>
            <a:off x="6350000" y="1397000"/>
            <a:ext cx="76200" cy="2159000"/>
          </a:xfrm>
          <a:prstGeom prst="roundRect">
            <a:avLst>
              <a:gd name="adj" fmla="val 0"/>
            </a:avLst>
          </a:prstGeom>
          <a:solidFill>
            <a:srgbClr val="005A9C">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1" name="Picture 11"/>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6667500" y="1651000"/>
            <a:ext cx="406400" cy="406400"/>
          </a:xfrm>
          <a:prstGeom prst="rect">
            <a:avLst/>
          </a:prstGeom>
        </p:spPr>
      </p:pic>
      <p:sp>
        <p:nvSpPr>
          <p:cNvPr id="12" name="AutoShape 12"/>
          <p:cNvSpPr/>
          <p:nvPr/>
        </p:nvSpPr>
        <p:spPr>
          <a:xfrm>
            <a:off x="7175500" y="1625600"/>
            <a:ext cx="4064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000" b="1" i="0" u="none" strike="noStrike">
                <a:solidFill>
                  <a:srgbClr val="005A9C"/>
                </a:solidFill>
                <a:latin typeface="Noto Sans SC" panose="020B0200000000000000" charset="-122"/>
                <a:ea typeface="Noto Sans SC" panose="020B0200000000000000" charset="-122"/>
                <a:cs typeface="Noto Sans SC" panose="020B0200000000000000" charset="-122"/>
                <a:sym typeface="Noto Sans SC" panose="020B0200000000000000" charset="-122"/>
              </a:rPr>
              <a:t>当前项目状态</a:t>
            </a:r>
            <a:endParaRPr lang="en-US" sz="1100"/>
          </a:p>
        </p:txBody>
      </p:sp>
      <p:sp>
        <p:nvSpPr>
          <p:cNvPr id="13" name="AutoShape 13"/>
          <p:cNvSpPr/>
          <p:nvPr/>
        </p:nvSpPr>
        <p:spPr>
          <a:xfrm>
            <a:off x="6667500" y="2095500"/>
            <a:ext cx="4445000" cy="1270000"/>
          </a:xfrm>
          <a:prstGeom prst="rect">
            <a:avLst/>
          </a:prstGeom>
          <a:noFill/>
          <a:ln w="12700" cap="flat" cmpd="sng">
            <a:noFill/>
            <a:prstDash val="solid"/>
            <a:round/>
          </a:ln>
        </p:spPr>
        <p:txBody>
          <a:bodyPr vert="horz" wrap="square" lIns="0" tIns="0" rIns="0" bIns="0" rtlCol="0" anchor="t" anchorCtr="0"/>
          <a:lstStyle/>
          <a:p>
            <a:pPr indent="0" algn="l">
              <a:lnSpc>
                <a:spcPct val="108000"/>
              </a:lnSpc>
              <a:defRPr/>
            </a:pPr>
            <a:r>
              <a:rPr lang="en-US" sz="14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项目整体运行稳定，代码、文档与测试口径保持高度一致。已为进入M3阶段的语法分析开发工作奠定了坚实基础。</a:t>
            </a:r>
            <a:endParaRPr lang="en-US" sz="1100"/>
          </a:p>
        </p:txBody>
      </p:sp>
      <p:sp>
        <p:nvSpPr>
          <p:cNvPr id="14" name="AutoShape 14"/>
          <p:cNvSpPr/>
          <p:nvPr/>
        </p:nvSpPr>
        <p:spPr>
          <a:xfrm>
            <a:off x="762000" y="3810000"/>
            <a:ext cx="5080000" cy="2159000"/>
          </a:xfrm>
          <a:prstGeom prst="roundRect">
            <a:avLst>
              <a:gd name="adj" fmla="val 5882"/>
            </a:avLst>
          </a:prstGeom>
          <a:solidFill>
            <a:srgbClr val="FFFFFF">
              <a:alpha val="100000"/>
            </a:srgbClr>
          </a:solidFill>
          <a:ln cap="flat" cmpd="sng">
            <a:solidFill>
              <a:srgbClr val="E6CFCF">
                <a:alpha val="100000"/>
              </a:srgbClr>
            </a:solidFill>
            <a:prstDash val="solid"/>
            <a:round/>
          </a:ln>
          <a:effectLst>
            <a:outerShdw blurRad="127000" dist="50800" dir="5400000" algn="tl" rotWithShape="0">
              <a:srgbClr val="000000">
                <a:alpha val="8000"/>
              </a:srgbClr>
            </a:outerShdw>
          </a:effectLst>
        </p:spPr>
        <p:txBody>
          <a:bodyPr vert="horz" wrap="square" lIns="63500" tIns="63500" rIns="63500" bIns="63500" rtlCol="0" anchor="ctr"/>
          <a:lstStyle/>
          <a:p>
            <a:pPr algn="ctr">
              <a:defRPr/>
            </a:pPr>
          </a:p>
        </p:txBody>
      </p:sp>
      <p:sp>
        <p:nvSpPr>
          <p:cNvPr id="15" name="AutoShape 15"/>
          <p:cNvSpPr/>
          <p:nvPr/>
        </p:nvSpPr>
        <p:spPr>
          <a:xfrm>
            <a:off x="762000" y="3810000"/>
            <a:ext cx="76200" cy="2159000"/>
          </a:xfrm>
          <a:prstGeom prst="roundRect">
            <a:avLst>
              <a:gd name="adj" fmla="val 0"/>
            </a:avLst>
          </a:prstGeom>
          <a:solidFill>
            <a:srgbClr val="005A9C">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6" name="Picture 16"/>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1079500" y="4064000"/>
            <a:ext cx="406400" cy="406400"/>
          </a:xfrm>
          <a:prstGeom prst="rect">
            <a:avLst/>
          </a:prstGeom>
        </p:spPr>
      </p:pic>
      <p:sp>
        <p:nvSpPr>
          <p:cNvPr id="17" name="AutoShape 17"/>
          <p:cNvSpPr/>
          <p:nvPr/>
        </p:nvSpPr>
        <p:spPr>
          <a:xfrm>
            <a:off x="1587500" y="4038600"/>
            <a:ext cx="4064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000" b="1" i="0" u="none" strike="noStrike">
                <a:solidFill>
                  <a:srgbClr val="005A9C"/>
                </a:solidFill>
                <a:latin typeface="Noto Sans SC" panose="020B0200000000000000" charset="-122"/>
                <a:ea typeface="Noto Sans SC" panose="020B0200000000000000" charset="-122"/>
                <a:cs typeface="Noto Sans SC" panose="020B0200000000000000" charset="-122"/>
                <a:sym typeface="Noto Sans SC" panose="020B0200000000000000" charset="-122"/>
              </a:rPr>
              <a:t>后续计划 (M3)</a:t>
            </a:r>
            <a:endParaRPr lang="en-US" sz="1100"/>
          </a:p>
        </p:txBody>
      </p:sp>
      <p:sp>
        <p:nvSpPr>
          <p:cNvPr id="18" name="AutoShape 18"/>
          <p:cNvSpPr/>
          <p:nvPr/>
        </p:nvSpPr>
        <p:spPr>
          <a:xfrm>
            <a:off x="1079500" y="4508500"/>
            <a:ext cx="4445000" cy="1270000"/>
          </a:xfrm>
          <a:prstGeom prst="rect">
            <a:avLst/>
          </a:prstGeom>
          <a:noFill/>
          <a:ln w="12700" cap="flat" cmpd="sng">
            <a:noFill/>
            <a:prstDash val="solid"/>
            <a:round/>
          </a:ln>
        </p:spPr>
        <p:txBody>
          <a:bodyPr vert="horz" wrap="square" lIns="0" tIns="0" rIns="0" bIns="0" rtlCol="0" anchor="t" anchorCtr="0"/>
          <a:lstStyle/>
          <a:p>
            <a:pPr indent="0" algn="l">
              <a:lnSpc>
                <a:spcPct val="108000"/>
              </a:lnSpc>
              <a:defRPr/>
            </a:pPr>
            <a:r>
              <a:rPr lang="en-US" sz="14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下一阶段将专注于语法分析模块的接入与错误恢复机制的实现。目前已制定详细的执行计划，确保按节点推进。</a:t>
            </a:r>
            <a:endParaRPr lang="en-US" sz="1100"/>
          </a:p>
        </p:txBody>
      </p:sp>
      <p:sp>
        <p:nvSpPr>
          <p:cNvPr id="19" name="AutoShape 19"/>
          <p:cNvSpPr/>
          <p:nvPr/>
        </p:nvSpPr>
        <p:spPr>
          <a:xfrm>
            <a:off x="6350000" y="3810000"/>
            <a:ext cx="5080000" cy="2159000"/>
          </a:xfrm>
          <a:prstGeom prst="roundRect">
            <a:avLst>
              <a:gd name="adj" fmla="val 5882"/>
            </a:avLst>
          </a:prstGeom>
          <a:solidFill>
            <a:srgbClr val="FFFFFF">
              <a:alpha val="100000"/>
            </a:srgbClr>
          </a:solidFill>
          <a:ln cap="flat" cmpd="sng">
            <a:solidFill>
              <a:srgbClr val="E6CFCF">
                <a:alpha val="100000"/>
              </a:srgbClr>
            </a:solidFill>
            <a:prstDash val="solid"/>
            <a:round/>
          </a:ln>
          <a:effectLst>
            <a:outerShdw blurRad="127000" dist="50800" dir="5400000" algn="tl" rotWithShape="0">
              <a:srgbClr val="000000">
                <a:alpha val="8000"/>
              </a:srgbClr>
            </a:outerShdw>
          </a:effectLst>
        </p:spPr>
        <p:txBody>
          <a:bodyPr vert="horz" wrap="square" lIns="63500" tIns="63500" rIns="63500" bIns="63500" rtlCol="0" anchor="ctr"/>
          <a:lstStyle/>
          <a:p>
            <a:pPr algn="ctr">
              <a:defRPr/>
            </a:pPr>
          </a:p>
        </p:txBody>
      </p:sp>
      <p:sp>
        <p:nvSpPr>
          <p:cNvPr id="20" name="AutoShape 20"/>
          <p:cNvSpPr/>
          <p:nvPr/>
        </p:nvSpPr>
        <p:spPr>
          <a:xfrm>
            <a:off x="6350000" y="3810000"/>
            <a:ext cx="76200" cy="2159000"/>
          </a:xfrm>
          <a:prstGeom prst="roundRect">
            <a:avLst>
              <a:gd name="adj" fmla="val 0"/>
            </a:avLst>
          </a:prstGeom>
          <a:solidFill>
            <a:srgbClr val="005A9C">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21" name="Picture 21"/>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6667500" y="4064000"/>
            <a:ext cx="406400" cy="406400"/>
          </a:xfrm>
          <a:prstGeom prst="rect">
            <a:avLst/>
          </a:prstGeom>
        </p:spPr>
      </p:pic>
      <p:sp>
        <p:nvSpPr>
          <p:cNvPr id="22" name="AutoShape 22"/>
          <p:cNvSpPr/>
          <p:nvPr/>
        </p:nvSpPr>
        <p:spPr>
          <a:xfrm>
            <a:off x="7175500" y="4038600"/>
            <a:ext cx="4064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000" b="1" i="0" u="none" strike="noStrike">
                <a:solidFill>
                  <a:srgbClr val="005A9C"/>
                </a:solidFill>
                <a:latin typeface="Noto Sans SC" panose="020B0200000000000000" charset="-122"/>
                <a:ea typeface="Noto Sans SC" panose="020B0200000000000000" charset="-122"/>
                <a:cs typeface="Noto Sans SC" panose="020B0200000000000000" charset="-122"/>
                <a:sym typeface="Noto Sans SC" panose="020B0200000000000000" charset="-122"/>
              </a:rPr>
              <a:t>答辩准备与期望</a:t>
            </a:r>
            <a:endParaRPr lang="en-US" sz="1100"/>
          </a:p>
        </p:txBody>
      </p:sp>
      <p:sp>
        <p:nvSpPr>
          <p:cNvPr id="23" name="AutoShape 23"/>
          <p:cNvSpPr/>
          <p:nvPr/>
        </p:nvSpPr>
        <p:spPr>
          <a:xfrm>
            <a:off x="6667500" y="4508500"/>
            <a:ext cx="4445000" cy="1270000"/>
          </a:xfrm>
          <a:prstGeom prst="rect">
            <a:avLst/>
          </a:prstGeom>
          <a:noFill/>
          <a:ln w="12700" cap="flat" cmpd="sng">
            <a:noFill/>
            <a:prstDash val="solid"/>
            <a:round/>
          </a:ln>
        </p:spPr>
        <p:txBody>
          <a:bodyPr vert="horz" wrap="square" lIns="0" tIns="0" rIns="0" bIns="0" rtlCol="0" anchor="t" anchorCtr="0"/>
          <a:lstStyle/>
          <a:p>
            <a:pPr indent="0" algn="l">
              <a:lnSpc>
                <a:spcPct val="108000"/>
              </a:lnSpc>
              <a:defRPr/>
            </a:pPr>
            <a:r>
              <a:rPr lang="en-US" sz="14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已准备好接受M1/M2阶段细节质询。特别希望听取各位老师对M3阶段语法错误恢复策略及后续语义联调计划的指导意见。</a:t>
            </a:r>
            <a:endParaRPr lang="en-US" sz="1100"/>
          </a:p>
        </p:txBody>
      </p:sp>
      <p:pic>
        <p:nvPicPr>
          <p:cNvPr id="24" name="Picture 24"/>
          <p:cNvPicPr>
            <a:picLocks noChangeAspect="1"/>
          </p:cNvPicPr>
          <p:nvPr/>
        </p:nvPicPr>
        <p:blipFill>
          <a:blip r:embed="rId10"/>
          <a:stretch>
            <a:fillRect/>
          </a:stretch>
        </p:blipFill>
        <p:spPr>
          <a:xfrm>
            <a:off x="10668000" y="6190112"/>
            <a:ext cx="1524000" cy="667888"/>
          </a:xfrm>
          <a:prstGeom prst="rect">
            <a:avLst/>
          </a:prstGeom>
        </p:spPr>
      </p:pic>
    </p:spTree>
  </p:cSld>
  <p:clrMapOvr>
    <a:masterClrMapping/>
  </p:clrMapOvr>
</p:sld>
</file>

<file path=ppt/tags/tag1.xml><?xml version="1.0" encoding="utf-8"?>
<p:tagLst xmlns:p="http://schemas.openxmlformats.org/presentationml/2006/main">
  <p:tag name="KSO_WM_DIAGRAM_VIRTUALLY_FRAME" val="{&quot;height&quot;:320,&quot;left&quot;:60,&quot;top&quot;:110,&quot;width&quot;:840}"/>
</p:tagLst>
</file>

<file path=ppt/tags/tag2.xml><?xml version="1.0" encoding="utf-8"?>
<p:tagLst xmlns:p="http://schemas.openxmlformats.org/presentationml/2006/main">
  <p:tag name="KSO_WM_DIAGRAM_VIRTUALLY_FRAME" val="{&quot;height&quot;:320,&quot;left&quot;:60,&quot;top&quot;:110,&quot;width&quot;:840}"/>
</p:tagLst>
</file>

<file path=ppt/tags/tag3.xml><?xml version="1.0" encoding="utf-8"?>
<p:tagLst xmlns:p="http://schemas.openxmlformats.org/presentationml/2006/main">
  <p:tag name="KSO_WM_DIAGRAM_VIRTUALLY_FRAME" val="{&quot;height&quot;:320,&quot;left&quot;:60,&quot;top&quot;:110,&quot;width&quot;:840}"/>
</p:tagLst>
</file>

<file path=ppt/tags/tag4.xml><?xml version="1.0" encoding="utf-8"?>
<p:tagLst xmlns:p="http://schemas.openxmlformats.org/presentationml/2006/main">
  <p:tag name="KSO_WM_DIAGRAM_VIRTUALLY_FRAME" val="{&quot;height&quot;:320,&quot;left&quot;:60,&quot;top&quot;:110,&quot;width&quot;:840}"/>
</p:tagLst>
</file>

<file path=ppt/tags/tag5.xml><?xml version="1.0" encoding="utf-8"?>
<p:tagLst xmlns:p="http://schemas.openxmlformats.org/presentationml/2006/main">
  <p:tag name="KSO_WM_DIAGRAM_VIRTUALLY_FRAME" val="{&quot;height&quot;:320,&quot;left&quot;:60,&quot;top&quot;:110,&quot;width&quot;:840}"/>
</p:tagLst>
</file>

<file path=ppt/tags/tag6.xml><?xml version="1.0" encoding="utf-8"?>
<p:tagLst xmlns:p="http://schemas.openxmlformats.org/presentationml/2006/main">
  <p:tag name="KSO_WM_DIAGRAM_VIRTUALLY_FRAME" val="{&quot;height&quot;:320,&quot;left&quot;:60,&quot;top&quot;:110,&quot;width&quot;:840}"/>
</p:tagLst>
</file>

<file path=ppt/tags/tag7.xml><?xml version="1.0" encoding="utf-8"?>
<p:tagLst xmlns:p="http://schemas.openxmlformats.org/presentationml/2006/main">
  <p:tag name="KSO_WM_DIAGRAM_VIRTUALLY_FRAME" val="{&quot;height&quot;:320,&quot;left&quot;:60,&quot;top&quot;:110,&quot;width&quot;:840}"/>
</p:tagLst>
</file>

<file path=ppt/tags/tag8.xml><?xml version="1.0" encoding="utf-8"?>
<p:tagLst xmlns:p="http://schemas.openxmlformats.org/presentationml/2006/main">
  <p:tag name="KSO_WM_DIAGRAM_VIRTUALLY_FRAME" val="{&quot;height&quot;:320,&quot;left&quot;:60,&quot;top&quot;:110,&quot;width&quot;:840}"/>
</p:tagLst>
</file>

<file path=ppt/tags/tag9.xml><?xml version="1.0" encoding="utf-8"?>
<p:tagLst xmlns:p="http://schemas.openxmlformats.org/presentationml/2006/main">
  <p:tag name="KSO_WM_DIAGRAM_VIRTUALLY_FRAME" val="{&quot;height&quot;:320,&quot;left&quot;:60,&quot;top&quot;:110,&quot;width&quot;:840}"/>
</p:tagLst>
</file>

<file path=ppt/tags/tag10.xml><?xml version="1.0" encoding="utf-8"?>
<p:tagLst xmlns:p="http://schemas.openxmlformats.org/presentationml/2006/main">
  <p:tag name="KSO_WM_DIAGRAM_VIRTUALLY_FRAME" val="{&quot;height&quot;:320,&quot;left&quot;:60,&quot;top&quot;:110,&quot;width&quot;:840}"/>
</p:tagLst>
</file>

<file path=ppt/tags/tag11.xml><?xml version="1.0" encoding="utf-8"?>
<p:tagLst xmlns:p="http://schemas.openxmlformats.org/presentationml/2006/main">
  <p:tag name="KSO_WM_DIAGRAM_VIRTUALLY_FRAME" val="{&quot;height&quot;:320,&quot;left&quot;:60,&quot;top&quot;:110,&quot;width&quot;:840}"/>
</p:tagLst>
</file>

<file path=ppt/tags/tag12.xml><?xml version="1.0" encoding="utf-8"?>
<p:tagLst xmlns:p="http://schemas.openxmlformats.org/presentationml/2006/main">
  <p:tag name="KSO_WM_DIAGRAM_VIRTUALLY_FRAME" val="{&quot;height&quot;:320,&quot;left&quot;:60,&quot;top&quot;:110,&quot;width&quot;:840}"/>
</p:tagLst>
</file>

<file path=ppt/theme/theme1.xml><?xml version="1.0" encoding="utf-8"?>
<a:theme xmlns:a="http://schemas.openxmlformats.org/drawingml/2006/main" name="Office 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默认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2756</Words>
  <Application>WPS 演示</Application>
  <PresentationFormat/>
  <Paragraphs>280</Paragraphs>
  <Slides>12</Slides>
  <Notes>0</Notes>
  <HiddenSlides>0</HiddenSlides>
  <MMClips>0</MMClips>
  <ScaleCrop>false</ScaleCrop>
  <HeadingPairs>
    <vt:vector size="6" baseType="variant">
      <vt:variant>
        <vt:lpstr>已用的字体</vt:lpstr>
      </vt:variant>
      <vt:variant>
        <vt:i4>7</vt:i4>
      </vt:variant>
      <vt:variant>
        <vt:lpstr>主题</vt:lpstr>
      </vt:variant>
      <vt:variant>
        <vt:i4>2</vt:i4>
      </vt:variant>
      <vt:variant>
        <vt:lpstr>幻灯片标题</vt:lpstr>
      </vt:variant>
      <vt:variant>
        <vt:i4>12</vt:i4>
      </vt:variant>
    </vt:vector>
  </HeadingPairs>
  <TitlesOfParts>
    <vt:vector size="21" baseType="lpstr">
      <vt:lpstr>Arial</vt:lpstr>
      <vt:lpstr>宋体</vt:lpstr>
      <vt:lpstr>Wingdings</vt:lpstr>
      <vt:lpstr>Arial</vt:lpstr>
      <vt:lpstr>Noto Sans SC</vt:lpstr>
      <vt:lpstr>微软雅黑</vt:lpstr>
      <vt:lpstr>Arial Unicode MS</vt:lpstr>
      <vt:lpstr>Office 主题​​</vt:lpstr>
      <vt:lpstr>默认主题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丁乐航</cp:lastModifiedBy>
  <cp:revision>1</cp:revision>
  <dcterms:created xsi:type="dcterms:W3CDTF">2026-03-31T06:07:19Z</dcterms:created>
  <dcterms:modified xsi:type="dcterms:W3CDTF">2026-03-31T06:07:19Z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36B128BAFCA646F89AAA3BEB4FAB85EC_12</vt:lpwstr>
  </property>
  <property fmtid="{D5CDD505-2E9C-101B-9397-08002B2CF9AE}" pid="3" name="KSOProductBuildVer">
    <vt:lpwstr>2052-12.1.0.23542</vt:lpwstr>
  </property>
</Properties>
</file>