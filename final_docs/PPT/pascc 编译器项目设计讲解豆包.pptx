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大家好，今天我将为大家介绍我们的课程设计项目——pascc编译器。这是一个将教学用简化Pascal语言（Pascal-S）翻译为C语言代码的编译器。本次讲解将深入剖析其设计理念、核心架构和实现细节。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讲解将分为五个部分。首先，我们会对项目进行一个整体概述。接着，深入探讨其总体架构设计。然后，我们会详细介绍四个核心模块的实现。之后，展示项目的支撑与测试体系。最后，进行总结并展望未来的优化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来看项目概述。pascc是一个课程设计项目，旨在实现一个从Pascal-S到C语言的编译器。我们采用了经典的四阶段编译架构，并强调模块的独立性和流水线的可编排性，这使得整个系统结构清晰，易于维护和扩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技术栈基于C++17，并使用CMake进行项目构建。Flex和Bison是我们实现词法和语法分析的强大工具。项目在文件结构上清晰地划分为头文件层、实现层和生成层，这张图展示了各模块与文件之间的对应关系，体现了良好的工程实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总体架构。这张图清晰地展示了我们的编译流水线。从源代码输入开始，依次经过词法分析生成Token流，语法分析构建抽象语法树AST，语义分析进行检查，最后由代码生成器输出C代码。整个流程由编译驱动统一管理，数据流清晰明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实现模块间的解耦，我们设计了一套核心数据结构。如这张UML图所示，每个阶段的输入和输出都通过特定的Result结构体封装，例如LexerResult和ParserResult。这不仅规范了数据传递，也使得错误处理更加统一和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架构设计上，我们做出了几个关键决策。首先，让Bison负责构建完整的AST，代码生成器再遍历AST进行翻译，实现了解耦。其次，我们让语义分析独立遍历Token流，保证了模块的独立性。最后，代码生成采用“直译”策略，优先保证正确性和清晰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进入核心模块的讲解。首先是词法分析器，它的职责是将源代码分解成Token。我们使用Flex工具来生成高效的DFA扫描器。这张图展示了Flex内部处理注释等复杂情况的状态转移逻辑。我们还设计了高效的关键字查找和运算符匹配规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语法分析器由Bison生成，它负责验证Token流的语法正确性，并构建AST。我们精心设计了BNF文法，如这张产生式层次图所示，覆盖了所有语言结构。同时，我们通过声明优先级和错误恢复规则，提升了解析器的性能和健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语义分析是保证程序逻辑正确的关键。我们的语义分析器负责检查标识符使用、类型匹配、函数调用等问题。其核心是符号表体系，如这张UML图所示，我们通过作用域栈和作用域链来管理不同层级的符号，确保了查找的正确性和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代码生成模块。它采用“直译”策略，递归遍历AST并将每个节点翻译成对应的C代码。这张映射表展示了我们如何将Pascal的各种控制流语句，如for和repeat，转换为等效的C语言结构。这种方法简单直接，保证了代码生成的清晰性和正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健壮的编译器离不开完善的支撑体系。我们的编译驱动负责协调各个阶段的执行，并采用Fail-Fast策略，一旦发现错误立即停止，避免无效计算，从而节省计算资源和调试时间。同时，我们设计了统一的错误处理和日志模块，对驱动、词法、语法、语义等不同层级的错误进行精细化分类，配合格式化的日志输出，极大地提升了排查和修复问题的效率。右下角展示了 run() 函数的执行时序，直观呈现了驱动模块如何串联整个编译流程。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保证项目质量，我们建立了完善的测试体系。如这张测试金字塔所示，我们从单元测试、模块测试到端到端集成测试，全面覆盖了项目的各个层面。配合CMake构建系统，我们可以通过简单的命令完成编译和自动化测试，确保了开发的效率和代码的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进行总结。我们的编译器已经能够支持Pascal-S语言的大部分核心特性，包括完整的控制流、过程函数和I/O操作。我们提供了多组示例程序来验证这些功能。这张端到端数据流图展示了一个Pascal-S程序如何一步步被我们的编译器转换为可执行的C程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尽管项目已经完成，但仍有许多可以优化的方向。未来，我们计划将语义分析器改为遍历AST以提升效率，并引入中间表示层来支持代码优化。此外，增强错误恢复机制和支持多目标后端也是我们未来的目标。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我的讲解到此结束，感谢大家的聆听。现在是问答环节，欢迎大家提问。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.sv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0.svg" Type="http://schemas.openxmlformats.org/officeDocument/2006/relationships/image"/><Relationship Id="rId11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15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.svg" Type="http://schemas.openxmlformats.org/officeDocument/2006/relationships/image"/><Relationship Id="rId11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6.svg" Type="http://schemas.openxmlformats.org/officeDocument/2006/relationships/image"/><Relationship Id="rId11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svg" Type="http://schemas.openxmlformats.org/officeDocument/2006/relationships/image"/><Relationship Id="rId11" Target="../notesSlides/notesSlide15.xml" Type="http://schemas.openxmlformats.org/officeDocument/2006/relationships/notesSlide"/><Relationship Id="rId2" Target="../media/image2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1.jpeg" Type="http://schemas.openxmlformats.org/officeDocument/2006/relationships/image"/><Relationship Id="rId3" Target="../notesSlides/notesSlide16.xml" Type="http://schemas.openxmlformats.org/officeDocument/2006/relationships/notesSlide"/><Relationship Id="rId4" Target="../media/image5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pascc 编译器项目设计讲解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3429000"/>
            <a:ext cx="1066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Pascal-S to C Compiler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5207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《编译原理与技术课程设计》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b="true" i="false" strike="noStrike" u="none" sz="28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17253D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05000"/>
            <a:ext cx="76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841500" y="1968500"/>
            <a:ext cx="190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项目简介、核心建设目标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以及技术栈选型说明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65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17253D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35500" y="1905000"/>
            <a:ext cx="76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524500" y="1968500"/>
            <a:ext cx="190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总体架构设计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构建编译流水线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定义核心数据结构与架构决策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0" y="165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17253D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318500" y="1905000"/>
            <a:ext cx="76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207500" y="1968500"/>
            <a:ext cx="190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核心模块详解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词法/语法/语义分析模块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以及最终的代码生成逻辑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032000" y="4191000"/>
            <a:ext cx="3937000" cy="2159000"/>
          </a:xfrm>
          <a:prstGeom prst="roundRect">
            <a:avLst>
              <a:gd name="adj" fmla="val 4705"/>
            </a:avLst>
          </a:prstGeom>
          <a:solidFill>
            <a:srgbClr val="17253D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222500" y="4445000"/>
            <a:ext cx="88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238500" y="45085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支撑与测试体系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编译驱动流程、系统级错误处理机制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与多层级测试覆盖体系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91000"/>
            <a:ext cx="3937000" cy="2159000"/>
          </a:xfrm>
          <a:prstGeom prst="roundRect">
            <a:avLst>
              <a:gd name="adj" fmla="val 4705"/>
            </a:avLst>
          </a:prstGeom>
          <a:solidFill>
            <a:srgbClr val="17253D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13500" y="4445000"/>
            <a:ext cx="88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493000" y="45085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完整功能示例演示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与项目未来的性能优化方向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项目概述：简介与目标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A202C">
              <a:alpha val="85000"/>
            </a:srgbClr>
          </a:solidFill>
          <a:ln w="12700" cmpd="sng" cap="flat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0828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74800" y="2032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2921000"/>
            <a:ext cx="45974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▍ 项目名称：</a:t>
            </a: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pascc (Pascal-S to C Compiler)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▍ 课程背景：</a:t>
            </a: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《编译原理与技术》核心综合实践项目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核心使命：</a:t>
            </a:r>
            <a:r>
              <a:rPr lang="en-US" b="false" i="false" strike="noStrike" u="none" sz="15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实现一个功能完备的教学级编译器，将简化版的Pascal-S语言源程序，完整翻译并生成语义等价、可编译执行的标准C语言代码。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A202C">
              <a:alpha val="85000"/>
            </a:srgbClr>
          </a:solidFill>
          <a:ln w="12700" cmpd="sng" cap="flat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27800" y="20828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035800" y="2032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设计理念与架构原则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27800" y="2921000"/>
            <a:ext cx="4597400" cy="292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01. 经典流水线架构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严格遵循编译原理标准流程：词法分析 → 语法分析 → 语义分析 → 中间代码生成 → 目标代码生成。逻辑清晰，便于理解。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02. 模块高度独立性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各编译阶段封装为独立模块，减少耦合，支持并行开发、独立测试和灵活的功能扩展与重构。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03. 驱动统一编排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由 `CompilerDriver` 作为中央控制器，统一调度各模块，通过定义清晰的数据结构进行阶段间信息传递，保证数据流向的规范性。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项目概述：技术栈与模块划分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F2937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▍ 技术栈与工具链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540000"/>
            <a:ext cx="2286000" cy="1587500"/>
          </a:xfrm>
          <a:prstGeom prst="roundRect">
            <a:avLst>
              <a:gd name="adj" fmla="val 6400"/>
            </a:avLst>
          </a:prstGeom>
          <a:solidFill>
            <a:srgbClr val="374151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68400" y="26924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651000" y="2667000"/>
            <a:ext cx="1524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C++17 核心语言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利用结构化绑定、if-constexpr等现代特性，显著提升代码的安全性与可维护性。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29000" y="2540000"/>
            <a:ext cx="2286000" cy="1587500"/>
          </a:xfrm>
          <a:prstGeom prst="roundRect">
            <a:avLst>
              <a:gd name="adj" fmla="val 6400"/>
            </a:avLst>
          </a:prstGeom>
          <a:solidFill>
            <a:srgbClr val="374151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581400" y="26924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064000" y="2667000"/>
            <a:ext cx="1524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CMake 构建系统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跨平台构建工具，统一管理项目的编译流程、依赖库配置与测试套件集成。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318000"/>
            <a:ext cx="2286000" cy="1587500"/>
          </a:xfrm>
          <a:prstGeom prst="roundRect">
            <a:avLst>
              <a:gd name="adj" fmla="val 6400"/>
            </a:avLst>
          </a:prstGeom>
          <a:solidFill>
            <a:srgbClr val="374151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68400" y="44704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651000" y="4445000"/>
            <a:ext cx="1524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Flex &amp; Bison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经典的编译器工具链，分别负责自动生成词法分析器(Scanner)与语法分析器(Parser)。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29000" y="4318000"/>
            <a:ext cx="2286000" cy="1587500"/>
          </a:xfrm>
          <a:prstGeom prst="roundRect">
            <a:avLst>
              <a:gd name="adj" fmla="val 6400"/>
            </a:avLst>
          </a:prstGeom>
          <a:solidFill>
            <a:srgbClr val="374151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581400" y="44704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4064000" y="4445000"/>
            <a:ext cx="1524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CTest 自动化测试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集成于CMake生态的测试驱动开发(TDD)框架，保障核心算法与逻辑的正确性。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F2937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778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▍ 模块划分与文件映射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2413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严格遵循现代C++工程规范，实现了清晰的“接口-实现”分离，确保代码库的可扩展性与逻辑解耦。下方图示直观展示了各层级的对应关系：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5016500"/>
            <a:ext cx="1473200" cy="1143000"/>
          </a:xfrm>
          <a:prstGeom prst="roundRect">
            <a:avLst>
              <a:gd name="adj" fmla="val 8888"/>
            </a:avLst>
          </a:prstGeom>
          <a:solidFill>
            <a:srgbClr val="111827">
              <a:alpha val="7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540500" y="5143500"/>
            <a:ext cx="1346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头文件层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`include/`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定义公开接口与数据结构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089900" y="5016500"/>
            <a:ext cx="1473200" cy="1143000"/>
          </a:xfrm>
          <a:prstGeom prst="roundRect">
            <a:avLst>
              <a:gd name="adj" fmla="val 8888"/>
            </a:avLst>
          </a:prstGeom>
          <a:solidFill>
            <a:srgbClr val="111827">
              <a:alpha val="7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53400" y="5143500"/>
            <a:ext cx="1346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`src/`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封装核心业务逻辑实现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702800" y="5016500"/>
            <a:ext cx="1473200" cy="1143000"/>
          </a:xfrm>
          <a:prstGeom prst="roundRect">
            <a:avLst>
              <a:gd name="adj" fmla="val 8888"/>
            </a:avLst>
          </a:prstGeom>
          <a:solidFill>
            <a:srgbClr val="111827">
              <a:alpha val="7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766300" y="5143500"/>
            <a:ext cx="1346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Flex/Bison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自动生成的编译产物代码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 总体架构：编译流水线与数据流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171F30">
              <a:alpha val="85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整个编译过程由核心入口函数</a:t>
            </a:r>
            <a:r>
              <a:rPr lang="en-US" b="true" i="false" strike="noStrike" u="none" sz="14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CompilerDriver::run()</a:t>
            </a: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统一编排与调度，将输入的 C++ 源代码转化为目标 C 代码，主要经历词法、语法、语义分析与代码生成四大阶段。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921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▎ 核心数据流向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556000"/>
            <a:ext cx="4699000" cy="508000"/>
          </a:xfrm>
          <a:prstGeom prst="roundRect">
            <a:avLst>
              <a:gd name="adj" fmla="val 20000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36449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87500" y="36322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输入源文件:</a:t>
            </a:r>
            <a:r>
              <a:rPr lang="en-US" b="tru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main.cpp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r>
              <a:rPr lang="en-US" b="false" i="false" strike="noStrike" u="none" sz="13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CompilerDriver::run() (总控入口)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254500"/>
            <a:ext cx="4699000" cy="508000"/>
          </a:xfrm>
          <a:prstGeom prst="roundRect">
            <a:avLst>
              <a:gd name="adj" fmla="val 20000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43434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87500" y="43307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词法分析:</a:t>
            </a:r>
            <a:r>
              <a:rPr lang="en-US" b="true" i="false" strike="noStrike" u="none" sz="13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Lexer::tokenizeDetailed()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r>
              <a:rPr lang="en-US" b="false" i="false" strike="noStrike" u="none" sz="13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LexerResult (Token 流)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953000"/>
            <a:ext cx="4699000" cy="508000"/>
          </a:xfrm>
          <a:prstGeom prst="roundRect">
            <a:avLst>
              <a:gd name="adj" fmla="val 20000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43000" y="50419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87500" y="50292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语法/语义分析:</a:t>
            </a:r>
            <a:r>
              <a:rPr lang="en-US" b="true" i="false" strike="noStrike" u="none" sz="13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Parser &amp; Analyzer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r>
              <a:rPr lang="en-US" b="false" i="false" strike="noStrike" u="none" sz="13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AST 语法树 + 语义检查结果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651500"/>
            <a:ext cx="4699000" cy="508000"/>
          </a:xfrm>
          <a:prstGeom prst="roundRect">
            <a:avLst>
              <a:gd name="adj" fmla="val 20000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143000" y="57404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587500" y="57277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代码生成:</a:t>
            </a:r>
            <a:r>
              <a:rPr lang="en-US" b="true" i="false" strike="noStrike" u="none" sz="13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CodeGenerator::generate()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r>
              <a:rPr lang="en-US" b="false" i="false" strike="noStrike" u="none" sz="13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输出 .c 源文件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6223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图 1：编译流水线核心组件交互架构图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 总体架构：核心数据结构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各阶段通过特定的</a:t>
            </a:r>
            <a:r>
              <a:rPr lang="en-US" b="true" i="false" strike="noStrike" u="none" sz="15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Result</a:t>
            </a:r>
            <a:r>
              <a:rPr lang="en-US" b="false" i="false" strike="noStrike" u="none" sz="15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结构体传递数据和错误信息，形成模块间的“通用语言”，确保数据流的标准化与解耦。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641600"/>
            <a:ext cx="2095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SourcePosition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精确记录代码的位置信息，包含具体的行号与列号，为后续报错提供精准定位。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3784600"/>
            <a:ext cx="2095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Token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词法分析的最小单元，封装了词素内容、语法类型及对应的</a:t>
            </a:r>
            <a:r>
              <a:rPr lang="en-US" b="tru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SourcePosition</a:t>
            </a: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953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4927600"/>
            <a:ext cx="2095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LexerResult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词法分析的最终产出，包含结构化的</a:t>
            </a:r>
            <a:r>
              <a:rPr lang="en-US" b="tru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Token</a:t>
            </a: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流与词法分析阶段捕获的错误列表。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556000" y="2667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000500" y="26416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ParserResult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语法分析的结果，包含生成的抽象语法树 (AST) 根节点和语法错误信息。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3556000" y="3810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000500" y="37846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SemanticResult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语义分析的结果载体，专注于语义检查环节发现的逻辑与类型错误。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3556000" y="4953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4000500" y="49276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CodegenResult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最终的代码生成结果，包含可执行的C语言代码字符串及编译状态。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59055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▲ 核心数据结构 UML 类图示意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 总体架构：重要架构决策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1C2438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968500" y="2286000"/>
            <a:ext cx="889000" cy="889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952500" y="3429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Bison构建完整AST</a:t>
            </a: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代码生成器遍历翻译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4572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语法分析和代码翻译通过AST解耦，模块职责清晰，支持独立调试与性能优化。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1C2438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651500" y="2286000"/>
            <a:ext cx="889000" cy="889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35500" y="3429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语义分析模块</a:t>
            </a: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独立遍历Token流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4572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彻底隔离语义分析与语法分析逻辑，保证了模块的独立性与高内聚性，降低耦合风险。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1C2438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334500" y="2286000"/>
            <a:ext cx="889000" cy="889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318500" y="3429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代码生成策略</a:t>
            </a: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9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采用“直译”模式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4572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执行策略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对AST进行递归深度优先遍历，逐节点直接翻译为功能等效的C语言代码，暂不引入复杂优化逻辑。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核心模块：词法分析 (Lexer)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223000" y="1651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477000" y="1905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7239000" y="1841500"/>
            <a:ext cx="393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核心职责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将非结构化的源代码字符串转换为结构化的 Token 流，并在扫描过程中实时检测并报告词法层面的语法错误。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3175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34290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239000" y="3365500"/>
            <a:ext cx="393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底层驱动引擎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Flex 工具生成的</a:t>
            </a:r>
            <a:r>
              <a:rPr lang="en-US" b="true" i="false" strike="noStrike" u="none" sz="13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确定性有限自动机 (DFA)</a:t>
            </a:r>
            <a:r>
              <a:rPr lang="en-US" b="false" i="false" strike="noStrike" u="none" sz="13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，确保在线性时间 O(n) 复杂度内完成高效的扫描与解析。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4699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13500" y="4889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21500" y="4889500"/>
            <a:ext cx="1714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Token 体系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包含五大核心类别：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特殊类型 &amp; 字面量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关键字 &amp; 运算符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各类语法界符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0" y="4699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080500" y="4889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9588500" y="4889500"/>
            <a:ext cx="1714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Flex 规则设计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独占状态处理块注释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哈希表实现 O(1) 关键字查找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遵循“最长匹配优先”原则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核心模块：语法分析 (Parser)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7202D">
              <a:alpha val="85000"/>
            </a:srgbClr>
          </a:solidFill>
          <a:ln w="12700" cmpd="sng" cap="flat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1803400"/>
            <a:ext cx="4191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核心职责 (Responsibility)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验证 Token 流的语法结构，确保输入符合语言规范，并据此构建完整的抽象语法树 (AST)，作为语义分析的基础。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921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8829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解析引擎 (Core Engine)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b="tru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Bison</a:t>
            </a: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生成的</a:t>
            </a:r>
            <a:r>
              <a:rPr lang="en-US" b="tru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LALR(1)</a:t>
            </a: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解析器驱动，平衡了解析速度与实现复杂度，能够高效处理大规模代码。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3962400"/>
            <a:ext cx="4191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文法设计 (BNF Design)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使用</a:t>
            </a:r>
            <a:r>
              <a:rPr lang="en-US" b="false" i="false" strike="noStrike" u="none" sz="1200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%union</a:t>
            </a: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定义 12 种语义值类型，确保类型安全与类型检查。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通过</a:t>
            </a:r>
            <a:r>
              <a:rPr lang="en-US" b="false" i="false" strike="noStrike" u="none" sz="1200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%left/%right</a:t>
            </a: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精确声明运算符优先级与结合性。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嵌入 4 处错误恢复产生式，大幅提升解析器的健壮性。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334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460500" y="5295900"/>
            <a:ext cx="419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AST 节点体系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定义 32 种</a:t>
            </a:r>
            <a:r>
              <a:rPr lang="en-US" b="tru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AstKind</a:t>
            </a: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枚举与 20+ 种节点类型，完整覆盖所有语言构造。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7202D">
              <a:alpha val="85000"/>
            </a:srgbClr>
          </a:solidFill>
          <a:ln w="12700" cmpd="sng" cap="flat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4889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产生式层次结构示例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图示展示了文法规则中表达式与语句的层级关系。这种严谨的层级设计，确保了编译器能正确识别嵌套结构，并生成逻辑清晰的抽象语法树。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核心模块：语义分析 (Semantic Analyzer)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17202D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796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1841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语义合规性检查职责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469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标识符检查：杜绝“先使用后声明”与“重复定义”的错误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类型检查：严格校验赋值、运算与函数返回值的类型兼容性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逻辑检查：验证函数/过程调用参数及控制流条件的逻辑合法性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31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17202D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572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4546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符号表 (Symbol Table) 体系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207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底层通过</a:t>
            </a:r>
            <a:r>
              <a:rPr lang="en-US" b="true" i="false" strike="noStrike" u="none" sz="13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ScopeStack (作用域栈)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动态管理嵌套作用域，结合</a:t>
            </a:r>
            <a:r>
              <a:rPr lang="en-US" b="true" i="false" strike="noStrike" u="none" sz="13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TableSet (表集合)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构建链式查找结构，高效解决同名变量遮蔽问题。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17202D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5461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tru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图示：符号表核心逻辑与作用域管理 UML 类图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核心模块：代码生成 (Code Generator)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17202D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8415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模块职责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作为编译器后端的核心，将前端生成的抽象语法树 (AST) 完整翻译为语义和逻辑完全等效的 C 语言源代码文件。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17202D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619500"/>
            <a:ext cx="457200" cy="457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34925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“直译”设计策略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不做复杂的代码优化，通过深度递归遍历 AST 节点，对每一种语法结构进行一一对应的直接转换，保证生成逻辑的清晰性。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953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17202D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457200" cy="457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651000" y="5080000"/>
            <a:ext cx="406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核心翻译逻辑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表达式/语句发射：通过 emitExpr() / emitStmt() 递归处理各类节点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控制流映射：精准转换 for, repeat, while 等结构化语句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651000"/>
            <a:ext cx="5207000" cy="4699000"/>
          </a:xfrm>
          <a:prstGeom prst="roundRect">
            <a:avLst>
              <a:gd name="adj" fmla="val 2162"/>
            </a:avLst>
          </a:prstGeom>
          <a:solidFill>
            <a:srgbClr val="17202D">
              <a:alpha val="90000"/>
            </a:srgbClr>
          </a:solidFill>
          <a:ln w="12700" cmpd="sng" cap="flat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5461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Pascal → C 控制流映射表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将源语言的循环、分支结构一一对应为C语言语法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04 支撑体系：编译驱动与错误处理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8034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编译驱动 (CompilerDriver)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4699000" cy="25400"/>
          </a:xfrm>
          <a:prstGeom prst="roundRect">
            <a:avLst>
              <a:gd name="adj" fmla="val 0"/>
            </a:avLst>
          </a:prstGeom>
          <a:solidFill>
            <a:srgbClr val="00E5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4699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▍核心职责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作为整个编译流水线的**总编排者**，负责串联词法分析、语法分析、语义分析与代码生成四个阶段，并统一管理文件的输入与输出(I/O)逻辑，确保各模块有序协作。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33333"/>
              </a:lnSpc>
              <a:spcBef>
                <a:spcPts val="2000"/>
              </a:spcBef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▍Fail-Fast 快速失败策略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在编译流程的任一阶段检测到错误时，立即终止后续所有编译工作，并实时输出结构化的错误信息。这一设计避免了无效计算，大幅缩短了开发人员的调试反馈周期。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524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778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85000" y="1752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错误处理与日志模块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2413000"/>
            <a:ext cx="4699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统一接口：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封装了进程退出码转换逻辑与格式化日志输出工具，保证用户体验一致性。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分层错误码体系：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E (驱动层) / E1xx (词法层) / E2xx (语法层) / S1xx/S2xx (语义层)，精准定位错误来源。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4000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4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04 支撑体系：测试体系与构建系统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1E293B">
              <a:alpha val="90000"/>
            </a:srgbClr>
          </a:solidFill>
          <a:ln w="25400" cmpd="sng" cap="flat">
            <a:solidFill>
              <a:srgbClr val="00E5FF">
                <a:alpha val="6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49400" y="19304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高效构建系统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27940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048000"/>
            <a:ext cx="2794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统一采用</a:t>
            </a:r>
            <a:r>
              <a:rPr lang="en-US" b="true" i="false" strike="noStrike" u="none" sz="14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CMake</a:t>
            </a: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作为跨平台构建工具，实现编译流程标准化。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通过编写自定义构建脚本，将</a:t>
            </a:r>
            <a:r>
              <a:rPr lang="en-US" b="true" i="false" strike="noStrike" u="none" sz="1400">
                <a:solidFill>
                  <a:srgbClr val="F472B6"/>
                </a:solidFill>
                <a:latin typeface="Noto Sans SC"/>
                <a:ea typeface="Noto Sans SC"/>
                <a:cs typeface="Noto Sans SC"/>
                <a:sym typeface="Noto Sans SC"/>
              </a:rPr>
              <a:t>Flex</a:t>
            </a: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(词法分析) 与</a:t>
            </a:r>
            <a:r>
              <a:rPr lang="en-US" b="true" i="false" strike="noStrike" u="none" sz="1400">
                <a:solidFill>
                  <a:srgbClr val="F472B6"/>
                </a:solidFill>
                <a:latin typeface="Noto Sans SC"/>
                <a:ea typeface="Noto Sans SC"/>
                <a:cs typeface="Noto Sans SC"/>
                <a:sym typeface="Noto Sans SC"/>
              </a:rPr>
              <a:t>Bison</a:t>
            </a: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(语法分析) 的编译过程无缝集成到工程体系中，避免了手动维护词法/语法文件的繁琐与错误。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1E293B">
              <a:alpha val="90000"/>
            </a:srgbClr>
          </a:solidFill>
          <a:ln w="25400" cmpd="sng" cap="flat">
            <a:solidFill>
              <a:srgbClr val="00E5FF">
                <a:alpha val="6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68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32400" y="19304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分层测试体系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2667000"/>
            <a:ext cx="27940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2921000"/>
            <a:ext cx="2794000" cy="292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遵循“测试金字塔”原则，共覆盖 12 个关键测试目标：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● 单元测试：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覆盖核心数据结构与基础算法逻辑。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● 模块测试：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验证各独立分析模块功能完整性。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FDBA74"/>
                </a:solidFill>
                <a:latin typeface="Noto Sans SC"/>
                <a:ea typeface="Noto Sans SC"/>
                <a:cs typeface="Noto Sans SC"/>
                <a:sym typeface="Noto Sans SC"/>
              </a:rPr>
              <a:t>● 端到端集成：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打通完整的代码编译与分析全链路，确保系统级质量。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1E293B">
              <a:alpha val="90000"/>
            </a:srgbClr>
          </a:solidFill>
          <a:ln w="25400" cmpd="sng" cap="flat">
            <a:solidFill>
              <a:srgbClr val="00E5FF">
                <a:alpha val="6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68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915400" y="19304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一键构建与验证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2667000"/>
            <a:ext cx="27940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82000" y="3048000"/>
            <a:ext cx="2794000" cy="2286000"/>
          </a:xfrm>
          <a:prstGeom prst="roundRect">
            <a:avLst>
              <a:gd name="adj" fmla="val 4444"/>
            </a:avLst>
          </a:prstGeom>
          <a:solidFill>
            <a:srgbClr val="0F172A">
              <a:alpha val="100000"/>
            </a:srgbClr>
          </a:solidFill>
          <a:ln w="12700" cmpd="sng" cap="flat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509000" y="3238500"/>
            <a:ext cx="2540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 cmake -B build -S .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F472B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 cmake --build build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FBBF2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 cd build &amp;&amp; ctest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  <a:spcBef>
                <a:spcPts val="1500"/>
              </a:spcBef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# 简洁的命令集实现全流程自动化，便于 CI/CD 流水线集成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05 总结与展望：示例程序与数据流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F2937">
              <a:alpha val="90000"/>
            </a:srgbClr>
          </a:solidFill>
          <a:ln w="12700" cmpd="sng" cap="flat">
            <a:solidFill>
              <a:srgbClr val="00E5FF">
                <a:alpha val="3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▍示例程序验证体系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6035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在项目根目录下的</a:t>
            </a:r>
            <a:r>
              <a:rPr lang="en-US" b="false" i="false" strike="noStrike" u="none" sz="1400">
                <a:solidFill>
                  <a:srgbClr val="FBBF24"/>
                </a:solidFill>
                <a:latin typeface="Menlo"/>
                <a:ea typeface="Menlo"/>
                <a:cs typeface="Menlo"/>
                <a:sym typeface="Menlo"/>
              </a:rPr>
              <a:t>samples/</a:t>
            </a: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目录中，我们精心设计并实现了</a:t>
            </a: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6组递进式示例程序</a:t>
            </a: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，覆盖了从最基础的空程序框架，到复杂的嵌套控制流、递归函数调用以及综合I/O交互的完整场景，全面验证了编译器的正确性与稳定性。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683000"/>
            <a:ext cx="4699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核心语言特性支持：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基础基石：支持标准程序结构、Pascal-S基本数据类型、常量定义与变量赋值操作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运算体系：完整支持算术、逻辑、关系三类运算符的优先级与结合性处理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控制流：实现 if/case 分支与 while/for/repeat 循环的完整语义解析与代码生成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模块化与交互：支持 procedure/function 过程与函数调用，及标准 I/O 读写操作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F2937">
              <a:alpha val="90000"/>
            </a:srgbClr>
          </a:solidFill>
          <a:ln w="12700" cmpd="sng" cap="flat">
            <a:solidFill>
              <a:srgbClr val="00E5FF">
                <a:alpha val="3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4953000"/>
            <a:ext cx="469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端到端编译全流程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从词法分析的Token化，到语法分析生成AST，再到语义分析与中间代码生成，最终转换为可执行的C语言代码，实现了从源代码到目标代码的完整自动化转换。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05 总结与展望：未来优化方向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17253D">
              <a:alpha val="85000"/>
            </a:srgbClr>
          </a:solidFill>
          <a:ln w="12700" cmpd="sng" cap="flat">
            <a:solidFill>
              <a:srgbClr val="00E5FF">
                <a:alpha val="6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032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30400" y="1968500"/>
            <a:ext cx="3683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语义分析器接入AST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重构核心架构，将语义分析逻辑由 Token 流遍历改为直接遍历抽象语法树 (AST)，彻底消除重复扫描带来的性能损耗，显著提升解析效率。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17253D">
              <a:alpha val="85000"/>
            </a:srgbClr>
          </a:solidFill>
          <a:ln w="12700" cmpd="sng" cap="flat">
            <a:solidFill>
              <a:srgbClr val="00E5FF">
                <a:alpha val="6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27800" y="20320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391400" y="1968500"/>
            <a:ext cx="3683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引入中间表示层 (IR)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构建独立于源语言和目标平台的中间表示层，在编译流程中引入通用优化阶段，实现常量折叠、死代码消除、公共子表达式提取等高级优化。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191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17253D">
              <a:alpha val="85000"/>
            </a:srgbClr>
          </a:solidFill>
          <a:ln w="12700" cmpd="sng" cap="flat">
            <a:solidFill>
              <a:srgbClr val="00E5FF">
                <a:alpha val="6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4572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930400" y="4508500"/>
            <a:ext cx="3683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增强错误恢复与提示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在词法与语义分析阶段建立容错与恢复机制，避免因单一错误中断编译。提供更精准的错误定位与更符合直觉的中文错误提示信息。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4191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17253D">
              <a:alpha val="85000"/>
            </a:srgbClr>
          </a:solidFill>
          <a:ln w="12700" cmpd="sng" cap="flat">
            <a:solidFill>
              <a:srgbClr val="00E5FF">
                <a:alpha val="6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27800" y="4572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391400" y="4508500"/>
            <a:ext cx="3683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支持多目标后端生成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抽象底层代码生成接口，实现编译后端的可插拔设计，除原生二进制外，逐步支持输出 LLVM IR、WebAssembly 等，扩展语言运行生态。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3429000"/>
            <a:ext cx="1066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5334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欢迎各位提问与交流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