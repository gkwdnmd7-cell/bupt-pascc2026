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286" autoAdjust="0"/>
  </p:normalViewPr>
  <p:slideViewPr>
    <p:cSldViewPr snapToGrid="0" showGuides="1">
      <p:cViewPr varScale="1">
        <p:scale>
          <a:sx n="95" d="100"/>
          <a:sy n="95" d="100"/>
        </p:scale>
        <p:origin x="264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</a:t>
            </a:r>
            <a:r>
              <a:rPr lang="en-US">
                <a:solidFill>
                  <a:srgbClr val="000000"/>
                </a:solidFill>
                <a:sym typeface="+mn-ea"/>
              </a:rPr>
              <a:t>我是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金介然</a:t>
            </a:r>
            <a:r>
              <a:rPr lang="en-US">
                <a:solidFill>
                  <a:srgbClr val="000000"/>
                </a:solidFill>
                <a:sym typeface="+mn-ea"/>
              </a:rPr>
              <a:t>，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我们</a:t>
            </a:r>
            <a:r>
              <a:rPr lang="en-US">
                <a:solidFill>
                  <a:srgbClr val="000000"/>
                </a:solidFill>
                <a:sym typeface="+mn-ea"/>
              </a:rPr>
              <a:t>团队成员还有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丁乐航</a:t>
            </a:r>
            <a:r>
              <a:rPr lang="en-US">
                <a:solidFill>
                  <a:srgbClr val="000000"/>
                </a:solidFill>
                <a:sym typeface="+mn-ea"/>
              </a:rPr>
              <a:t>、何俊辉和李璇。</a:t>
            </a:r>
            <a:r>
              <a:rPr lang="en-US" sz="1400" b="0" i="0" u="none" strike="noStrike">
                <a:solidFill>
                  <a:srgbClr val="000000"/>
                </a:solidFill>
              </a:rPr>
              <a:t>本次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我汇报的标题</a:t>
            </a:r>
            <a:r>
              <a:rPr lang="en-US" sz="1400" b="0" i="0" u="none" strike="noStrike">
                <a:solidFill>
                  <a:srgbClr val="000000"/>
                </a:solidFill>
              </a:rPr>
              <a:t>是“Pascal-S到C编译器的设计与实现”，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也就</a:t>
            </a:r>
            <a:r>
              <a:rPr lang="en-US" sz="1400" b="0" i="0" u="none" strike="noStrike">
                <a:solidFill>
                  <a:srgbClr val="000000"/>
                </a:solidFill>
              </a:rPr>
              <a:t>是我们编译原理课程设计的项目。</a:t>
            </a:r>
            <a:r>
              <a:rPr lang="en-US">
                <a:solidFill>
                  <a:srgbClr val="000000"/>
                </a:solidFill>
                <a:sym typeface="+mn-ea"/>
              </a:rPr>
              <a:t>目前，我们已经完成了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我们自定义的</a:t>
            </a:r>
            <a:r>
              <a:rPr lang="en-US">
                <a:solidFill>
                  <a:srgbClr val="000000"/>
                </a:solidFill>
                <a:sym typeface="+mn-ea"/>
              </a:rPr>
              <a:t>第二个里程碑M2，即词法分析模块的开发与测试，并准备进入第三个里程碑M3的开发。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首先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明确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我们的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需求：也就是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项目目标和验收标准。我们的最终目标是实现一个能将Pascal-S源代码自动转换为等价C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语言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代码的编译器。整个过程需要经历词法、语法、语义分析和代码生成几个核心阶段。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同时，我们必须严格遵守几个验收</a:t>
            </a:r>
            <a:r>
              <a:rPr lang="zh-CN" altLang="en-US" sz="1400" b="0" i="0" u="none" strike="noStrike" dirty="0" err="1">
                <a:solidFill>
                  <a:srgbClr val="000000"/>
                </a:solidFill>
              </a:rPr>
              <a:t>规定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，比如可执行文件名为pascc，支持-i参数输入，并生成同名的.c文件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本次</a:t>
            </a:r>
            <a:r>
              <a:rPr lang="zh-CN" altLang="en-US" sz="1400" b="0" i="0" u="none" strike="noStrike" dirty="0" err="1">
                <a:solidFill>
                  <a:srgbClr val="000000"/>
                </a:solidFill>
              </a:rPr>
              <a:t>讨论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汇报，我们将重点展示前两个</a:t>
            </a:r>
            <a:r>
              <a:rPr lang="zh-CN" altLang="en-US" sz="1400" b="0" i="0" u="none" strike="noStrike" dirty="0" err="1">
                <a:solidFill>
                  <a:srgbClr val="000000"/>
                </a:solidFill>
              </a:rPr>
              <a:t>阶段的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里程碑，即工程搭建和词法分析的完成情况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为了清晰地展示项目进展，我们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在概要设计的时候</a:t>
            </a:r>
            <a:r>
              <a:rPr lang="en-US" sz="1400" b="0" i="0" u="none" strike="noStrike">
                <a:solidFill>
                  <a:srgbClr val="000000"/>
                </a:solidFill>
              </a:rPr>
              <a:t>将整个开发过程划分为多个里程碑。</a:t>
            </a:r>
            <a:r>
              <a:rPr lang="en-US">
                <a:solidFill>
                  <a:srgbClr val="000000"/>
                </a:solidFill>
                <a:sym typeface="+mn-ea"/>
              </a:rPr>
              <a:t>每个里程碑的完成都有明确的判定标准，即“功能实现、测试通过、可验证证据”，这确保了我们每一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阶段</a:t>
            </a:r>
            <a:r>
              <a:rPr lang="en-US">
                <a:solidFill>
                  <a:srgbClr val="000000"/>
                </a:solidFill>
                <a:sym typeface="+mn-ea"/>
              </a:rPr>
              <a:t>的质量都是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稳定的，更方便任务交接，开发时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的思路也更清晰</a:t>
            </a:r>
            <a:r>
              <a:rPr lang="en-US">
                <a:solidFill>
                  <a:srgbClr val="000000"/>
                </a:solidFill>
                <a:sym typeface="+mn-ea"/>
              </a:rPr>
              <a:t>。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这里列出了前三个关键里程碑的全称和核心目标。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M1阶段我们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已经</a:t>
            </a:r>
            <a:r>
              <a:rPr lang="en-US" sz="1400" b="0" i="0" u="none" strike="noStrike">
                <a:solidFill>
                  <a:srgbClr val="000000"/>
                </a:solidFill>
              </a:rPr>
              <a:t>完成了基础的工程搭建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并总结出了一个文法口径冻结草案</a:t>
            </a:r>
            <a:r>
              <a:rPr lang="en-US" sz="1400" b="0" i="0" u="none" strike="noStrike">
                <a:solidFill>
                  <a:srgbClr val="000000"/>
                </a:solidFill>
              </a:rPr>
              <a:t>，M2阶段核心的词法分析模块已经开发完毕并通过了严格的测试。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接下来的M3阶段，我们将重点攻克语法分析和错误恢复功能。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1. M1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：完成需求复核、文法边界确认、目录结构与构建脚本初始化，形成可运行的工程骨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架。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2. M2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：完成词法分析模块开发与词法测试用例，打通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 Token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输出链路。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3.M3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：完成语法分析模块开发，接入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 YACC / Bison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，建立基础错误恢复机制并打通主流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程。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4. </a:t>
            </a:r>
            <a:r>
              <a:rPr lang="en-US" sz="1400" b="0" i="0" u="none" strike="noStrike">
                <a:solidFill>
                  <a:srgbClr val="000000"/>
                </a:solidFill>
              </a:rPr>
              <a:t>M4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：完成语义分析与符号表实现，补齐类型检查、作用域检查、参数检查等核心语义规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则。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5. </a:t>
            </a:r>
            <a:r>
              <a:rPr lang="en-US" sz="1400" b="0" i="0" u="none" strike="noStrike">
                <a:solidFill>
                  <a:srgbClr val="000000"/>
                </a:solidFill>
              </a:rPr>
              <a:t>M5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：完成语法制导翻译与代码生成，确保输出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 C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文件可编译并满足同名同目录约束。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6</a:t>
            </a:r>
            <a:r>
              <a:rPr lang="en-US" sz="1400" b="0" i="0" u="none" strike="noStrike">
                <a:solidFill>
                  <a:srgbClr val="000000"/>
                </a:solidFill>
              </a:rPr>
              <a:t>.M6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：完成联调、回归测试与平台对齐验证，整理交付文档并进行预验收演练。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M1阶段，我们的核心工作是“搭骨架、定规则”。我们建立了标准的工程目录结构，统一了文法规则，确保了后续开发的一致性。同时，我们打通了从命令行输入到生成.c文件的最小链路，并建立了完善的文档记录机制。这些工作虽然不直接实现功能，但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可以让我们更顺利地进行所有后续开发</a:t>
            </a:r>
            <a:r>
              <a:rPr lang="en-US" sz="1400" b="0" i="0" u="none" strike="noStrike">
                <a:solidFill>
                  <a:srgbClr val="000000"/>
                </a:solidFill>
              </a:rPr>
              <a:t>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进入M2阶段，我们的目标非常明确：实现一个功能完整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、</a:t>
            </a:r>
            <a:r>
              <a:rPr lang="en-US" sz="1400" b="0" i="0" u="none" strike="noStrike">
                <a:solidFill>
                  <a:srgbClr val="000000"/>
                </a:solidFill>
              </a:rPr>
              <a:t>可测试的词法分析器。这里列出了我们为M2设定的四个完成标准，涵盖了功能正确性、错误处理、接口规范和测试验证四个方面。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在设计上，我们采用了清晰的模块化结构。左侧的图展示了词法分析的核心流程：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先接入源码输入，由词法分析核心完成核心处理，过程中同步生成词法令牌流和词法错误流，这两个流数据会一同传入编译器驱动模块，最终驱动模块根据整体处理情况，判定并走向编译成功或编译失败的不同执行路径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</a:t>
            </a:r>
            <a:r>
              <a:rPr lang="en-US" sz="1400" b="0" i="0" u="none" strike="noStrike">
                <a:solidFill>
                  <a:srgbClr val="000000"/>
                </a:solidFill>
              </a:rPr>
              <a:t>数据结构和接口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支持</a:t>
            </a:r>
            <a:r>
              <a:rPr lang="en-US" sz="1400" b="0" i="0" u="none" strike="noStrike">
                <a:solidFill>
                  <a:srgbClr val="000000"/>
                </a:solidFill>
              </a:rPr>
              <a:t>结果和错误并行返回，使得错误处理更加灵活。同时，我们全面支持了Pascal-S语言的各种词法规则，包括大小写不敏感、多种常量类型和复合符号的识别。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在驱动对接方面，词法分析作为第一道关卡，一旦发现严重错误，会立即终止流程并返回特定退出码，保证了系统的健壮性。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为了确保词法分析的严谨性，我们将M1阶段定义的文法规则转化为具体的错误检测逻辑。这张表格清晰地展示了我们为各种违规情况定义的错误码，例如标识符过长、注释嵌套等。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测试是验证成果的关键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方法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。我们构建了自动化的测试框架，</a:t>
            </a:r>
            <a:r>
              <a:rPr lang="en-US" dirty="0">
                <a:solidFill>
                  <a:srgbClr val="000000"/>
                </a:solidFill>
                <a:sym typeface="+mn-ea"/>
              </a:rPr>
              <a:t>整个测试过程可以通过ctest一键</a:t>
            </a:r>
            <a:r>
              <a:rPr lang="zh-CN" altLang="en-US" dirty="0">
                <a:solidFill>
                  <a:srgbClr val="000000"/>
                </a:solidFill>
                <a:sym typeface="+mn-ea"/>
              </a:rPr>
              <a:t>构建运行</a:t>
            </a:r>
            <a:r>
              <a:rPr lang="en-US" dirty="0">
                <a:solidFill>
                  <a:srgbClr val="000000"/>
                </a:solidFill>
                <a:sym typeface="+mn-ea"/>
              </a:rPr>
              <a:t>，确保了测试的可重复性和效率。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通过正常样例，我们验证词法分析器能否正确识别所有合法元素；通过异常样例，我们验证它能否准确捕获并报告各种错误。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大家可以看到，我们的项目能够成功构建，所有自动化测试都已通过。通过运行合法样例，程序正确生成了.c文件；运行非法样例，程序也准确地输出了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对应的</a:t>
            </a:r>
            <a:r>
              <a:rPr lang="en-US" sz="1400" b="0" i="0" u="none" strike="noStrike">
                <a:solidFill>
                  <a:srgbClr val="000000"/>
                </a:solidFill>
              </a:rPr>
              <a:t>错误码并返回了非零退出码。这些真实的终端输出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说明</a:t>
            </a:r>
            <a:r>
              <a:rPr lang="en-US" sz="1400" b="0" i="0" u="none" strike="noStrike">
                <a:solidFill>
                  <a:srgbClr val="000000"/>
                </a:solidFill>
              </a:rPr>
              <a:t>我们的词法分析模块已经达到了预期的设计目标，M2阶段已成功完成。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在开发过程中，我们也遇到了一些挑战。例如，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原始文法</a:t>
            </a:r>
            <a:r>
              <a:rPr lang="en-US" sz="1400" b="0" i="0" u="none" strike="noStrike">
                <a:solidFill>
                  <a:srgbClr val="000000"/>
                </a:solidFill>
              </a:rPr>
              <a:t>的epsilon乱码问题、团队成员对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文法</a:t>
            </a:r>
            <a:r>
              <a:rPr lang="en-US" sz="1400" b="0" i="0" u="none" strike="noStrike">
                <a:solidFill>
                  <a:srgbClr val="000000"/>
                </a:solidFill>
              </a:rPr>
              <a:t>规则的理解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不同</a:t>
            </a:r>
            <a:r>
              <a:rPr lang="en-US" sz="1400" b="0" i="0" u="none" strike="noStrike">
                <a:solidFill>
                  <a:srgbClr val="000000"/>
                </a:solidFill>
              </a:rPr>
              <a:t>以及版本控制的配置问题。面对这些问题，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我们积极</a:t>
            </a:r>
            <a:r>
              <a:rPr lang="en-US" sz="1400" b="0" i="0" u="none" strike="noStrike">
                <a:solidFill>
                  <a:srgbClr val="000000"/>
                </a:solidFill>
              </a:rPr>
              <a:t>采取了有效的措施，如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编写口径冻结</a:t>
            </a:r>
            <a:r>
              <a:rPr lang="en-US" sz="1400" b="0" i="0" u="none" strike="noStrike">
                <a:solidFill>
                  <a:srgbClr val="000000"/>
                </a:solidFill>
              </a:rPr>
              <a:t>文档、明确错误码规则、制定配置规范等，并最终将所有问题闭环解决。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基于当前稳定的状态，我们对M3阶段进行了详细的规划。这个阶段的核心任务是实现语法分析，并初步引入错误恢复机制。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汇报分享</a:t>
            </a:r>
            <a:r>
              <a:rPr lang="en-US" sz="1400" b="0" i="0" u="none" strike="noStrike">
                <a:solidFill>
                  <a:srgbClr val="000000"/>
                </a:solidFill>
              </a:rPr>
              <a:t>进行总结。我们已经完成了前两个里程碑的全部工作，并且所有成果都经过了严格的测试验证。目前项目状态良好，可以顺利进入下一阶段的开发。我的汇报到此结束，谢谢大家！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1.sv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1.svg"/><Relationship Id="rId1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2.xml"/><Relationship Id="rId25" Type="http://schemas.openxmlformats.org/officeDocument/2006/relationships/image" Target="../media/image44.png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image" Target="../media/image33.svg"/><Relationship Id="rId21" Type="http://schemas.openxmlformats.org/officeDocument/2006/relationships/image" Target="../media/image32.png"/><Relationship Id="rId20" Type="http://schemas.openxmlformats.org/officeDocument/2006/relationships/tags" Target="../tags/tag14.xml"/><Relationship Id="rId2" Type="http://schemas.openxmlformats.org/officeDocument/2006/relationships/tags" Target="../tags/tag2.xml"/><Relationship Id="rId19" Type="http://schemas.openxmlformats.org/officeDocument/2006/relationships/tags" Target="../tags/tag13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43.svg"/><Relationship Id="rId15" Type="http://schemas.openxmlformats.org/officeDocument/2006/relationships/image" Target="../media/image42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1.sv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54.png"/><Relationship Id="rId16" Type="http://schemas.openxmlformats.org/officeDocument/2006/relationships/image" Target="../media/image53.png"/><Relationship Id="rId15" Type="http://schemas.openxmlformats.org/officeDocument/2006/relationships/image" Target="../media/image52.png"/><Relationship Id="rId14" Type="http://schemas.openxmlformats.org/officeDocument/2006/relationships/image" Target="../media/image51.png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svg"/><Relationship Id="rId8" Type="http://schemas.openxmlformats.org/officeDocument/2006/relationships/image" Target="../media/image55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58.svg"/><Relationship Id="rId10" Type="http://schemas.openxmlformats.org/officeDocument/2006/relationships/image" Target="../media/image57.png"/><Relationship Id="rId1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1270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Pascal-S 到 C 编译器设计与实现（交流汇报）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9685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编译原理与技术课程设计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4191000" y="2603500"/>
            <a:ext cx="3810000" cy="457200"/>
          </a:xfrm>
          <a:prstGeom prst="roundRect">
            <a:avLst>
              <a:gd name="adj" fmla="val 50000"/>
            </a:avLst>
          </a:prstGeom>
          <a:solidFill>
            <a:srgbClr val="005A9C">
              <a:alpha val="10000"/>
            </a:srgbClr>
          </a:solidFill>
          <a:ln w="12700" cap="flat" cmpd="sng">
            <a:solidFill>
              <a:srgbClr val="005A9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</a:t>
            </a:r>
            <a:r>
              <a:rPr lang="en-US" sz="1600" b="1" i="0" u="none" strike="noStrike" dirty="0" err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sz="1600" b="1" i="0" u="none" strike="noStrike" dirty="0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</a:t>
            </a:r>
            <a:r>
              <a:rPr lang="en-US" sz="1600" b="1" i="0" u="none" strike="noStrike" dirty="0" err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准备进入</a:t>
            </a:r>
            <a:r>
              <a:rPr lang="en-US" sz="1600" b="1" i="0" u="none" strike="noStrike" dirty="0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M3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0" y="3429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937000" y="33909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组长：丁乐航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387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937000" y="3835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组员：金介然、何俊辉、李璇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594">
            <a:off x="3556008" y="4438650"/>
            <a:ext cx="508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381000" y="46990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汇报人：金介然  |  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项目目标与验收约束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CCCCCC">
                <a:alpha val="5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51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92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spcBef>
                <a:spcPts val="500"/>
              </a:spcBef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总目标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Pascal-S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程序翻译为可编译运行的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C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1000"/>
              </a:spcBef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核心功能链路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400" b="1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词法分析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语法分析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语义分析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代码生成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397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CCCCCC">
                <a:alpha val="5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651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572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验收硬约束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92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65100" indent="-165100" algn="l">
              <a:lnSpc>
                <a:spcPct val="117000"/>
              </a:lnSpc>
              <a:buClr>
                <a:srgbClr val="555555"/>
              </a:buClr>
              <a:buFont typeface="+mj-lt"/>
              <a:buAutoNum type="arabicPeriod"/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可执行文件命名为</a:t>
            </a:r>
            <a:r>
              <a:rPr lang="en-US" sz="13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pascc</a:t>
            </a:r>
            <a:endParaRPr lang="en-US" sz="1100"/>
          </a:p>
          <a:p>
            <a:pPr marL="165100" indent="-165100" algn="l">
              <a:lnSpc>
                <a:spcPct val="117000"/>
              </a:lnSpc>
              <a:buClr>
                <a:srgbClr val="555555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命令行参数支持</a:t>
            </a:r>
            <a:r>
              <a:rPr lang="en-US" sz="13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-i filename.pas</a:t>
            </a:r>
            <a:endParaRPr lang="en-US" sz="1300" b="1" i="0" u="none" strike="noStrike">
              <a:solidFill>
                <a:srgbClr val="005A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17000"/>
              </a:lnSpc>
              <a:buClr>
                <a:srgbClr val="555555"/>
              </a:buClr>
              <a:buFont typeface="+mj-lt"/>
              <a:buAutoNum type="arabicPeriod"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输出同名</a:t>
            </a:r>
            <a:r>
              <a:rPr lang="en-US" sz="13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.c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文件，保存在输入文件同目录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397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CCCCCC">
                <a:alpha val="5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651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55000" y="2413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汇报范围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921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spcBef>
                <a:spcPts val="500"/>
              </a:spcBef>
              <a:defRPr/>
            </a:pPr>
            <a:r>
              <a:rPr lang="en-US" sz="14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zh-CN" altLang="en-US" sz="1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里程碑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1" i="0" u="none" strike="noStrike" dirty="0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 </a:t>
            </a:r>
            <a:r>
              <a:rPr lang="en-US" sz="1400" b="1" i="0" u="none" strike="noStrike" dirty="0" err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工程搭建与基础框架</a:t>
            </a:r>
            <a:endParaRPr lang="en-US" sz="1400" b="1" i="0" u="none" strike="noStrike" dirty="0">
              <a:solidFill>
                <a:srgbClr val="005A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完成项目初始化、环境配置及模块划分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800"/>
              </a:spcBef>
            </a:pPr>
            <a:r>
              <a:rPr lang="en-US" sz="1400" b="1" i="0" u="none" strike="noStrike" dirty="0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</a:t>
            </a:r>
            <a:r>
              <a:rPr lang="en-US" sz="1400" b="1" i="0" u="none" strike="noStrike" dirty="0" err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词法分析器实现</a:t>
            </a:r>
            <a:endParaRPr lang="en-US" sz="1400" b="1" i="0" u="none" strike="noStrike" dirty="0">
              <a:solidFill>
                <a:srgbClr val="005A9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Lex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规则编写，实现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Token </a:t>
            </a:r>
            <a:r>
              <a:rPr lang="en-US" sz="13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识别与输出</a:t>
            </a:r>
            <a:r>
              <a:rPr lang="en-US" sz="13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里程碑计划与当前位置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549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第一里程碑 (M1)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1 - 10 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需求复核、文法边界确认、工程骨架初始化。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搭建开发基础，减少后续返工。</a:t>
            </a:r>
            <a:endParaRPr lang="en-US" sz="13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397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005A9C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58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1549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第二里程碑 (M2)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1968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11 - 20 天 (已完成)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286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词法分析模块开发与测试收口。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实现完整词法分析功能并通过测试。</a:t>
            </a:r>
            <a:endParaRPr lang="en-US" sz="13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397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CCCCC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587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1549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第三里程碑 (M3)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19685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 21 - 32 天 (待启动)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286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核心任务：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语法分析接入、错误恢复初版、链路打通。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建立完整的编译前端基础能力。</a:t>
            </a:r>
            <a:endParaRPr lang="en-US" sz="1300" b="0" i="0" u="none" strike="noStrike">
              <a:solidFill>
                <a:srgbClr val="6464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5270500" cy="1270000"/>
          </a:xfrm>
          <a:prstGeom prst="roundRect">
            <a:avLst>
              <a:gd name="adj" fmla="val 10000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25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4216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当前项目状态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46355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已成功完成 M2 所有目标，测试覆盖率达标，项目状态稳定，已具备进入 M3 阶段的条件。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59500" y="4064000"/>
            <a:ext cx="5270500" cy="1270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CCCCCC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254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94500" y="4216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完成判定标准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6355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每个里程碑必须满足：</a:t>
            </a:r>
            <a:r>
              <a:rPr lang="en-US" sz="13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功能实现 + 测试通过 + 可验证证据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，确保交付质量。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M1 结果回顾（支撑 M2）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794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9000" y="1651000"/>
            <a:ext cx="2540000" cy="2540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762000" y="4445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 CMake 工程目录结构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64000" y="1397000"/>
            <a:ext cx="6858000" cy="1016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8000" y="1701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826000" y="1524000"/>
            <a:ext cx="584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工程骨架完成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18796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 CMake 结构，包含 src、include、tests、samples 目录，规范代码组织。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064000" y="2540000"/>
            <a:ext cx="6858000" cy="1016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18000" y="2844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826000" y="2667000"/>
            <a:ext cx="584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文法口径冻结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26000" y="30226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Pascal-S 文法细节（epsilon、符号、大小写），解决文档歧义与乱码问题。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064000" y="3683000"/>
            <a:ext cx="6858000" cy="1016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18000" y="3987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826000" y="3810000"/>
            <a:ext cx="584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 最小链路打通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826000" y="41656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 `pascc -i` 接口，验证从输入文件到生成 .c 文件的基础编译流程可行性。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064000" y="4826000"/>
            <a:ext cx="6858000" cy="1016000"/>
          </a:xfrm>
          <a:prstGeom prst="roundRect">
            <a:avLst>
              <a:gd name="adj" fmla="val 6250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005A9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18000" y="51308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826000" y="4953000"/>
            <a:ext cx="584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决策追踪机制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826000" y="5308600"/>
            <a:ext cx="584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 TODO 清单、决策记录与变更日志，确保开发过程透明、可追溯。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5359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开发目标与完成定义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714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52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词法识别正确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1905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准确识别Pascal-S语言中的关键字、标识符、常量、运算符和界符。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1397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1714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66000" y="152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错误报告可读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66000" y="1905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输出清晰的错误码、行号、列号及原因说明，便于定位问题。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292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292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3238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304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命令行行为正确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78000" y="3429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合法输入返回退出码0，非法输入返回退出码7，符合规范。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92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0000" y="292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80200" y="3238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66000" y="304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自动化测试通过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66000" y="3429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所有词法相关的ctest自动化用例必须全部通过，覆盖率达标。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572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5A9C">
              <a:alpha val="5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4762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核心目标总结：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实现一个功能完整、健壮且可测试的词法分析器，确保交付成果在功能正确性、错误处理机制、接口规范及测试验证四个维度达到既定标准。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词法模块设计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752231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词法分析核心流程架构</a:t>
            </a:r>
            <a:endParaRPr lang="en-US" sz="1100" dirty="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4064000" y="1397000"/>
            <a:ext cx="660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</a:ln>
          <a:effectLst>
            <a:outerShdw blurRad="76200" dist="25400" dir="5400000" algn="tl" rotWithShape="0">
              <a:srgbClr val="005A9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4500" y="17272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4762500" y="15240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核心数据结构定义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4762500" y="1879600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 Token、SourcePosition、LexError 及 LexerResult 等结构，完整承载分析过程与结果数据。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064000" y="2603500"/>
            <a:ext cx="660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</a:ln>
          <a:effectLst>
            <a:outerShdw blurRad="76200" dist="25400" dir="5400000" algn="tl" rotWithShape="0">
              <a:srgbClr val="005A9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254500" y="29337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762500" y="27305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关键接口设计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4762500" y="3086100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 tokenizeDetailed(source) 接口，支持同时返回 Token 流和错误流，便于上层统一处理。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4064000" y="3810000"/>
            <a:ext cx="660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</a:ln>
          <a:effectLst>
            <a:outerShdw blurRad="76200" dist="25400" dir="5400000" algn="tl" rotWithShape="0">
              <a:srgbClr val="005A9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254500" y="41402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4762500" y="39370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编译驱动对接机制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4762500" y="4292600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作为编译首步，若词法分析失败，程序立即返回退出码 7 并终止后续所有编译阶段。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4064000" y="5016500"/>
            <a:ext cx="6604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5A9C">
                <a:alpha val="20000"/>
              </a:srgbClr>
            </a:solidFill>
            <a:prstDash val="solid"/>
            <a:round/>
          </a:ln>
          <a:effectLst>
            <a:outerShdw blurRad="76200" dist="25400" dir="5400000" algn="tl" rotWithShape="0">
              <a:srgbClr val="005A9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254500" y="53467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4762500" y="51435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词法识别特性支持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4762500" y="5499100"/>
            <a:ext cx="571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关键字/标识符大小写不敏感；支持整数、实数、字符常量；精准识别 :=、..、&lt;&gt; 等复合符号。</a:t>
            </a:r>
            <a:endParaRPr lang="en-US" sz="11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7055" y="1504669"/>
            <a:ext cx="2443889" cy="4178862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2774950" y="1397000"/>
            <a:ext cx="781050" cy="736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错误码映射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1176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397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5334000"/>
                <a:gridCol w="2032000"/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规则描述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A9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触发条件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A9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错误码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A9C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标识符长度限制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标识符长度超过10个字符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E105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注释规则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注释嵌套使用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E106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字符常量规则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字符常量包含多个字符或非法转义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E109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关键字边界规则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关键字与标识符混淆（如`VAR1`）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E108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汇总失败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词法分析过程中发生任何错误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E199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5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572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A9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876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4699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错误处理一致性保障：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所有词法错误最终都会汇总为</a:t>
            </a:r>
            <a:r>
              <a:rPr lang="en-US" sz="14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E199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，并统一返回退出码</a:t>
            </a:r>
            <a:r>
              <a:rPr lang="en-US" sz="14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，确保系统在异常情况下行为可预测。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6261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测试设计（自动化+样例</a:t>
            </a:r>
            <a:r>
              <a:rPr 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2301240" y="159258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5240" y="171958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063240" y="1681480"/>
            <a:ext cx="609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自动化测试框架与程序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063240" y="206248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CMake</a:t>
            </a:r>
            <a:r>
              <a:rPr lang="en-US" sz="1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en-US" sz="14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CTest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驱动，支持一键构建运行；核心单元测试在</a:t>
            </a:r>
            <a:r>
              <a:rPr lang="en-US" sz="1400" b="0" i="0" u="none" strike="noStrike" dirty="0" err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tests</a:t>
            </a:r>
            <a:r>
              <a:rPr lang="en-US" sz="1400" b="0" i="0" u="none" strike="noStrike" dirty="0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400" b="0" i="0" u="none" strike="noStrike" dirty="0" err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lexer_tests.cpp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中实现，确保执行效率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2301240" y="2862580"/>
            <a:ext cx="711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55240" y="305308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063240" y="3014980"/>
            <a:ext cx="609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测试样例设计 (Samples)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63240" y="339598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正常样例：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01_features.pas -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覆盖所有合法词法特性，验证识别正确性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4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异常样例：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02_lex_error.pas - </a:t>
            </a:r>
            <a:r>
              <a:rPr lang="en-US" sz="14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包含各类词法错误，验证错误检测与报告机制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2301240" y="4450080"/>
            <a:ext cx="711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55240" y="464058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3063240" y="4602480"/>
            <a:ext cx="609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多维覆盖验证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063240" y="498348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全方位覆盖词法识别的准确性、错误定位的精度，以及命令行退出码的合规性，确保系统鲁棒性。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68580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4927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M2 </a:t>
            </a:r>
            <a:r>
              <a:rPr lang="en-US" sz="32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实测结果与证据</a:t>
            </a:r>
            <a:endParaRPr lang="en-US" sz="1100" dirty="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397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2667000" y="158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构建成功验证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2667000" y="196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</a:t>
            </a:r>
            <a:r>
              <a:rPr lang="en-US" sz="14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cmake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4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成功生成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pascc.exe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及测试程序，环境配置无误。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23000" y="1397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8128000" y="1587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自动化测试通过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8128000" y="1968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</a:t>
            </a:r>
            <a:r>
              <a:rPr lang="en-US" sz="14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ctest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验证，所有测试用例全部通过，测试通过率达到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762000" y="3556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2667000" y="3746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合法样例运行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2667000" y="4127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</a:t>
            </a:r>
            <a:r>
              <a:rPr lang="en-US" sz="14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pascc -i 01_features.pas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，程序返回退出码</a:t>
            </a: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，并成功生成目标 C 文件。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6223000" y="3556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12"/>
            </p:custDataLst>
          </p:nvPr>
        </p:nvSpPr>
        <p:spPr>
          <a:xfrm>
            <a:off x="8128000" y="3746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非法样例鲁棒性</a:t>
            </a:r>
            <a:endParaRPr lang="en-US" sz="1100" dirty="0"/>
          </a:p>
        </p:txBody>
      </p:sp>
      <p:sp>
        <p:nvSpPr>
          <p:cNvPr id="20" name="AutoShape 20"/>
          <p:cNvSpPr/>
          <p:nvPr>
            <p:custDataLst>
              <p:tags r:id="rId13"/>
            </p:custDataLst>
          </p:nvPr>
        </p:nvSpPr>
        <p:spPr>
          <a:xfrm>
            <a:off x="8128000" y="4127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运行含错误代码的样例，程序准确输出</a:t>
            </a:r>
            <a:r>
              <a:rPr lang="en-US" sz="1400" b="1" i="0" u="none" strike="noStrike" dirty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E105/E108</a:t>
            </a: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错误码，返回退出码 7，异常处理机制生效。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CCC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结论：M2 阶段词法分析模块功能完整</a:t>
            </a:r>
            <a:r>
              <a:rPr lang="zh-CN" alt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所有实测证据均可复现。</a:t>
            </a:r>
            <a:endParaRPr lang="en-US" sz="11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4"/>
          <a:srcRect r="58139"/>
          <a:stretch>
            <a:fillRect/>
          </a:stretch>
        </p:blipFill>
        <p:spPr>
          <a:xfrm>
            <a:off x="6223000" y="1619250"/>
            <a:ext cx="1856738" cy="14605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0585" y="1619250"/>
            <a:ext cx="1796415" cy="123634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6"/>
          <a:srcRect r="32933"/>
          <a:stretch>
            <a:fillRect/>
          </a:stretch>
        </p:blipFill>
        <p:spPr>
          <a:xfrm>
            <a:off x="744220" y="3873500"/>
            <a:ext cx="1922780" cy="111760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7"/>
          <a:srcRect r="67727"/>
          <a:stretch>
            <a:fillRect/>
          </a:stretch>
        </p:blipFill>
        <p:spPr>
          <a:xfrm>
            <a:off x="6223000" y="3691890"/>
            <a:ext cx="1856739" cy="1442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81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开发过程问题与修正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397000"/>
          <a:ext cx="10668000" cy="317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2540000"/>
                <a:gridCol w="3556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问题描述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A9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造成影响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A9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修正措施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A9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当前状态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A9C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文法PDF文本抽取乱码，导致规则边界不清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影响词法规则的准确定义与解析精度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手动校对文本并冻结统一的文法口径文档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已解决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关键字边界规则在团队内部存在误解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可能导致词法识别错误，影响代码质量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将规则明确化并纳入错误码策略（E108）</a:t>
                      </a:r>
                      <a:endParaRPr lang="en-US" sz="1100" dirty="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已解决</a:t>
                      </a:r>
                      <a:endParaRPr lang="en-US" sz="110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Git推送配置混乱，导致代码合并冲突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影响团队协作效率，增加代码回滚风险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3333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定位根因并形成标准的Git配置指南</a:t>
                      </a:r>
                      <a:endParaRPr lang="en-US" sz="1100"/>
                    </a:p>
                  </a:txBody>
                  <a:tcPr marL="127000" marR="1270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005A9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已解决</a:t>
                      </a:r>
                      <a:endParaRPr lang="en-US" sz="1100" dirty="0"/>
                    </a:p>
                  </a:txBody>
                  <a:tcPr marL="101600" marR="101600" marT="101600" marB="1016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584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5A9C">
              <a:alpha val="10000"/>
            </a:srgbClr>
          </a:solidFill>
          <a:ln w="12700" cap="flat" cmpd="sng">
            <a:solidFill>
              <a:srgbClr val="005A9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总结：所有问题均已得到有效解决，不会对后续M3阶段的开发造成影响。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6797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M3 具体计划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079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549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T-013: 文法规则落地与冲突检查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19050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将Pascal-S文法规则转换为YACC/Bison的语法文件，并解决潜在的移进-归约冲突。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397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58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5494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T-014: 接入YACC/Bison，打通主流程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19050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将词法分析器与语法分析器对接，实现从Token流到语法树的构建。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28575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04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009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T-016: 语法错误恢复 (Panic Mode)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33655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实现基础的语法错误恢复机制，使编译器在遇到错误时能够尝试继续分析。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28575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04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0099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T-017: 语法层测试集和回归脚本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85000" y="3365500"/>
            <a:ext cx="4191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编写针对语法分析的测试用例，并建立回归测试脚本，确保修改不会引入新问题。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44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5A9C">
              <a:alpha val="8000"/>
            </a:srgbClr>
          </a:solidFill>
          <a:ln w="12700" cap="flat" cmpd="sng">
            <a:solidFill>
              <a:srgbClr val="005A9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7244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87500" y="47752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阶段交付目标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429000" y="4699000"/>
            <a:ext cx="12700" cy="508000"/>
          </a:xfrm>
          <a:prstGeom prst="roundRect">
            <a:avLst>
              <a:gd name="adj" fmla="val 0"/>
            </a:avLst>
          </a:prstGeom>
          <a:solidFill>
            <a:srgbClr val="CCCC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3683000" y="4762500"/>
            <a:ext cx="736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实现词法分析到语法分析的完整可运行链路，确保核心编译流程通畅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27" name="AutoShape 27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35814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1625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已完成目标 (M1/M2)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79500" y="20955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成功完成工程搭建、词法分析模块开发与全面测试。所有成果均已产出可验证的代码与测试用例，确保交付质量。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1397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1651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75500" y="1625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当前项目状态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67500" y="20955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项目整体运行稳定，代码、文档与测试口径保持高度一致。已为进入M3阶段的语法分析开发工作奠定了坚实基础。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080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810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5A9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06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87500" y="4038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A9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后续计划 (M3)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79500" y="4508500"/>
            <a:ext cx="444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下一阶段将专注于语法分析模块的接入与错误恢复机制的实现。目前已制定详细的执行计划，确保按节点推进。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2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3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4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5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6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7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8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9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0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1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2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3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4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5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6.xml><?xml version="1.0" encoding="utf-8"?>
<p:tagLst xmlns:p="http://schemas.openxmlformats.org/presentationml/2006/main">
  <p:tag name="KSO_WM_DIAGRAM_VIRTUALLY_FRAME" val="{&quot;height&quot;:370,&quot;left&quot;:320,&quot;top&quot;:110,&quot;width&quot;:520}"/>
</p:tagLst>
</file>

<file path=ppt/tags/tag17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18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19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0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1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2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3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4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5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6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7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ags/tag28.xml><?xml version="1.0" encoding="utf-8"?>
<p:tagLst xmlns:p="http://schemas.openxmlformats.org/presentationml/2006/main">
  <p:tag name="KSO_WM_DIAGRAM_VIRTUALLY_FRAME" val="{&quot;height&quot;:320,&quot;left&quot;:60,&quot;top&quot;:11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2675</Words>
  <Application>WPS 演示</Application>
  <PresentationFormat>宽屏</PresentationFormat>
  <Paragraphs>274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asus</cp:lastModifiedBy>
  <cp:revision>12</cp:revision>
  <dcterms:created xsi:type="dcterms:W3CDTF">2026-03-31T06:07:00Z</dcterms:created>
  <dcterms:modified xsi:type="dcterms:W3CDTF">2026-04-01T01:03:12Z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36B128BAFCA646F89AAA3BEB4FAB85EC_12</vt:lpwstr>
  </property>
  <property fmtid="{D5CDD505-2E9C-101B-9397-08002B2CF9AE}" pid="3" name="KSOProductBuildVer">
    <vt:lpwstr>2052-12.1.0.25225</vt:lpwstr>
  </property>
</Properties>
</file>